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ontserrat" panose="020B060402020202020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14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09574"/>
            <a:ext cx="101784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0">
                <a:solidFill>
                  <a:srgbClr val="E7ECEB"/>
                </a:solidFill>
                <a:latin typeface="Montserrat"/>
              </a:rPr>
              <a:t>Agentic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667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390525" y="1550759"/>
            <a:ext cx="5278193" cy="1028700"/>
            <a:chOff x="390525" y="1550759"/>
            <a:chExt cx="5278193" cy="1028700"/>
          </a:xfrm>
        </p:grpSpPr>
        <p:sp>
          <p:nvSpPr>
            <p:cNvPr id="5" name="TextBox 4"/>
            <p:cNvSpPr txBox="1"/>
            <p:nvPr/>
          </p:nvSpPr>
          <p:spPr>
            <a:xfrm>
              <a:off x="390525" y="1550759"/>
              <a:ext cx="6069921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000" b="1">
                  <a:solidFill>
                    <a:srgbClr val="7BDEC4"/>
                  </a:solidFill>
                  <a:latin typeface="Montserrat"/>
                </a:rPr>
                <a:t>Agentic AI: Beyond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0525" y="2065109"/>
              <a:ext cx="6069921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4000" b="1">
                  <a:solidFill>
                    <a:srgbClr val="7BDEC4"/>
                  </a:solidFill>
                  <a:latin typeface="Montserrat"/>
                </a:rPr>
                <a:t>Simple Prompting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90525" y="2769955"/>
            <a:ext cx="2175424" cy="822778"/>
            <a:chOff x="390525" y="2769955"/>
            <a:chExt cx="2175424" cy="822778"/>
          </a:xfrm>
        </p:grpSpPr>
        <p:sp>
          <p:nvSpPr>
            <p:cNvPr id="8" name="TextBox 7"/>
            <p:cNvSpPr txBox="1"/>
            <p:nvPr/>
          </p:nvSpPr>
          <p:spPr>
            <a:xfrm>
              <a:off x="390525" y="2769955"/>
              <a:ext cx="2501737" cy="205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An introduction to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2975599"/>
              <a:ext cx="2501737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autonomous system de-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0525" y="3181339"/>
              <a:ext cx="2501737" cy="205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sign and the shift from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90525" y="3386984"/>
              <a:ext cx="2501737" cy="205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LLMs to Agents</a:t>
              </a: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525" y="4528185"/>
            <a:ext cx="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75705" y="2324334"/>
            <a:ext cx="1745801" cy="2141256"/>
          </a:xfrm>
          <a:custGeom>
            <a:avLst/>
            <a:gdLst/>
            <a:ahLst/>
            <a:cxnLst/>
            <a:rect l="0" t="0" r="0" b="0"/>
            <a:pathLst>
              <a:path w="1745801" h="2141256">
                <a:moveTo>
                  <a:pt x="649081" y="2004992"/>
                </a:moveTo>
                <a:cubicBezTo>
                  <a:pt x="649081" y="1980697"/>
                  <a:pt x="649081" y="1865881"/>
                  <a:pt x="622125" y="1843417"/>
                </a:cubicBezTo>
                <a:cubicBezTo>
                  <a:pt x="586083" y="1813382"/>
                  <a:pt x="538703" y="1821141"/>
                  <a:pt x="478339" y="1831025"/>
                </a:cubicBezTo>
                <a:cubicBezTo>
                  <a:pt x="442759" y="1836852"/>
                  <a:pt x="402669" y="1843417"/>
                  <a:pt x="357730" y="1843417"/>
                </a:cubicBezTo>
                <a:cubicBezTo>
                  <a:pt x="251912" y="1843417"/>
                  <a:pt x="213309" y="1783672"/>
                  <a:pt x="225532" y="1707547"/>
                </a:cubicBezTo>
                <a:cubicBezTo>
                  <a:pt x="236587" y="1638703"/>
                  <a:pt x="226340" y="1631143"/>
                  <a:pt x="207390" y="1617163"/>
                </a:cubicBezTo>
                <a:cubicBezTo>
                  <a:pt x="203912" y="1614597"/>
                  <a:pt x="200142" y="1611816"/>
                  <a:pt x="196156" y="1608399"/>
                </a:cubicBezTo>
                <a:cubicBezTo>
                  <a:pt x="170451" y="1586366"/>
                  <a:pt x="159435" y="1542301"/>
                  <a:pt x="181467" y="1516596"/>
                </a:cubicBezTo>
                <a:cubicBezTo>
                  <a:pt x="152090" y="1483546"/>
                  <a:pt x="136346" y="1447960"/>
                  <a:pt x="155762" y="1417448"/>
                </a:cubicBezTo>
                <a:cubicBezTo>
                  <a:pt x="181467" y="1377054"/>
                  <a:pt x="174123" y="1336660"/>
                  <a:pt x="126385" y="1325644"/>
                </a:cubicBezTo>
                <a:cubicBezTo>
                  <a:pt x="123048" y="1324874"/>
                  <a:pt x="119503" y="1323624"/>
                  <a:pt x="114825" y="1321974"/>
                </a:cubicBezTo>
                <a:cubicBezTo>
                  <a:pt x="107408" y="1319359"/>
                  <a:pt x="97142" y="1315740"/>
                  <a:pt x="80340" y="1311436"/>
                </a:cubicBezTo>
                <a:cubicBezTo>
                  <a:pt x="52942" y="1304417"/>
                  <a:pt x="0" y="1244347"/>
                  <a:pt x="52942" y="1171414"/>
                </a:cubicBezTo>
                <a:cubicBezTo>
                  <a:pt x="73473" y="1143132"/>
                  <a:pt x="93716" y="1118315"/>
                  <a:pt x="112228" y="1095622"/>
                </a:cubicBezTo>
                <a:cubicBezTo>
                  <a:pt x="159941" y="1037132"/>
                  <a:pt x="196156" y="992736"/>
                  <a:pt x="196156" y="939411"/>
                </a:cubicBezTo>
                <a:cubicBezTo>
                  <a:pt x="196156" y="919173"/>
                  <a:pt x="190875" y="904992"/>
                  <a:pt x="184792" y="888655"/>
                </a:cubicBezTo>
                <a:cubicBezTo>
                  <a:pt x="176527" y="866458"/>
                  <a:pt x="166779" y="840278"/>
                  <a:pt x="166779" y="789511"/>
                </a:cubicBezTo>
                <a:cubicBezTo>
                  <a:pt x="166779" y="353476"/>
                  <a:pt x="520255" y="0"/>
                  <a:pt x="956290" y="0"/>
                </a:cubicBezTo>
                <a:cubicBezTo>
                  <a:pt x="1392325" y="0"/>
                  <a:pt x="1745801" y="353476"/>
                  <a:pt x="1745801" y="789511"/>
                </a:cubicBezTo>
                <a:cubicBezTo>
                  <a:pt x="1745801" y="1071200"/>
                  <a:pt x="1600766" y="1250337"/>
                  <a:pt x="1548547" y="1314835"/>
                </a:cubicBezTo>
                <a:lnTo>
                  <a:pt x="1548017" y="1315489"/>
                </a:lnTo>
                <a:cubicBezTo>
                  <a:pt x="1499936" y="1374878"/>
                  <a:pt x="1430508" y="1461014"/>
                  <a:pt x="1430508" y="1582694"/>
                </a:cubicBezTo>
                <a:lnTo>
                  <a:pt x="1430508" y="2004992"/>
                </a:lnTo>
                <a:cubicBezTo>
                  <a:pt x="1430508" y="2036029"/>
                  <a:pt x="1389378" y="2141256"/>
                  <a:pt x="1026690" y="2141256"/>
                </a:cubicBezTo>
                <a:cubicBezTo>
                  <a:pt x="664003" y="2141256"/>
                  <a:pt x="649081" y="2029286"/>
                  <a:pt x="649081" y="2004992"/>
                </a:cubicBezTo>
                <a:close/>
                <a:moveTo>
                  <a:pt x="955698" y="1454169"/>
                </a:moveTo>
                <a:cubicBezTo>
                  <a:pt x="1320751" y="1454169"/>
                  <a:pt x="1616684" y="1158235"/>
                  <a:pt x="1616684" y="793183"/>
                </a:cubicBezTo>
                <a:cubicBezTo>
                  <a:pt x="1616684" y="428131"/>
                  <a:pt x="1320751" y="132197"/>
                  <a:pt x="955698" y="132197"/>
                </a:cubicBezTo>
                <a:cubicBezTo>
                  <a:pt x="590646" y="132197"/>
                  <a:pt x="294712" y="428131"/>
                  <a:pt x="294712" y="793183"/>
                </a:cubicBezTo>
                <a:cubicBezTo>
                  <a:pt x="294712" y="1158235"/>
                  <a:pt x="590646" y="1454169"/>
                  <a:pt x="955698" y="1454169"/>
                </a:cubicBezTo>
                <a:close/>
              </a:path>
            </a:pathLst>
          </a:custGeom>
          <a:noFill/>
          <a:ln w="11015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46619" y="2067538"/>
            <a:ext cx="1208691" cy="474464"/>
          </a:xfrm>
          <a:custGeom>
            <a:avLst/>
            <a:gdLst/>
            <a:ahLst/>
            <a:cxnLst/>
            <a:rect l="0" t="0" r="0" b="0"/>
            <a:pathLst>
              <a:path w="1208691" h="474464">
                <a:moveTo>
                  <a:pt x="1040593" y="195043"/>
                </a:moveTo>
                <a:lnTo>
                  <a:pt x="1208691" y="96112"/>
                </a:lnTo>
                <a:lnTo>
                  <a:pt x="1038965" y="0"/>
                </a:lnTo>
                <a:lnTo>
                  <a:pt x="1039389" y="50738"/>
                </a:lnTo>
                <a:cubicBezTo>
                  <a:pt x="670480" y="65570"/>
                  <a:pt x="327376" y="181031"/>
                  <a:pt x="36912" y="370418"/>
                </a:cubicBezTo>
                <a:lnTo>
                  <a:pt x="0" y="394486"/>
                </a:lnTo>
                <a:lnTo>
                  <a:pt x="52146" y="474464"/>
                </a:lnTo>
                <a:lnTo>
                  <a:pt x="89059" y="450396"/>
                </a:lnTo>
                <a:cubicBezTo>
                  <a:pt x="364713" y="270665"/>
                  <a:pt x="690105" y="160894"/>
                  <a:pt x="1040185" y="146262"/>
                </a:cubicBezTo>
                <a:lnTo>
                  <a:pt x="1040593" y="195043"/>
                </a:lnTo>
                <a:close/>
              </a:path>
            </a:pathLst>
          </a:custGeom>
          <a:noFill/>
          <a:ln w="1101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56783" y="3060952"/>
            <a:ext cx="1101643" cy="195050"/>
          </a:xfrm>
          <a:custGeom>
            <a:avLst/>
            <a:gdLst/>
            <a:ahLst/>
            <a:cxnLst/>
            <a:rect l="0" t="0" r="0" b="0"/>
            <a:pathLst>
              <a:path w="1101643" h="195050">
                <a:moveTo>
                  <a:pt x="932724" y="195050"/>
                </a:moveTo>
                <a:lnTo>
                  <a:pt x="1101643" y="97525"/>
                </a:lnTo>
                <a:lnTo>
                  <a:pt x="932724" y="0"/>
                </a:lnTo>
                <a:lnTo>
                  <a:pt x="932724" y="49787"/>
                </a:lnTo>
                <a:lnTo>
                  <a:pt x="0" y="49787"/>
                </a:lnTo>
                <a:lnTo>
                  <a:pt x="0" y="145263"/>
                </a:lnTo>
                <a:lnTo>
                  <a:pt x="932724" y="145263"/>
                </a:lnTo>
                <a:lnTo>
                  <a:pt x="932724" y="195050"/>
                </a:lnTo>
                <a:close/>
              </a:path>
            </a:pathLst>
          </a:custGeom>
          <a:noFill/>
          <a:ln w="1101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46619" y="3693753"/>
            <a:ext cx="1208691" cy="474464"/>
          </a:xfrm>
          <a:custGeom>
            <a:avLst/>
            <a:gdLst/>
            <a:ahLst/>
            <a:cxnLst/>
            <a:rect l="0" t="0" r="0" b="0"/>
            <a:pathLst>
              <a:path w="1208691" h="474464">
                <a:moveTo>
                  <a:pt x="1040593" y="279420"/>
                </a:moveTo>
                <a:lnTo>
                  <a:pt x="1208691" y="378351"/>
                </a:lnTo>
                <a:lnTo>
                  <a:pt x="1038965" y="474464"/>
                </a:lnTo>
                <a:lnTo>
                  <a:pt x="1039389" y="423724"/>
                </a:lnTo>
                <a:cubicBezTo>
                  <a:pt x="670480" y="408893"/>
                  <a:pt x="327376" y="293432"/>
                  <a:pt x="36912" y="104045"/>
                </a:cubicBezTo>
                <a:lnTo>
                  <a:pt x="0" y="79977"/>
                </a:lnTo>
                <a:lnTo>
                  <a:pt x="52146" y="0"/>
                </a:lnTo>
                <a:lnTo>
                  <a:pt x="89059" y="24067"/>
                </a:lnTo>
                <a:cubicBezTo>
                  <a:pt x="364713" y="203798"/>
                  <a:pt x="690105" y="313569"/>
                  <a:pt x="1040185" y="328201"/>
                </a:cubicBezTo>
                <a:lnTo>
                  <a:pt x="1040593" y="279420"/>
                </a:lnTo>
                <a:close/>
              </a:path>
            </a:pathLst>
          </a:custGeom>
          <a:noFill/>
          <a:ln w="1101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786107" y="371479"/>
            <a:ext cx="7571784" cy="720060"/>
            <a:chOff x="786107" y="371479"/>
            <a:chExt cx="7571784" cy="720060"/>
          </a:xfrm>
        </p:grpSpPr>
        <p:sp>
          <p:nvSpPr>
            <p:cNvPr id="6" name="TextBox 5"/>
            <p:cNvSpPr txBox="1"/>
            <p:nvPr/>
          </p:nvSpPr>
          <p:spPr>
            <a:xfrm>
              <a:off x="218224" y="371479"/>
              <a:ext cx="8707551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7BDEC4"/>
                  </a:solidFill>
                  <a:latin typeface="Montserrat"/>
                </a:rPr>
                <a:t>What are the core components of an AI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18224" y="731523"/>
              <a:ext cx="8707551" cy="3600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7BDEC4"/>
                  </a:solidFill>
                  <a:latin typeface="Montserrat"/>
                </a:rPr>
                <a:t>agent?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5406266" y="1859605"/>
            <a:ext cx="877153" cy="158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7BDEC4"/>
                </a:solidFill>
                <a:latin typeface="Montserrat"/>
              </a:rPr>
              <a:t>Perception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0639" y="2035148"/>
            <a:ext cx="252551" cy="252498"/>
          </a:xfrm>
          <a:custGeom>
            <a:avLst/>
            <a:gdLst/>
            <a:ahLst/>
            <a:cxnLst/>
            <a:rect l="0" t="0" r="0" b="0"/>
            <a:pathLst>
              <a:path w="252551" h="252498">
                <a:moveTo>
                  <a:pt x="129839" y="240700"/>
                </a:moveTo>
                <a:cubicBezTo>
                  <a:pt x="129833" y="247213"/>
                  <a:pt x="124554" y="252492"/>
                  <a:pt x="118041" y="252498"/>
                </a:cubicBezTo>
                <a:lnTo>
                  <a:pt x="11809" y="252498"/>
                </a:lnTo>
                <a:cubicBezTo>
                  <a:pt x="5291" y="252498"/>
                  <a:pt x="6" y="247218"/>
                  <a:pt x="0" y="240700"/>
                </a:cubicBezTo>
                <a:lnTo>
                  <a:pt x="0" y="211187"/>
                </a:lnTo>
                <a:cubicBezTo>
                  <a:pt x="0" y="175332"/>
                  <a:pt x="29065" y="146267"/>
                  <a:pt x="64919" y="146267"/>
                </a:cubicBezTo>
                <a:cubicBezTo>
                  <a:pt x="100774" y="146267"/>
                  <a:pt x="129839" y="175332"/>
                  <a:pt x="129839" y="211187"/>
                </a:cubicBezTo>
                <a:close/>
                <a:moveTo>
                  <a:pt x="40132" y="186400"/>
                </a:moveTo>
                <a:cubicBezTo>
                  <a:pt x="40132" y="187921"/>
                  <a:pt x="41365" y="189154"/>
                  <a:pt x="42886" y="189154"/>
                </a:cubicBezTo>
                <a:cubicBezTo>
                  <a:pt x="44408" y="189154"/>
                  <a:pt x="45641" y="187921"/>
                  <a:pt x="45641" y="186400"/>
                </a:cubicBezTo>
                <a:cubicBezTo>
                  <a:pt x="45641" y="184879"/>
                  <a:pt x="44408" y="183646"/>
                  <a:pt x="42886" y="183646"/>
                </a:cubicBezTo>
                <a:cubicBezTo>
                  <a:pt x="41365" y="183646"/>
                  <a:pt x="40132" y="184879"/>
                  <a:pt x="40132" y="186400"/>
                </a:cubicBezTo>
                <a:moveTo>
                  <a:pt x="84198" y="186334"/>
                </a:moveTo>
                <a:cubicBezTo>
                  <a:pt x="84198" y="187855"/>
                  <a:pt x="85431" y="189088"/>
                  <a:pt x="86952" y="189088"/>
                </a:cubicBezTo>
                <a:cubicBezTo>
                  <a:pt x="88473" y="189088"/>
                  <a:pt x="89706" y="187855"/>
                  <a:pt x="89706" y="186334"/>
                </a:cubicBezTo>
                <a:cubicBezTo>
                  <a:pt x="89706" y="184813"/>
                  <a:pt x="88473" y="183580"/>
                  <a:pt x="86952" y="183580"/>
                </a:cubicBezTo>
                <a:cubicBezTo>
                  <a:pt x="85431" y="183580"/>
                  <a:pt x="84198" y="184813"/>
                  <a:pt x="84198" y="186334"/>
                </a:cubicBezTo>
                <a:moveTo>
                  <a:pt x="64919" y="146267"/>
                </a:moveTo>
                <a:lnTo>
                  <a:pt x="64919" y="122659"/>
                </a:lnTo>
                <a:moveTo>
                  <a:pt x="47216" y="104955"/>
                </a:moveTo>
                <a:cubicBezTo>
                  <a:pt x="47216" y="114733"/>
                  <a:pt x="55142" y="122659"/>
                  <a:pt x="64919" y="122659"/>
                </a:cubicBezTo>
                <a:cubicBezTo>
                  <a:pt x="74697" y="122659"/>
                  <a:pt x="82623" y="114733"/>
                  <a:pt x="82623" y="104955"/>
                </a:cubicBezTo>
                <a:cubicBezTo>
                  <a:pt x="82623" y="95178"/>
                  <a:pt x="74697" y="87252"/>
                  <a:pt x="64919" y="87252"/>
                </a:cubicBezTo>
                <a:cubicBezTo>
                  <a:pt x="55142" y="87252"/>
                  <a:pt x="47216" y="95178"/>
                  <a:pt x="47216" y="104955"/>
                </a:cubicBezTo>
                <a:moveTo>
                  <a:pt x="0" y="222919"/>
                </a:moveTo>
                <a:lnTo>
                  <a:pt x="129839" y="222919"/>
                </a:lnTo>
                <a:moveTo>
                  <a:pt x="252496" y="47813"/>
                </a:moveTo>
                <a:cubicBezTo>
                  <a:pt x="237685" y="77105"/>
                  <a:pt x="207654" y="95572"/>
                  <a:pt x="174830" y="95572"/>
                </a:cubicBezTo>
                <a:cubicBezTo>
                  <a:pt x="142007" y="95572"/>
                  <a:pt x="111976" y="77105"/>
                  <a:pt x="97164" y="47813"/>
                </a:cubicBezTo>
                <a:cubicBezTo>
                  <a:pt x="111965" y="18491"/>
                  <a:pt x="142013" y="0"/>
                  <a:pt x="174858" y="0"/>
                </a:cubicBezTo>
                <a:cubicBezTo>
                  <a:pt x="207703" y="0"/>
                  <a:pt x="237751" y="18491"/>
                  <a:pt x="252551" y="47813"/>
                </a:cubicBezTo>
                <a:close/>
                <a:moveTo>
                  <a:pt x="150903" y="47813"/>
                </a:moveTo>
                <a:cubicBezTo>
                  <a:pt x="150903" y="61016"/>
                  <a:pt x="161606" y="71719"/>
                  <a:pt x="174808" y="71719"/>
                </a:cubicBezTo>
                <a:cubicBezTo>
                  <a:pt x="188011" y="71719"/>
                  <a:pt x="198714" y="61016"/>
                  <a:pt x="198714" y="47813"/>
                </a:cubicBezTo>
                <a:cubicBezTo>
                  <a:pt x="198714" y="34610"/>
                  <a:pt x="188011" y="23907"/>
                  <a:pt x="174808" y="23907"/>
                </a:cubicBezTo>
                <a:cubicBezTo>
                  <a:pt x="161606" y="23907"/>
                  <a:pt x="150903" y="34610"/>
                  <a:pt x="150903" y="47813"/>
                </a:cubicBezTo>
              </a:path>
            </a:pathLst>
          </a:custGeom>
          <a:noFill/>
          <a:ln w="11015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5406266" y="2106379"/>
            <a:ext cx="1722986" cy="356805"/>
            <a:chOff x="5406266" y="2106379"/>
            <a:chExt cx="1722986" cy="356805"/>
          </a:xfrm>
        </p:grpSpPr>
        <p:sp>
          <p:nvSpPr>
            <p:cNvPr id="11" name="TextBox 10"/>
            <p:cNvSpPr txBox="1"/>
            <p:nvPr/>
          </p:nvSpPr>
          <p:spPr>
            <a:xfrm>
              <a:off x="5406266" y="2106379"/>
              <a:ext cx="1981433" cy="1188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Processes multi-modal inputs and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06266" y="2225251"/>
              <a:ext cx="1981433" cy="118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environmental context to build 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06266" y="2344218"/>
              <a:ext cx="1981433" cy="118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world model.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406266" y="2815724"/>
            <a:ext cx="421203" cy="158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7BDEC4"/>
                </a:solidFill>
                <a:latin typeface="Montserrat"/>
              </a:rPr>
              <a:t>Brain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4690" y="2985320"/>
            <a:ext cx="260786" cy="256132"/>
          </a:xfrm>
          <a:custGeom>
            <a:avLst/>
            <a:gdLst/>
            <a:ahLst/>
            <a:cxnLst/>
            <a:rect l="0" t="0" r="0" b="0"/>
            <a:pathLst>
              <a:path w="260786" h="256132">
                <a:moveTo>
                  <a:pt x="24665" y="217574"/>
                </a:moveTo>
                <a:cubicBezTo>
                  <a:pt x="33791" y="217574"/>
                  <a:pt x="41189" y="210175"/>
                  <a:pt x="41189" y="201049"/>
                </a:cubicBezTo>
                <a:cubicBezTo>
                  <a:pt x="41189" y="191923"/>
                  <a:pt x="33791" y="184525"/>
                  <a:pt x="24665" y="184525"/>
                </a:cubicBezTo>
                <a:cubicBezTo>
                  <a:pt x="15539" y="184525"/>
                  <a:pt x="8140" y="191923"/>
                  <a:pt x="8140" y="201049"/>
                </a:cubicBezTo>
                <a:cubicBezTo>
                  <a:pt x="8140" y="210175"/>
                  <a:pt x="15539" y="217574"/>
                  <a:pt x="24665" y="217574"/>
                </a:cubicBezTo>
                <a:close/>
                <a:moveTo>
                  <a:pt x="97374" y="166368"/>
                </a:moveTo>
                <a:cubicBezTo>
                  <a:pt x="106501" y="166368"/>
                  <a:pt x="113900" y="158969"/>
                  <a:pt x="113900" y="149843"/>
                </a:cubicBezTo>
                <a:cubicBezTo>
                  <a:pt x="113900" y="140717"/>
                  <a:pt x="106501" y="133318"/>
                  <a:pt x="97374" y="133318"/>
                </a:cubicBezTo>
                <a:cubicBezTo>
                  <a:pt x="88248" y="133318"/>
                  <a:pt x="80850" y="140717"/>
                  <a:pt x="80850" y="149843"/>
                </a:cubicBezTo>
                <a:cubicBezTo>
                  <a:pt x="80850" y="158969"/>
                  <a:pt x="88248" y="166368"/>
                  <a:pt x="97374" y="166368"/>
                </a:cubicBezTo>
                <a:close/>
                <a:moveTo>
                  <a:pt x="0" y="0"/>
                </a:moveTo>
                <a:moveTo>
                  <a:pt x="97374" y="166368"/>
                </a:moveTo>
                <a:lnTo>
                  <a:pt x="97374" y="256132"/>
                </a:lnTo>
                <a:moveTo>
                  <a:pt x="41189" y="201049"/>
                </a:moveTo>
                <a:lnTo>
                  <a:pt x="50493" y="201049"/>
                </a:lnTo>
                <a:cubicBezTo>
                  <a:pt x="57470" y="201049"/>
                  <a:pt x="62122" y="205456"/>
                  <a:pt x="62122" y="212066"/>
                </a:cubicBezTo>
                <a:lnTo>
                  <a:pt x="62122" y="256132"/>
                </a:lnTo>
                <a:moveTo>
                  <a:pt x="168981" y="217574"/>
                </a:moveTo>
                <a:cubicBezTo>
                  <a:pt x="178107" y="217574"/>
                  <a:pt x="185505" y="210175"/>
                  <a:pt x="185505" y="201049"/>
                </a:cubicBezTo>
                <a:cubicBezTo>
                  <a:pt x="185505" y="191923"/>
                  <a:pt x="178107" y="184525"/>
                  <a:pt x="168981" y="184525"/>
                </a:cubicBezTo>
                <a:cubicBezTo>
                  <a:pt x="159855" y="184525"/>
                  <a:pt x="152456" y="191923"/>
                  <a:pt x="152456" y="201049"/>
                </a:cubicBezTo>
                <a:cubicBezTo>
                  <a:pt x="152456" y="210175"/>
                  <a:pt x="159855" y="217574"/>
                  <a:pt x="168981" y="217574"/>
                </a:cubicBezTo>
                <a:close/>
                <a:moveTo>
                  <a:pt x="152456" y="201049"/>
                </a:moveTo>
                <a:lnTo>
                  <a:pt x="143643" y="201049"/>
                </a:lnTo>
                <a:cubicBezTo>
                  <a:pt x="137033" y="201049"/>
                  <a:pt x="132626" y="205456"/>
                  <a:pt x="132626" y="212066"/>
                </a:cubicBezTo>
                <a:lnTo>
                  <a:pt x="132626" y="256132"/>
                </a:lnTo>
                <a:moveTo>
                  <a:pt x="0" y="0"/>
                </a:moveTo>
                <a:moveTo>
                  <a:pt x="67629" y="110715"/>
                </a:moveTo>
                <a:lnTo>
                  <a:pt x="63222" y="105206"/>
                </a:lnTo>
                <a:cubicBezTo>
                  <a:pt x="61019" y="101901"/>
                  <a:pt x="55511" y="100799"/>
                  <a:pt x="52206" y="103003"/>
                </a:cubicBezTo>
                <a:lnTo>
                  <a:pt x="41189" y="109612"/>
                </a:lnTo>
                <a:cubicBezTo>
                  <a:pt x="32376" y="115120"/>
                  <a:pt x="21359" y="105206"/>
                  <a:pt x="25766" y="95291"/>
                </a:cubicBezTo>
                <a:lnTo>
                  <a:pt x="31274" y="84275"/>
                </a:lnTo>
                <a:cubicBezTo>
                  <a:pt x="33478" y="79868"/>
                  <a:pt x="31274" y="75461"/>
                  <a:pt x="27969" y="73258"/>
                </a:cubicBezTo>
                <a:lnTo>
                  <a:pt x="16953" y="67750"/>
                </a:lnTo>
                <a:cubicBezTo>
                  <a:pt x="7038" y="62242"/>
                  <a:pt x="10343" y="47920"/>
                  <a:pt x="21360" y="46819"/>
                </a:cubicBezTo>
                <a:lnTo>
                  <a:pt x="33478" y="45717"/>
                </a:lnTo>
                <a:cubicBezTo>
                  <a:pt x="37884" y="45717"/>
                  <a:pt x="41189" y="41310"/>
                  <a:pt x="41189" y="36904"/>
                </a:cubicBezTo>
                <a:lnTo>
                  <a:pt x="41189" y="24786"/>
                </a:lnTo>
                <a:cubicBezTo>
                  <a:pt x="41189" y="13769"/>
                  <a:pt x="54409" y="9363"/>
                  <a:pt x="61019" y="18176"/>
                </a:cubicBezTo>
                <a:lnTo>
                  <a:pt x="68730" y="28091"/>
                </a:lnTo>
                <a:cubicBezTo>
                  <a:pt x="70934" y="31396"/>
                  <a:pt x="76442" y="32497"/>
                  <a:pt x="79747" y="30294"/>
                </a:cubicBezTo>
                <a:lnTo>
                  <a:pt x="90763" y="23684"/>
                </a:lnTo>
                <a:cubicBezTo>
                  <a:pt x="99576" y="18176"/>
                  <a:pt x="110592" y="28091"/>
                  <a:pt x="106186" y="38006"/>
                </a:cubicBezTo>
                <a:lnTo>
                  <a:pt x="100678" y="49022"/>
                </a:lnTo>
                <a:cubicBezTo>
                  <a:pt x="98475" y="53429"/>
                  <a:pt x="100678" y="57835"/>
                  <a:pt x="103983" y="60038"/>
                </a:cubicBezTo>
                <a:lnTo>
                  <a:pt x="114999" y="65547"/>
                </a:lnTo>
                <a:cubicBezTo>
                  <a:pt x="124914" y="71055"/>
                  <a:pt x="121609" y="85376"/>
                  <a:pt x="110592" y="86478"/>
                </a:cubicBezTo>
                <a:lnTo>
                  <a:pt x="98475" y="87580"/>
                </a:lnTo>
                <a:cubicBezTo>
                  <a:pt x="94068" y="87580"/>
                  <a:pt x="90763" y="91986"/>
                  <a:pt x="90763" y="96393"/>
                </a:cubicBezTo>
                <a:lnTo>
                  <a:pt x="90763" y="103003"/>
                </a:lnTo>
                <a:moveTo>
                  <a:pt x="0" y="0"/>
                </a:moveTo>
                <a:moveTo>
                  <a:pt x="215262" y="26144"/>
                </a:moveTo>
                <a:lnTo>
                  <a:pt x="219055" y="38474"/>
                </a:lnTo>
                <a:cubicBezTo>
                  <a:pt x="220003" y="43216"/>
                  <a:pt x="224746" y="45113"/>
                  <a:pt x="229487" y="44164"/>
                </a:cubicBezTo>
                <a:lnTo>
                  <a:pt x="241818" y="41319"/>
                </a:lnTo>
                <a:cubicBezTo>
                  <a:pt x="253199" y="38474"/>
                  <a:pt x="260786" y="51752"/>
                  <a:pt x="253199" y="60288"/>
                </a:cubicBezTo>
                <a:lnTo>
                  <a:pt x="244662" y="69772"/>
                </a:lnTo>
                <a:cubicBezTo>
                  <a:pt x="241818" y="73566"/>
                  <a:pt x="241818" y="78308"/>
                  <a:pt x="244662" y="81153"/>
                </a:cubicBezTo>
                <a:lnTo>
                  <a:pt x="253199" y="90637"/>
                </a:lnTo>
                <a:cubicBezTo>
                  <a:pt x="260786" y="99173"/>
                  <a:pt x="253199" y="112451"/>
                  <a:pt x="241818" y="109606"/>
                </a:cubicBezTo>
                <a:lnTo>
                  <a:pt x="229487" y="106761"/>
                </a:lnTo>
                <a:cubicBezTo>
                  <a:pt x="224746" y="105812"/>
                  <a:pt x="220952" y="108658"/>
                  <a:pt x="219055" y="112452"/>
                </a:cubicBezTo>
                <a:lnTo>
                  <a:pt x="215262" y="124782"/>
                </a:lnTo>
                <a:cubicBezTo>
                  <a:pt x="211468" y="136163"/>
                  <a:pt x="196293" y="136163"/>
                  <a:pt x="193447" y="124782"/>
                </a:cubicBezTo>
                <a:lnTo>
                  <a:pt x="189654" y="112452"/>
                </a:lnTo>
                <a:cubicBezTo>
                  <a:pt x="188706" y="107709"/>
                  <a:pt x="183963" y="105812"/>
                  <a:pt x="179220" y="106761"/>
                </a:cubicBezTo>
                <a:lnTo>
                  <a:pt x="166891" y="109606"/>
                </a:lnTo>
                <a:cubicBezTo>
                  <a:pt x="155510" y="112451"/>
                  <a:pt x="147923" y="99173"/>
                  <a:pt x="155510" y="90637"/>
                </a:cubicBezTo>
                <a:lnTo>
                  <a:pt x="164046" y="81153"/>
                </a:lnTo>
                <a:cubicBezTo>
                  <a:pt x="166891" y="77359"/>
                  <a:pt x="166891" y="72617"/>
                  <a:pt x="164046" y="69772"/>
                </a:cubicBezTo>
                <a:lnTo>
                  <a:pt x="155510" y="60288"/>
                </a:lnTo>
                <a:cubicBezTo>
                  <a:pt x="147923" y="51752"/>
                  <a:pt x="155510" y="38474"/>
                  <a:pt x="166891" y="41319"/>
                </a:cubicBezTo>
                <a:lnTo>
                  <a:pt x="179220" y="44164"/>
                </a:lnTo>
                <a:cubicBezTo>
                  <a:pt x="183963" y="45113"/>
                  <a:pt x="187757" y="42267"/>
                  <a:pt x="189654" y="38474"/>
                </a:cubicBezTo>
                <a:lnTo>
                  <a:pt x="193447" y="26144"/>
                </a:lnTo>
                <a:cubicBezTo>
                  <a:pt x="196293" y="14763"/>
                  <a:pt x="212416" y="14763"/>
                  <a:pt x="215262" y="26144"/>
                </a:cubicBezTo>
                <a:close/>
                <a:moveTo>
                  <a:pt x="65976" y="79263"/>
                </a:moveTo>
                <a:cubicBezTo>
                  <a:pt x="72599" y="79263"/>
                  <a:pt x="77969" y="73894"/>
                  <a:pt x="77969" y="67270"/>
                </a:cubicBezTo>
                <a:cubicBezTo>
                  <a:pt x="77969" y="60647"/>
                  <a:pt x="72599" y="55278"/>
                  <a:pt x="65976" y="55278"/>
                </a:cubicBezTo>
                <a:cubicBezTo>
                  <a:pt x="59353" y="55278"/>
                  <a:pt x="53984" y="60647"/>
                  <a:pt x="53984" y="67270"/>
                </a:cubicBezTo>
                <a:cubicBezTo>
                  <a:pt x="53984" y="73894"/>
                  <a:pt x="59353" y="79263"/>
                  <a:pt x="65976" y="79263"/>
                </a:cubicBezTo>
                <a:close/>
                <a:moveTo>
                  <a:pt x="204354" y="87455"/>
                </a:moveTo>
                <a:cubicBezTo>
                  <a:pt x="210977" y="87455"/>
                  <a:pt x="216347" y="82086"/>
                  <a:pt x="216347" y="75463"/>
                </a:cubicBezTo>
                <a:cubicBezTo>
                  <a:pt x="216347" y="68840"/>
                  <a:pt x="210977" y="63470"/>
                  <a:pt x="204354" y="63470"/>
                </a:cubicBezTo>
                <a:cubicBezTo>
                  <a:pt x="197730" y="63470"/>
                  <a:pt x="192362" y="68840"/>
                  <a:pt x="192362" y="75463"/>
                </a:cubicBezTo>
                <a:cubicBezTo>
                  <a:pt x="192362" y="82086"/>
                  <a:pt x="197730" y="87455"/>
                  <a:pt x="204354" y="87455"/>
                </a:cubicBezTo>
                <a:close/>
              </a:path>
            </a:pathLst>
          </a:custGeom>
          <a:noFill/>
          <a:ln w="11015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0" name="Group 19"/>
          <p:cNvGrpSpPr/>
          <p:nvPr/>
        </p:nvGrpSpPr>
        <p:grpSpPr>
          <a:xfrm>
            <a:off x="5406267" y="3062498"/>
            <a:ext cx="1712271" cy="356805"/>
            <a:chOff x="5406267" y="3062498"/>
            <a:chExt cx="1712271" cy="356805"/>
          </a:xfrm>
        </p:grpSpPr>
        <p:sp>
          <p:nvSpPr>
            <p:cNvPr id="17" name="TextBox 16"/>
            <p:cNvSpPr txBox="1"/>
            <p:nvPr/>
          </p:nvSpPr>
          <p:spPr>
            <a:xfrm>
              <a:off x="5406267" y="3062498"/>
              <a:ext cx="1969111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The LLM core responsible for high-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06267" y="3181370"/>
              <a:ext cx="1969111" cy="118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level planning, reasoning, and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06267" y="3300337"/>
              <a:ext cx="1969111" cy="118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decision-making.</a:t>
              </a:r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5042512" y="3946181"/>
            <a:ext cx="254457" cy="254144"/>
          </a:xfrm>
          <a:custGeom>
            <a:avLst/>
            <a:gdLst/>
            <a:ahLst/>
            <a:cxnLst/>
            <a:rect l="0" t="0" r="0" b="0"/>
            <a:pathLst>
              <a:path w="254457" h="254144">
                <a:moveTo>
                  <a:pt x="203363" y="18723"/>
                </a:moveTo>
                <a:lnTo>
                  <a:pt x="188381" y="3851"/>
                </a:lnTo>
                <a:cubicBezTo>
                  <a:pt x="184171" y="0"/>
                  <a:pt x="177718" y="0"/>
                  <a:pt x="173508" y="3851"/>
                </a:cubicBezTo>
                <a:lnTo>
                  <a:pt x="128671" y="48687"/>
                </a:lnTo>
                <a:cubicBezTo>
                  <a:pt x="124820" y="52897"/>
                  <a:pt x="124820" y="59350"/>
                  <a:pt x="128671" y="63560"/>
                </a:cubicBezTo>
                <a:lnTo>
                  <a:pt x="143654" y="78542"/>
                </a:lnTo>
                <a:cubicBezTo>
                  <a:pt x="145668" y="80484"/>
                  <a:pt x="148347" y="81587"/>
                  <a:pt x="151145" y="81627"/>
                </a:cubicBezTo>
                <a:cubicBezTo>
                  <a:pt x="153905" y="81560"/>
                  <a:pt x="156539" y="80459"/>
                  <a:pt x="158526" y="78542"/>
                </a:cubicBezTo>
                <a:lnTo>
                  <a:pt x="203363" y="33705"/>
                </a:lnTo>
                <a:cubicBezTo>
                  <a:pt x="207282" y="29480"/>
                  <a:pt x="207282" y="22948"/>
                  <a:pt x="203363" y="18723"/>
                </a:cubicBezTo>
                <a:close/>
                <a:moveTo>
                  <a:pt x="235090" y="156649"/>
                </a:moveTo>
                <a:cubicBezTo>
                  <a:pt x="254457" y="127329"/>
                  <a:pt x="250544" y="88435"/>
                  <a:pt x="225726" y="63560"/>
                </a:cubicBezTo>
                <a:lnTo>
                  <a:pt x="203693" y="41527"/>
                </a:lnTo>
                <a:cubicBezTo>
                  <a:pt x="202701" y="40531"/>
                  <a:pt x="201353" y="39972"/>
                  <a:pt x="199948" y="39972"/>
                </a:cubicBezTo>
                <a:cubicBezTo>
                  <a:pt x="198542" y="39972"/>
                  <a:pt x="197194" y="40531"/>
                  <a:pt x="196202" y="41527"/>
                </a:cubicBezTo>
                <a:lnTo>
                  <a:pt x="166017" y="71051"/>
                </a:lnTo>
                <a:cubicBezTo>
                  <a:pt x="165026" y="72045"/>
                  <a:pt x="164471" y="73393"/>
                  <a:pt x="164475" y="74796"/>
                </a:cubicBezTo>
                <a:cubicBezTo>
                  <a:pt x="164489" y="76164"/>
                  <a:pt x="165043" y="77471"/>
                  <a:pt x="166017" y="78432"/>
                </a:cubicBezTo>
                <a:lnTo>
                  <a:pt x="191906" y="104320"/>
                </a:lnTo>
                <a:cubicBezTo>
                  <a:pt x="204816" y="117325"/>
                  <a:pt x="213231" y="134116"/>
                  <a:pt x="215922" y="152242"/>
                </a:cubicBezTo>
                <a:cubicBezTo>
                  <a:pt x="216642" y="156503"/>
                  <a:pt x="219787" y="159949"/>
                  <a:pt x="223964" y="161055"/>
                </a:cubicBezTo>
                <a:cubicBezTo>
                  <a:pt x="228217" y="161904"/>
                  <a:pt x="232572" y="160180"/>
                  <a:pt x="235090" y="156649"/>
                </a:cubicBezTo>
                <a:close/>
                <a:moveTo>
                  <a:pt x="69293" y="208426"/>
                </a:moveTo>
                <a:cubicBezTo>
                  <a:pt x="62854" y="214796"/>
                  <a:pt x="52487" y="214796"/>
                  <a:pt x="46048" y="208426"/>
                </a:cubicBezTo>
                <a:lnTo>
                  <a:pt x="32167" y="194876"/>
                </a:lnTo>
                <a:cubicBezTo>
                  <a:pt x="25797" y="188437"/>
                  <a:pt x="25797" y="178070"/>
                  <a:pt x="32167" y="171631"/>
                </a:cubicBezTo>
                <a:cubicBezTo>
                  <a:pt x="35220" y="168467"/>
                  <a:pt x="39449" y="166711"/>
                  <a:pt x="43845" y="166784"/>
                </a:cubicBezTo>
                <a:cubicBezTo>
                  <a:pt x="48022" y="166841"/>
                  <a:pt x="51997" y="168590"/>
                  <a:pt x="54861" y="171631"/>
                </a:cubicBezTo>
                <a:lnTo>
                  <a:pt x="69293" y="185181"/>
                </a:lnTo>
                <a:cubicBezTo>
                  <a:pt x="75663" y="191620"/>
                  <a:pt x="75663" y="201987"/>
                  <a:pt x="69293" y="208426"/>
                </a:cubicBezTo>
                <a:close/>
                <a:moveTo>
                  <a:pt x="45608" y="161386"/>
                </a:moveTo>
                <a:cubicBezTo>
                  <a:pt x="39280" y="154845"/>
                  <a:pt x="39453" y="144413"/>
                  <a:pt x="45993" y="138086"/>
                </a:cubicBezTo>
                <a:cubicBezTo>
                  <a:pt x="52534" y="131758"/>
                  <a:pt x="62965" y="131931"/>
                  <a:pt x="69293" y="138471"/>
                </a:cubicBezTo>
                <a:lnTo>
                  <a:pt x="93199" y="162377"/>
                </a:lnTo>
                <a:cubicBezTo>
                  <a:pt x="96160" y="165297"/>
                  <a:pt x="97894" y="169238"/>
                  <a:pt x="98046" y="173394"/>
                </a:cubicBezTo>
                <a:cubicBezTo>
                  <a:pt x="98042" y="177775"/>
                  <a:pt x="96298" y="181975"/>
                  <a:pt x="93199" y="185071"/>
                </a:cubicBezTo>
                <a:cubicBezTo>
                  <a:pt x="86667" y="191213"/>
                  <a:pt x="76485" y="191213"/>
                  <a:pt x="69954" y="185071"/>
                </a:cubicBezTo>
                <a:close/>
                <a:moveTo>
                  <a:pt x="115672" y="161826"/>
                </a:moveTo>
                <a:cubicBezTo>
                  <a:pt x="112626" y="164935"/>
                  <a:pt x="108457" y="166687"/>
                  <a:pt x="104105" y="166687"/>
                </a:cubicBezTo>
                <a:cubicBezTo>
                  <a:pt x="99753" y="166687"/>
                  <a:pt x="95584" y="164935"/>
                  <a:pt x="92538" y="161826"/>
                </a:cubicBezTo>
                <a:lnTo>
                  <a:pt x="68522" y="138471"/>
                </a:lnTo>
                <a:cubicBezTo>
                  <a:pt x="62151" y="132033"/>
                  <a:pt x="62151" y="121666"/>
                  <a:pt x="68522" y="115227"/>
                </a:cubicBezTo>
                <a:cubicBezTo>
                  <a:pt x="71528" y="111864"/>
                  <a:pt x="75800" y="109908"/>
                  <a:pt x="80309" y="109829"/>
                </a:cubicBezTo>
                <a:cubicBezTo>
                  <a:pt x="84458" y="110013"/>
                  <a:pt x="88387" y="111742"/>
                  <a:pt x="91326" y="114676"/>
                </a:cubicBezTo>
                <a:lnTo>
                  <a:pt x="115672" y="138471"/>
                </a:lnTo>
                <a:cubicBezTo>
                  <a:pt x="118822" y="141540"/>
                  <a:pt x="120598" y="145751"/>
                  <a:pt x="120598" y="150149"/>
                </a:cubicBezTo>
                <a:cubicBezTo>
                  <a:pt x="120598" y="154546"/>
                  <a:pt x="118822" y="158757"/>
                  <a:pt x="115672" y="161826"/>
                </a:cubicBezTo>
                <a:close/>
                <a:moveTo>
                  <a:pt x="133298" y="128446"/>
                </a:moveTo>
                <a:cubicBezTo>
                  <a:pt x="133423" y="131852"/>
                  <a:pt x="131749" y="135073"/>
                  <a:pt x="128892" y="136929"/>
                </a:cubicBezTo>
                <a:cubicBezTo>
                  <a:pt x="122733" y="140215"/>
                  <a:pt x="115125" y="138848"/>
                  <a:pt x="110494" y="133624"/>
                </a:cubicBezTo>
                <a:lnTo>
                  <a:pt x="96944" y="119854"/>
                </a:lnTo>
                <a:cubicBezTo>
                  <a:pt x="93808" y="116827"/>
                  <a:pt x="92055" y="112644"/>
                  <a:pt x="92097" y="108286"/>
                </a:cubicBezTo>
                <a:cubicBezTo>
                  <a:pt x="92051" y="103895"/>
                  <a:pt x="93802" y="99677"/>
                  <a:pt x="96944" y="96609"/>
                </a:cubicBezTo>
                <a:cubicBezTo>
                  <a:pt x="103497" y="90521"/>
                  <a:pt x="113636" y="90521"/>
                  <a:pt x="120189" y="96609"/>
                </a:cubicBezTo>
                <a:cubicBezTo>
                  <a:pt x="134731" y="111261"/>
                  <a:pt x="133409" y="109939"/>
                  <a:pt x="133519" y="110159"/>
                </a:cubicBezTo>
                <a:moveTo>
                  <a:pt x="45608" y="208095"/>
                </a:moveTo>
                <a:lnTo>
                  <a:pt x="0" y="253593"/>
                </a:lnTo>
                <a:moveTo>
                  <a:pt x="170534" y="82949"/>
                </a:moveTo>
                <a:lnTo>
                  <a:pt x="149493" y="103990"/>
                </a:lnTo>
                <a:moveTo>
                  <a:pt x="93749" y="253593"/>
                </a:moveTo>
                <a:lnTo>
                  <a:pt x="70835" y="230569"/>
                </a:lnTo>
                <a:moveTo>
                  <a:pt x="47260" y="253703"/>
                </a:moveTo>
                <a:lnTo>
                  <a:pt x="153458" y="149488"/>
                </a:lnTo>
                <a:lnTo>
                  <a:pt x="135392" y="130760"/>
                </a:lnTo>
                <a:cubicBezTo>
                  <a:pt x="131121" y="124462"/>
                  <a:pt x="131924" y="116020"/>
                  <a:pt x="137304" y="110640"/>
                </a:cubicBezTo>
                <a:cubicBezTo>
                  <a:pt x="142684" y="105259"/>
                  <a:pt x="151127" y="104457"/>
                  <a:pt x="157424" y="108727"/>
                </a:cubicBezTo>
                <a:lnTo>
                  <a:pt x="179457" y="130760"/>
                </a:lnTo>
                <a:cubicBezTo>
                  <a:pt x="187382" y="138674"/>
                  <a:pt x="191835" y="149415"/>
                  <a:pt x="191835" y="160614"/>
                </a:cubicBezTo>
                <a:cubicBezTo>
                  <a:pt x="191835" y="171814"/>
                  <a:pt x="187382" y="182555"/>
                  <a:pt x="179457" y="190469"/>
                </a:cubicBezTo>
                <a:lnTo>
                  <a:pt x="175822" y="194215"/>
                </a:lnTo>
                <a:cubicBezTo>
                  <a:pt x="163466" y="206563"/>
                  <a:pt x="163466" y="226593"/>
                  <a:pt x="175822" y="238941"/>
                </a:cubicBezTo>
                <a:lnTo>
                  <a:pt x="189372" y="254144"/>
                </a:lnTo>
                <a:moveTo>
                  <a:pt x="194990" y="107625"/>
                </a:moveTo>
                <a:lnTo>
                  <a:pt x="175822" y="126684"/>
                </a:lnTo>
              </a:path>
            </a:pathLst>
          </a:custGeom>
          <a:noFill/>
          <a:ln w="11015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06266" y="3771844"/>
            <a:ext cx="524071" cy="158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7BDEC4"/>
                </a:solidFill>
                <a:latin typeface="Montserrat"/>
              </a:rPr>
              <a:t>Action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5406266" y="4018617"/>
            <a:ext cx="1662407" cy="356805"/>
            <a:chOff x="5406266" y="4018617"/>
            <a:chExt cx="1662407" cy="356805"/>
          </a:xfrm>
        </p:grpSpPr>
        <p:sp>
          <p:nvSpPr>
            <p:cNvPr id="23" name="TextBox 22"/>
            <p:cNvSpPr txBox="1"/>
            <p:nvPr/>
          </p:nvSpPr>
          <p:spPr>
            <a:xfrm>
              <a:off x="5406266" y="4018617"/>
              <a:ext cx="1911768" cy="1188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The execution layer: calling APIs,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406266" y="4137489"/>
              <a:ext cx="1911768" cy="1189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running code, or interacting with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06266" y="4256456"/>
              <a:ext cx="1911768" cy="1189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external tools.</a:t>
              </a:r>
            </a:p>
          </p:txBody>
        </p:sp>
      </p:grpSp>
      <p:sp>
        <p:nvSpPr>
          <p:cNvPr id="27" name="Rounded Rectangle 26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0"/>
            <a:ext cx="4467225" cy="310717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390525" y="1314751"/>
            <a:ext cx="3211268" cy="1080076"/>
            <a:chOff x="390525" y="1314751"/>
            <a:chExt cx="3211268" cy="1080076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314751"/>
              <a:ext cx="3692958" cy="360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The Reasoning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1674795"/>
              <a:ext cx="3692958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Loop: ReAct and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90525" y="2034840"/>
              <a:ext cx="3692958" cy="3599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Beyond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90525" y="2490075"/>
            <a:ext cx="3528717" cy="617095"/>
            <a:chOff x="390525" y="2490075"/>
            <a:chExt cx="3528717" cy="617095"/>
          </a:xfrm>
        </p:grpSpPr>
        <p:sp>
          <p:nvSpPr>
            <p:cNvPr id="7" name="TextBox 6"/>
            <p:cNvSpPr txBox="1"/>
            <p:nvPr/>
          </p:nvSpPr>
          <p:spPr>
            <a:xfrm>
              <a:off x="390525" y="2490075"/>
              <a:ext cx="4058024" cy="205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How agents use iterative thought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2695719"/>
              <a:ext cx="4058024" cy="205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processes to solve complex, multi-step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0525" y="2901364"/>
              <a:ext cx="4058024" cy="2058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problems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90525" y="3573903"/>
            <a:ext cx="48418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8025" y="3573903"/>
            <a:ext cx="58209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5525" y="3573903"/>
            <a:ext cx="57541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525" y="4126353"/>
            <a:ext cx="49873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ReAct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8025" y="4126353"/>
            <a:ext cx="143750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Chain of Thought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5525" y="4126353"/>
            <a:ext cx="121432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Self-Reflection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90525" y="4402573"/>
            <a:ext cx="2547642" cy="274195"/>
            <a:chOff x="390525" y="4402573"/>
            <a:chExt cx="2547642" cy="274195"/>
          </a:xfrm>
        </p:grpSpPr>
        <p:sp>
          <p:nvSpPr>
            <p:cNvPr id="17" name="TextBox 16"/>
            <p:cNvSpPr txBox="1"/>
            <p:nvPr/>
          </p:nvSpPr>
          <p:spPr>
            <a:xfrm>
              <a:off x="390525" y="4402573"/>
              <a:ext cx="2929788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Synergizing reasoning and acting by interleaving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0525" y="4539637"/>
              <a:ext cx="2929788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thought traces and action execution.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248025" y="4402573"/>
            <a:ext cx="2370982" cy="274195"/>
            <a:chOff x="3248025" y="4402573"/>
            <a:chExt cx="2370982" cy="274195"/>
          </a:xfrm>
        </p:grpSpPr>
        <p:sp>
          <p:nvSpPr>
            <p:cNvPr id="20" name="TextBox 19"/>
            <p:cNvSpPr txBox="1"/>
            <p:nvPr/>
          </p:nvSpPr>
          <p:spPr>
            <a:xfrm>
              <a:off x="3248025" y="4402573"/>
              <a:ext cx="2726629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Breaking down complex prompts into logical,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48025" y="4539637"/>
              <a:ext cx="2726629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intermediate steps for better accuracy.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105525" y="4402573"/>
            <a:ext cx="2598839" cy="274195"/>
            <a:chOff x="6105525" y="4402573"/>
            <a:chExt cx="2598839" cy="274195"/>
          </a:xfrm>
        </p:grpSpPr>
        <p:sp>
          <p:nvSpPr>
            <p:cNvPr id="23" name="TextBox 22"/>
            <p:cNvSpPr txBox="1"/>
            <p:nvPr/>
          </p:nvSpPr>
          <p:spPr>
            <a:xfrm>
              <a:off x="6105525" y="4402573"/>
              <a:ext cx="2988664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The agent reviews its own output against the goal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05525" y="4539637"/>
              <a:ext cx="2988664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to correct errors before final delivery.</a:t>
              </a:r>
            </a:p>
          </p:txBody>
        </p:sp>
      </p:grpSp>
      <p:sp>
        <p:nvSpPr>
          <p:cNvPr id="26" name="Rounded Rectangle 25"/>
          <p:cNvSpPr/>
          <p:nvPr/>
        </p:nvSpPr>
        <p:spPr>
          <a:xfrm>
            <a:off x="8024812" y="496724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95358" y="3707541"/>
            <a:ext cx="3005378" cy="709656"/>
          </a:xfrm>
          <a:custGeom>
            <a:avLst/>
            <a:gdLst/>
            <a:ahLst/>
            <a:cxnLst/>
            <a:rect l="0" t="0" r="0" b="0"/>
            <a:pathLst>
              <a:path w="3005378" h="709656">
                <a:moveTo>
                  <a:pt x="2600808" y="0"/>
                </a:moveTo>
                <a:lnTo>
                  <a:pt x="404569" y="0"/>
                </a:lnTo>
                <a:lnTo>
                  <a:pt x="0" y="709656"/>
                </a:lnTo>
                <a:lnTo>
                  <a:pt x="3005378" y="709656"/>
                </a:lnTo>
                <a:lnTo>
                  <a:pt x="2600808" y="0"/>
                </a:lnTo>
                <a:close/>
              </a:path>
            </a:pathLst>
          </a:custGeom>
          <a:noFill/>
          <a:ln w="2534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15501" y="2795125"/>
            <a:ext cx="1965056" cy="709656"/>
          </a:xfrm>
          <a:custGeom>
            <a:avLst/>
            <a:gdLst/>
            <a:ahLst/>
            <a:cxnLst/>
            <a:rect l="0" t="0" r="0" b="0"/>
            <a:pathLst>
              <a:path w="1965056" h="709656">
                <a:moveTo>
                  <a:pt x="1560484" y="0"/>
                </a:moveTo>
                <a:lnTo>
                  <a:pt x="404569" y="0"/>
                </a:lnTo>
                <a:lnTo>
                  <a:pt x="0" y="709656"/>
                </a:lnTo>
                <a:lnTo>
                  <a:pt x="1965056" y="709656"/>
                </a:lnTo>
                <a:lnTo>
                  <a:pt x="1560484" y="0"/>
                </a:lnTo>
                <a:close/>
              </a:path>
            </a:pathLst>
          </a:custGeom>
          <a:noFill/>
          <a:ln w="2534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35696" y="1781331"/>
            <a:ext cx="924730" cy="811035"/>
          </a:xfrm>
          <a:custGeom>
            <a:avLst/>
            <a:gdLst/>
            <a:ahLst/>
            <a:cxnLst/>
            <a:rect l="0" t="0" r="0" b="0"/>
            <a:pathLst>
              <a:path w="924730" h="811035">
                <a:moveTo>
                  <a:pt x="924730" y="811035"/>
                </a:moveTo>
                <a:lnTo>
                  <a:pt x="462366" y="0"/>
                </a:lnTo>
                <a:lnTo>
                  <a:pt x="0" y="811035"/>
                </a:lnTo>
                <a:lnTo>
                  <a:pt x="924730" y="811035"/>
                </a:lnTo>
                <a:close/>
              </a:path>
            </a:pathLst>
          </a:custGeom>
          <a:noFill/>
          <a:ln w="2534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4969068" y="3961195"/>
            <a:ext cx="565785" cy="100965"/>
            <a:chOff x="4969068" y="3961195"/>
            <a:chExt cx="565785" cy="100965"/>
          </a:xfrm>
        </p:grpSpPr>
        <p:sp>
          <p:nvSpPr>
            <p:cNvPr id="5" name="Rounded Rectangle 4"/>
            <p:cNvSpPr/>
            <p:nvPr/>
          </p:nvSpPr>
          <p:spPr>
            <a:xfrm>
              <a:off x="4969068" y="4011678"/>
              <a:ext cx="540638" cy="9525"/>
            </a:xfrm>
            <a:custGeom>
              <a:avLst/>
              <a:gdLst/>
              <a:ahLst/>
              <a:cxnLst/>
              <a:rect l="0" t="0" r="0" b="0"/>
              <a:pathLst>
                <a:path w="540638" h="9525">
                  <a:moveTo>
                    <a:pt x="0" y="0"/>
                  </a:moveTo>
                  <a:lnTo>
                    <a:pt x="540638" y="0"/>
                  </a:lnTo>
                </a:path>
              </a:pathLst>
            </a:custGeom>
            <a:noFill/>
            <a:ln w="2534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446271" y="3961195"/>
              <a:ext cx="88582" cy="100965"/>
            </a:xfrm>
            <a:custGeom>
              <a:avLst/>
              <a:gdLst/>
              <a:ahLst/>
              <a:cxnLst/>
              <a:rect l="0" t="0" r="0" b="0"/>
              <a:pathLst>
                <a:path w="88582" h="100965">
                  <a:moveTo>
                    <a:pt x="88582" y="50482"/>
                  </a:moveTo>
                  <a:lnTo>
                    <a:pt x="0" y="100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CEB"/>
            </a:solidFill>
            <a:ln w="2534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969069" y="3048781"/>
            <a:ext cx="1089659" cy="100965"/>
            <a:chOff x="4969069" y="3048781"/>
            <a:chExt cx="1089659" cy="100965"/>
          </a:xfrm>
        </p:grpSpPr>
        <p:sp>
          <p:nvSpPr>
            <p:cNvPr id="8" name="Rounded Rectangle 7"/>
            <p:cNvSpPr/>
            <p:nvPr/>
          </p:nvSpPr>
          <p:spPr>
            <a:xfrm>
              <a:off x="4969069" y="3099264"/>
              <a:ext cx="1064418" cy="9525"/>
            </a:xfrm>
            <a:custGeom>
              <a:avLst/>
              <a:gdLst/>
              <a:ahLst/>
              <a:cxnLst/>
              <a:rect l="0" t="0" r="0" b="0"/>
              <a:pathLst>
                <a:path w="1064418" h="9525">
                  <a:moveTo>
                    <a:pt x="0" y="0"/>
                  </a:moveTo>
                  <a:lnTo>
                    <a:pt x="1064418" y="0"/>
                  </a:lnTo>
                </a:path>
              </a:pathLst>
            </a:custGeom>
            <a:noFill/>
            <a:ln w="2534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970146" y="3048781"/>
              <a:ext cx="88582" cy="100965"/>
            </a:xfrm>
            <a:custGeom>
              <a:avLst/>
              <a:gdLst/>
              <a:ahLst/>
              <a:cxnLst/>
              <a:rect l="0" t="0" r="0" b="0"/>
              <a:pathLst>
                <a:path w="88582" h="100965">
                  <a:moveTo>
                    <a:pt x="88582" y="50482"/>
                  </a:moveTo>
                  <a:lnTo>
                    <a:pt x="0" y="100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CEB"/>
            </a:solidFill>
            <a:ln w="2534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969069" y="2136366"/>
            <a:ext cx="1613535" cy="100965"/>
            <a:chOff x="4969069" y="2136366"/>
            <a:chExt cx="1613535" cy="100965"/>
          </a:xfrm>
        </p:grpSpPr>
        <p:sp>
          <p:nvSpPr>
            <p:cNvPr id="11" name="Rounded Rectangle 10"/>
            <p:cNvSpPr/>
            <p:nvPr/>
          </p:nvSpPr>
          <p:spPr>
            <a:xfrm>
              <a:off x="4969069" y="2186849"/>
              <a:ext cx="1588198" cy="9525"/>
            </a:xfrm>
            <a:custGeom>
              <a:avLst/>
              <a:gdLst/>
              <a:ahLst/>
              <a:cxnLst/>
              <a:rect l="0" t="0" r="0" b="0"/>
              <a:pathLst>
                <a:path w="1588198" h="9525">
                  <a:moveTo>
                    <a:pt x="0" y="0"/>
                  </a:moveTo>
                  <a:lnTo>
                    <a:pt x="1588198" y="0"/>
                  </a:lnTo>
                </a:path>
              </a:pathLst>
            </a:custGeom>
            <a:noFill/>
            <a:ln w="2534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494022" y="2136366"/>
              <a:ext cx="88582" cy="100965"/>
            </a:xfrm>
            <a:custGeom>
              <a:avLst/>
              <a:gdLst/>
              <a:ahLst/>
              <a:cxnLst/>
              <a:rect l="0" t="0" r="0" b="0"/>
              <a:pathLst>
                <a:path w="88582" h="100965">
                  <a:moveTo>
                    <a:pt x="88582" y="50482"/>
                  </a:moveTo>
                  <a:lnTo>
                    <a:pt x="0" y="1009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ECEB"/>
            </a:solidFill>
            <a:ln w="2534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57047" y="410745"/>
            <a:ext cx="8229895" cy="706392"/>
            <a:chOff x="457047" y="410745"/>
            <a:chExt cx="8229895" cy="706392"/>
          </a:xfrm>
        </p:grpSpPr>
        <p:sp>
          <p:nvSpPr>
            <p:cNvPr id="14" name="TextBox 13"/>
            <p:cNvSpPr txBox="1"/>
            <p:nvPr/>
          </p:nvSpPr>
          <p:spPr>
            <a:xfrm>
              <a:off x="-160195" y="410745"/>
              <a:ext cx="9464379" cy="353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7BDEC4"/>
                  </a:solidFill>
                  <a:latin typeface="Montserrat"/>
                </a:rPr>
                <a:t>Which memory architecture should be used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-160195" y="763932"/>
              <a:ext cx="9464379" cy="353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2700" b="1">
                  <a:solidFill>
                    <a:srgbClr val="7BDEC4"/>
                  </a:solidFill>
                  <a:latin typeface="Montserrat"/>
                </a:rPr>
                <a:t>for the AI agent?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962044" y="1930865"/>
            <a:ext cx="2075560" cy="2189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>
                <a:solidFill>
                  <a:srgbClr val="7BDEC4"/>
                </a:solidFill>
                <a:latin typeface="Montserrat"/>
              </a:rPr>
              <a:t>State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9973" y="1939161"/>
            <a:ext cx="485776" cy="490576"/>
          </a:xfrm>
          <a:custGeom>
            <a:avLst/>
            <a:gdLst/>
            <a:ahLst/>
            <a:cxnLst/>
            <a:rect l="0" t="0" r="0" b="0"/>
            <a:pathLst>
              <a:path w="485776" h="490576">
                <a:moveTo>
                  <a:pt x="105603" y="289929"/>
                </a:moveTo>
                <a:lnTo>
                  <a:pt x="105603" y="226567"/>
                </a:lnTo>
                <a:moveTo>
                  <a:pt x="147845" y="490576"/>
                </a:moveTo>
                <a:lnTo>
                  <a:pt x="158405" y="363851"/>
                </a:lnTo>
                <a:lnTo>
                  <a:pt x="211207" y="363851"/>
                </a:lnTo>
                <a:lnTo>
                  <a:pt x="211207" y="289929"/>
                </a:lnTo>
                <a:cubicBezTo>
                  <a:pt x="211207" y="231606"/>
                  <a:pt x="163926" y="184325"/>
                  <a:pt x="105603" y="184325"/>
                </a:cubicBezTo>
                <a:cubicBezTo>
                  <a:pt x="47280" y="184325"/>
                  <a:pt x="0" y="231606"/>
                  <a:pt x="0" y="289929"/>
                </a:cubicBezTo>
                <a:lnTo>
                  <a:pt x="0" y="363851"/>
                </a:lnTo>
                <a:lnTo>
                  <a:pt x="52801" y="363851"/>
                </a:lnTo>
                <a:lnTo>
                  <a:pt x="63362" y="490576"/>
                </a:lnTo>
                <a:close/>
                <a:moveTo>
                  <a:pt x="130251" y="78722"/>
                </a:moveTo>
                <a:cubicBezTo>
                  <a:pt x="146847" y="78736"/>
                  <a:pt x="163272" y="75380"/>
                  <a:pt x="178533" y="68858"/>
                </a:cubicBezTo>
                <a:cubicBezTo>
                  <a:pt x="174517" y="37625"/>
                  <a:pt x="151040" y="12426"/>
                  <a:pt x="120169" y="6213"/>
                </a:cubicBezTo>
                <a:cubicBezTo>
                  <a:pt x="89298" y="0"/>
                  <a:pt x="57901" y="14154"/>
                  <a:pt x="42114" y="41401"/>
                </a:cubicBezTo>
                <a:cubicBezTo>
                  <a:pt x="65229" y="65261"/>
                  <a:pt x="97031" y="78727"/>
                  <a:pt x="130251" y="78722"/>
                </a:cubicBezTo>
                <a:close/>
                <a:moveTo>
                  <a:pt x="31681" y="78722"/>
                </a:moveTo>
                <a:cubicBezTo>
                  <a:pt x="31681" y="119548"/>
                  <a:pt x="64777" y="152644"/>
                  <a:pt x="105603" y="152644"/>
                </a:cubicBezTo>
                <a:cubicBezTo>
                  <a:pt x="146429" y="152644"/>
                  <a:pt x="179526" y="119548"/>
                  <a:pt x="179526" y="78722"/>
                </a:cubicBezTo>
                <a:cubicBezTo>
                  <a:pt x="179526" y="37895"/>
                  <a:pt x="146429" y="4799"/>
                  <a:pt x="105603" y="4799"/>
                </a:cubicBezTo>
                <a:cubicBezTo>
                  <a:pt x="64777" y="4799"/>
                  <a:pt x="31681" y="37895"/>
                  <a:pt x="31681" y="78722"/>
                </a:cubicBezTo>
                <a:close/>
                <a:moveTo>
                  <a:pt x="264008" y="258248"/>
                </a:moveTo>
                <a:lnTo>
                  <a:pt x="369612" y="258248"/>
                </a:lnTo>
                <a:moveTo>
                  <a:pt x="369612" y="68161"/>
                </a:moveTo>
                <a:lnTo>
                  <a:pt x="359052" y="68161"/>
                </a:lnTo>
                <a:cubicBezTo>
                  <a:pt x="335722" y="68161"/>
                  <a:pt x="316810" y="87074"/>
                  <a:pt x="316810" y="110403"/>
                </a:cubicBezTo>
                <a:lnTo>
                  <a:pt x="316810" y="384972"/>
                </a:lnTo>
                <a:cubicBezTo>
                  <a:pt x="316810" y="408301"/>
                  <a:pt x="335722" y="427214"/>
                  <a:pt x="359052" y="427214"/>
                </a:cubicBezTo>
                <a:lnTo>
                  <a:pt x="369612" y="427214"/>
                </a:lnTo>
                <a:moveTo>
                  <a:pt x="411853" y="78722"/>
                </a:moveTo>
                <a:lnTo>
                  <a:pt x="432974" y="99842"/>
                </a:lnTo>
                <a:lnTo>
                  <a:pt x="485776" y="57601"/>
                </a:lnTo>
                <a:moveTo>
                  <a:pt x="411853" y="268808"/>
                </a:moveTo>
                <a:lnTo>
                  <a:pt x="432974" y="289929"/>
                </a:lnTo>
                <a:lnTo>
                  <a:pt x="485776" y="247687"/>
                </a:lnTo>
                <a:moveTo>
                  <a:pt x="411853" y="395532"/>
                </a:moveTo>
                <a:lnTo>
                  <a:pt x="475216" y="458895"/>
                </a:lnTo>
                <a:moveTo>
                  <a:pt x="475216" y="395532"/>
                </a:moveTo>
                <a:lnTo>
                  <a:pt x="411853" y="458895"/>
                </a:lnTo>
              </a:path>
            </a:pathLst>
          </a:custGeom>
          <a:noFill/>
          <a:ln w="25345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6764" y="2251226"/>
            <a:ext cx="3370840" cy="1916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200" b="0">
                <a:solidFill>
                  <a:srgbClr val="E7ECEB"/>
                </a:solidFill>
                <a:latin typeface="Montserrat"/>
              </a:rPr>
              <a:t>Tracking variables and task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1572" y="2747508"/>
            <a:ext cx="2106032" cy="2189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>
                <a:solidFill>
                  <a:srgbClr val="7BDEC4"/>
                </a:solidFill>
                <a:latin typeface="Montserrat"/>
              </a:rPr>
              <a:t>Long-Term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9413" y="2845815"/>
            <a:ext cx="491056" cy="491054"/>
          </a:xfrm>
          <a:custGeom>
            <a:avLst/>
            <a:gdLst/>
            <a:ahLst/>
            <a:cxnLst/>
            <a:rect l="0" t="0" r="0" b="0"/>
            <a:pathLst>
              <a:path w="491056" h="491054">
                <a:moveTo>
                  <a:pt x="180581" y="269289"/>
                </a:moveTo>
                <a:cubicBezTo>
                  <a:pt x="271565" y="269289"/>
                  <a:pt x="345323" y="237137"/>
                  <a:pt x="345323" y="197477"/>
                </a:cubicBezTo>
                <a:cubicBezTo>
                  <a:pt x="345323" y="157817"/>
                  <a:pt x="271565" y="125667"/>
                  <a:pt x="180581" y="125667"/>
                </a:cubicBezTo>
                <a:cubicBezTo>
                  <a:pt x="89597" y="125667"/>
                  <a:pt x="15840" y="157817"/>
                  <a:pt x="15840" y="197477"/>
                </a:cubicBezTo>
                <a:cubicBezTo>
                  <a:pt x="15840" y="237137"/>
                  <a:pt x="89597" y="269289"/>
                  <a:pt x="180581" y="269289"/>
                </a:cubicBezTo>
                <a:close/>
                <a:moveTo>
                  <a:pt x="15840" y="203812"/>
                </a:moveTo>
                <a:lnTo>
                  <a:pt x="15840" y="419244"/>
                </a:lnTo>
                <a:cubicBezTo>
                  <a:pt x="15840" y="459373"/>
                  <a:pt x="89762" y="491054"/>
                  <a:pt x="180581" y="491054"/>
                </a:cubicBezTo>
                <a:cubicBezTo>
                  <a:pt x="271401" y="491054"/>
                  <a:pt x="345323" y="459373"/>
                  <a:pt x="345323" y="419244"/>
                </a:cubicBezTo>
                <a:lnTo>
                  <a:pt x="345323" y="203812"/>
                </a:lnTo>
                <a:moveTo>
                  <a:pt x="406573" y="205926"/>
                </a:moveTo>
                <a:lnTo>
                  <a:pt x="491056" y="205926"/>
                </a:lnTo>
                <a:lnTo>
                  <a:pt x="491056" y="121444"/>
                </a:lnTo>
                <a:cubicBezTo>
                  <a:pt x="474160" y="121444"/>
                  <a:pt x="459375" y="106659"/>
                  <a:pt x="459375" y="89763"/>
                </a:cubicBezTo>
                <a:cubicBezTo>
                  <a:pt x="459375" y="72866"/>
                  <a:pt x="474160" y="58081"/>
                  <a:pt x="491056" y="58081"/>
                </a:cubicBezTo>
                <a:lnTo>
                  <a:pt x="491056" y="15840"/>
                </a:lnTo>
                <a:lnTo>
                  <a:pt x="174245" y="15840"/>
                </a:lnTo>
                <a:lnTo>
                  <a:pt x="174245" y="58081"/>
                </a:lnTo>
                <a:cubicBezTo>
                  <a:pt x="184806" y="58081"/>
                  <a:pt x="193254" y="62306"/>
                  <a:pt x="197478" y="68642"/>
                </a:cubicBezTo>
                <a:moveTo>
                  <a:pt x="269289" y="68642"/>
                </a:moveTo>
                <a:lnTo>
                  <a:pt x="269289" y="79202"/>
                </a:lnTo>
                <a:moveTo>
                  <a:pt x="332651" y="68642"/>
                </a:moveTo>
                <a:lnTo>
                  <a:pt x="332651" y="100323"/>
                </a:lnTo>
                <a:moveTo>
                  <a:pt x="396013" y="68642"/>
                </a:moveTo>
                <a:lnTo>
                  <a:pt x="396013" y="121444"/>
                </a:lnTo>
                <a:moveTo>
                  <a:pt x="0" y="0"/>
                </a:moveTo>
                <a:moveTo>
                  <a:pt x="142635" y="387127"/>
                </a:moveTo>
                <a:lnTo>
                  <a:pt x="142635" y="431768"/>
                </a:lnTo>
                <a:moveTo>
                  <a:pt x="142635" y="387127"/>
                </a:moveTo>
                <a:lnTo>
                  <a:pt x="142635" y="324627"/>
                </a:lnTo>
                <a:lnTo>
                  <a:pt x="182813" y="324627"/>
                </a:lnTo>
                <a:cubicBezTo>
                  <a:pt x="200072" y="324627"/>
                  <a:pt x="214062" y="338617"/>
                  <a:pt x="214062" y="355877"/>
                </a:cubicBezTo>
                <a:lnTo>
                  <a:pt x="214062" y="355877"/>
                </a:lnTo>
                <a:cubicBezTo>
                  <a:pt x="214062" y="373135"/>
                  <a:pt x="200072" y="387127"/>
                  <a:pt x="182813" y="387127"/>
                </a:cubicBezTo>
                <a:close/>
                <a:moveTo>
                  <a:pt x="0" y="0"/>
                </a:moveTo>
                <a:moveTo>
                  <a:pt x="218527" y="431768"/>
                </a:moveTo>
                <a:lnTo>
                  <a:pt x="187278" y="387125"/>
                </a:lnTo>
              </a:path>
            </a:pathLst>
          </a:custGeom>
          <a:noFill/>
          <a:ln w="25345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4" name="Group 23"/>
          <p:cNvGrpSpPr/>
          <p:nvPr/>
        </p:nvGrpSpPr>
        <p:grpSpPr>
          <a:xfrm>
            <a:off x="1532824" y="3067866"/>
            <a:ext cx="2504779" cy="383151"/>
            <a:chOff x="1532824" y="3067866"/>
            <a:chExt cx="2504779" cy="383151"/>
          </a:xfrm>
        </p:grpSpPr>
        <p:sp>
          <p:nvSpPr>
            <p:cNvPr id="22" name="TextBox 21"/>
            <p:cNvSpPr txBox="1"/>
            <p:nvPr/>
          </p:nvSpPr>
          <p:spPr>
            <a:xfrm>
              <a:off x="1157108" y="3067866"/>
              <a:ext cx="2880495" cy="1915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0">
                  <a:solidFill>
                    <a:srgbClr val="E7ECEB"/>
                  </a:solidFill>
                  <a:latin typeface="Montserrat"/>
                </a:rPr>
                <a:t>Vector databases for persistent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57108" y="3259413"/>
              <a:ext cx="2880495" cy="1916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0">
                  <a:solidFill>
                    <a:srgbClr val="E7ECEB"/>
                  </a:solidFill>
                  <a:latin typeface="Montserrat"/>
                </a:rPr>
                <a:t>knowledge storage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885872" y="3659924"/>
            <a:ext cx="2151731" cy="2189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>
                <a:solidFill>
                  <a:srgbClr val="7BDEC4"/>
                </a:solidFill>
                <a:latin typeface="Montserrat"/>
              </a:rPr>
              <a:t>Short-Term 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9413" y="3758231"/>
            <a:ext cx="494163" cy="491056"/>
          </a:xfrm>
          <a:custGeom>
            <a:avLst/>
            <a:gdLst/>
            <a:ahLst/>
            <a:cxnLst/>
            <a:rect l="0" t="0" r="0" b="0"/>
            <a:pathLst>
              <a:path w="494163" h="491056">
                <a:moveTo>
                  <a:pt x="156792" y="301145"/>
                </a:moveTo>
                <a:cubicBezTo>
                  <a:pt x="163495" y="332425"/>
                  <a:pt x="181368" y="361470"/>
                  <a:pt x="203711" y="381579"/>
                </a:cubicBezTo>
                <a:lnTo>
                  <a:pt x="203711" y="491056"/>
                </a:lnTo>
                <a:moveTo>
                  <a:pt x="377982" y="488824"/>
                </a:moveTo>
                <a:lnTo>
                  <a:pt x="377982" y="421795"/>
                </a:lnTo>
                <a:lnTo>
                  <a:pt x="424902" y="421795"/>
                </a:lnTo>
                <a:cubicBezTo>
                  <a:pt x="438307" y="421795"/>
                  <a:pt x="447245" y="412859"/>
                  <a:pt x="447245" y="399454"/>
                </a:cubicBezTo>
                <a:lnTo>
                  <a:pt x="447245" y="350299"/>
                </a:lnTo>
                <a:lnTo>
                  <a:pt x="474056" y="350299"/>
                </a:lnTo>
                <a:cubicBezTo>
                  <a:pt x="487461" y="350299"/>
                  <a:pt x="494163" y="336894"/>
                  <a:pt x="489696" y="325723"/>
                </a:cubicBezTo>
                <a:cubicBezTo>
                  <a:pt x="471821" y="287740"/>
                  <a:pt x="447245" y="240820"/>
                  <a:pt x="447245" y="240820"/>
                </a:cubicBezTo>
                <a:cubicBezTo>
                  <a:pt x="447245" y="181831"/>
                  <a:pt x="426733" y="132358"/>
                  <a:pt x="360108" y="115703"/>
                </a:cubicBezTo>
                <a:cubicBezTo>
                  <a:pt x="344468" y="111234"/>
                  <a:pt x="328830" y="108999"/>
                  <a:pt x="313190" y="111234"/>
                </a:cubicBezTo>
                <a:moveTo>
                  <a:pt x="191743" y="100586"/>
                </a:moveTo>
                <a:cubicBezTo>
                  <a:pt x="213224" y="100586"/>
                  <a:pt x="230638" y="83173"/>
                  <a:pt x="230638" y="61692"/>
                </a:cubicBezTo>
                <a:cubicBezTo>
                  <a:pt x="230638" y="40212"/>
                  <a:pt x="213224" y="22798"/>
                  <a:pt x="191743" y="22798"/>
                </a:cubicBezTo>
                <a:cubicBezTo>
                  <a:pt x="170263" y="22798"/>
                  <a:pt x="152849" y="40212"/>
                  <a:pt x="152849" y="61692"/>
                </a:cubicBezTo>
                <a:cubicBezTo>
                  <a:pt x="152849" y="83173"/>
                  <a:pt x="170263" y="100586"/>
                  <a:pt x="191743" y="100586"/>
                </a:cubicBezTo>
                <a:close/>
                <a:moveTo>
                  <a:pt x="61334" y="243580"/>
                </a:moveTo>
                <a:cubicBezTo>
                  <a:pt x="82815" y="243580"/>
                  <a:pt x="100228" y="226166"/>
                  <a:pt x="100228" y="204686"/>
                </a:cubicBezTo>
                <a:cubicBezTo>
                  <a:pt x="100228" y="183206"/>
                  <a:pt x="82815" y="165792"/>
                  <a:pt x="61334" y="165792"/>
                </a:cubicBezTo>
                <a:cubicBezTo>
                  <a:pt x="39854" y="165792"/>
                  <a:pt x="22440" y="183206"/>
                  <a:pt x="22440" y="204686"/>
                </a:cubicBezTo>
                <a:cubicBezTo>
                  <a:pt x="22440" y="226166"/>
                  <a:pt x="39854" y="243580"/>
                  <a:pt x="61334" y="243580"/>
                </a:cubicBezTo>
                <a:close/>
                <a:moveTo>
                  <a:pt x="271819" y="208119"/>
                </a:moveTo>
                <a:lnTo>
                  <a:pt x="210046" y="96012"/>
                </a:lnTo>
                <a:moveTo>
                  <a:pt x="0" y="0"/>
                </a:moveTo>
                <a:moveTo>
                  <a:pt x="100228" y="216126"/>
                </a:moveTo>
                <a:lnTo>
                  <a:pt x="210046" y="250445"/>
                </a:lnTo>
              </a:path>
            </a:pathLst>
          </a:custGeom>
          <a:noFill/>
          <a:ln w="25345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Group 28"/>
          <p:cNvGrpSpPr/>
          <p:nvPr/>
        </p:nvGrpSpPr>
        <p:grpSpPr>
          <a:xfrm>
            <a:off x="1061337" y="3980280"/>
            <a:ext cx="2976267" cy="383151"/>
            <a:chOff x="1061337" y="3980280"/>
            <a:chExt cx="2976267" cy="383151"/>
          </a:xfrm>
        </p:grpSpPr>
        <p:sp>
          <p:nvSpPr>
            <p:cNvPr id="27" name="TextBox 26"/>
            <p:cNvSpPr txBox="1"/>
            <p:nvPr/>
          </p:nvSpPr>
          <p:spPr>
            <a:xfrm>
              <a:off x="614897" y="3980280"/>
              <a:ext cx="3422707" cy="1915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0">
                  <a:solidFill>
                    <a:srgbClr val="E7ECEB"/>
                  </a:solidFill>
                  <a:latin typeface="Montserrat"/>
                </a:rPr>
                <a:t>In-context learning and conversation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14897" y="4171827"/>
              <a:ext cx="3422707" cy="1916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r"/>
              <a:r>
                <a:rPr sz="1200" b="0">
                  <a:solidFill>
                    <a:srgbClr val="E7ECEB"/>
                  </a:solidFill>
                  <a:latin typeface="Montserrat"/>
                </a:rPr>
                <a:t>history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05533" y="1716680"/>
            <a:ext cx="645718" cy="645718"/>
          </a:xfrm>
          <a:custGeom>
            <a:avLst/>
            <a:gdLst/>
            <a:ahLst/>
            <a:cxnLst/>
            <a:rect l="0" t="0" r="0" b="0"/>
            <a:pathLst>
              <a:path w="645718" h="645718">
                <a:moveTo>
                  <a:pt x="310901" y="77725"/>
                </a:moveTo>
                <a:cubicBezTo>
                  <a:pt x="310901" y="84329"/>
                  <a:pt x="316255" y="89683"/>
                  <a:pt x="322859" y="89683"/>
                </a:cubicBezTo>
                <a:cubicBezTo>
                  <a:pt x="329463" y="89683"/>
                  <a:pt x="334817" y="84329"/>
                  <a:pt x="334817" y="77725"/>
                </a:cubicBezTo>
                <a:cubicBezTo>
                  <a:pt x="334817" y="71121"/>
                  <a:pt x="329463" y="65767"/>
                  <a:pt x="322859" y="65767"/>
                </a:cubicBezTo>
                <a:cubicBezTo>
                  <a:pt x="316255" y="65767"/>
                  <a:pt x="310901" y="71121"/>
                  <a:pt x="310901" y="77725"/>
                </a:cubicBezTo>
                <a:moveTo>
                  <a:pt x="310901" y="567993"/>
                </a:moveTo>
                <a:cubicBezTo>
                  <a:pt x="310901" y="574597"/>
                  <a:pt x="316255" y="579951"/>
                  <a:pt x="322859" y="579951"/>
                </a:cubicBezTo>
                <a:cubicBezTo>
                  <a:pt x="329463" y="579951"/>
                  <a:pt x="334817" y="574597"/>
                  <a:pt x="334817" y="567993"/>
                </a:cubicBezTo>
                <a:cubicBezTo>
                  <a:pt x="334817" y="561389"/>
                  <a:pt x="329463" y="556035"/>
                  <a:pt x="322859" y="556035"/>
                </a:cubicBezTo>
                <a:cubicBezTo>
                  <a:pt x="316255" y="556035"/>
                  <a:pt x="310901" y="561389"/>
                  <a:pt x="310901" y="567993"/>
                </a:cubicBezTo>
                <a:moveTo>
                  <a:pt x="645718" y="322859"/>
                </a:moveTo>
                <a:cubicBezTo>
                  <a:pt x="645718" y="501169"/>
                  <a:pt x="501170" y="645718"/>
                  <a:pt x="322859" y="645718"/>
                </a:cubicBezTo>
                <a:cubicBezTo>
                  <a:pt x="144548" y="645718"/>
                  <a:pt x="0" y="501169"/>
                  <a:pt x="0" y="322859"/>
                </a:cubicBezTo>
                <a:cubicBezTo>
                  <a:pt x="0" y="144548"/>
                  <a:pt x="144548" y="0"/>
                  <a:pt x="322859" y="0"/>
                </a:cubicBezTo>
                <a:cubicBezTo>
                  <a:pt x="501170" y="0"/>
                  <a:pt x="645718" y="144548"/>
                  <a:pt x="645718" y="322859"/>
                </a:cubicBezTo>
                <a:close/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92520" y="2368379"/>
            <a:ext cx="71746" cy="95662"/>
          </a:xfrm>
          <a:custGeom>
            <a:avLst/>
            <a:gdLst/>
            <a:ahLst/>
            <a:cxnLst/>
            <a:rect l="0" t="0" r="0" b="0"/>
            <a:pathLst>
              <a:path w="71746" h="95662">
                <a:moveTo>
                  <a:pt x="0" y="0"/>
                </a:moveTo>
                <a:lnTo>
                  <a:pt x="0" y="95662"/>
                </a:lnTo>
                <a:moveTo>
                  <a:pt x="71746" y="0"/>
                </a:moveTo>
                <a:lnTo>
                  <a:pt x="71746" y="95662"/>
                </a:lnTo>
              </a:path>
            </a:pathLst>
          </a:custGeom>
          <a:noFill/>
          <a:ln w="8964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826167" y="2470019"/>
            <a:ext cx="1004451" cy="861074"/>
          </a:xfrm>
          <a:custGeom>
            <a:avLst/>
            <a:gdLst/>
            <a:ahLst/>
            <a:cxnLst/>
            <a:rect l="0" t="0" r="0" b="0"/>
            <a:pathLst>
              <a:path w="1004451" h="861074">
                <a:moveTo>
                  <a:pt x="0" y="35873"/>
                </a:moveTo>
                <a:cubicBezTo>
                  <a:pt x="0" y="16061"/>
                  <a:pt x="16061" y="0"/>
                  <a:pt x="35873" y="0"/>
                </a:cubicBezTo>
                <a:lnTo>
                  <a:pt x="968578" y="0"/>
                </a:lnTo>
                <a:cubicBezTo>
                  <a:pt x="988390" y="0"/>
                  <a:pt x="1004451" y="16061"/>
                  <a:pt x="1004451" y="35873"/>
                </a:cubicBezTo>
                <a:moveTo>
                  <a:pt x="0" y="35873"/>
                </a:moveTo>
                <a:lnTo>
                  <a:pt x="0" y="825201"/>
                </a:lnTo>
                <a:moveTo>
                  <a:pt x="1004451" y="35873"/>
                </a:moveTo>
                <a:lnTo>
                  <a:pt x="1004451" y="825201"/>
                </a:lnTo>
                <a:moveTo>
                  <a:pt x="1004451" y="825201"/>
                </a:moveTo>
                <a:cubicBezTo>
                  <a:pt x="1004451" y="845013"/>
                  <a:pt x="988390" y="861074"/>
                  <a:pt x="968578" y="861074"/>
                </a:cubicBezTo>
                <a:lnTo>
                  <a:pt x="35873" y="861074"/>
                </a:lnTo>
                <a:cubicBezTo>
                  <a:pt x="16061" y="861074"/>
                  <a:pt x="0" y="845013"/>
                  <a:pt x="0" y="825201"/>
                </a:cubicBezTo>
                <a:moveTo>
                  <a:pt x="490268" y="35873"/>
                </a:moveTo>
                <a:cubicBezTo>
                  <a:pt x="490268" y="42477"/>
                  <a:pt x="495621" y="47831"/>
                  <a:pt x="502225" y="47831"/>
                </a:cubicBezTo>
                <a:cubicBezTo>
                  <a:pt x="508829" y="47831"/>
                  <a:pt x="514183" y="42477"/>
                  <a:pt x="514183" y="35873"/>
                </a:cubicBezTo>
                <a:cubicBezTo>
                  <a:pt x="514183" y="29269"/>
                  <a:pt x="508829" y="23915"/>
                  <a:pt x="502225" y="23915"/>
                </a:cubicBezTo>
                <a:cubicBezTo>
                  <a:pt x="495621" y="23915"/>
                  <a:pt x="490268" y="29269"/>
                  <a:pt x="490268" y="35873"/>
                </a:cubicBezTo>
                <a:moveTo>
                  <a:pt x="490268" y="825201"/>
                </a:moveTo>
                <a:cubicBezTo>
                  <a:pt x="490268" y="831805"/>
                  <a:pt x="495621" y="837159"/>
                  <a:pt x="502225" y="837159"/>
                </a:cubicBezTo>
                <a:cubicBezTo>
                  <a:pt x="508829" y="837159"/>
                  <a:pt x="514183" y="831805"/>
                  <a:pt x="514183" y="825201"/>
                </a:cubicBezTo>
                <a:cubicBezTo>
                  <a:pt x="514183" y="818597"/>
                  <a:pt x="508829" y="813243"/>
                  <a:pt x="502225" y="813243"/>
                </a:cubicBezTo>
                <a:cubicBezTo>
                  <a:pt x="495621" y="813243"/>
                  <a:pt x="490268" y="818597"/>
                  <a:pt x="490268" y="825201"/>
                </a:cubicBezTo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91912" y="3337115"/>
            <a:ext cx="71746" cy="1141966"/>
          </a:xfrm>
          <a:custGeom>
            <a:avLst/>
            <a:gdLst/>
            <a:ahLst/>
            <a:cxnLst/>
            <a:rect l="0" t="0" r="0" b="0"/>
            <a:pathLst>
              <a:path w="71746" h="1141966">
                <a:moveTo>
                  <a:pt x="0" y="0"/>
                </a:moveTo>
                <a:lnTo>
                  <a:pt x="0" y="1141966"/>
                </a:lnTo>
                <a:moveTo>
                  <a:pt x="71746" y="0"/>
                </a:moveTo>
                <a:lnTo>
                  <a:pt x="71746" y="1141966"/>
                </a:lnTo>
              </a:path>
            </a:pathLst>
          </a:custGeom>
          <a:noFill/>
          <a:ln w="8964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44051" y="4485058"/>
            <a:ext cx="368310" cy="143493"/>
          </a:xfrm>
          <a:custGeom>
            <a:avLst/>
            <a:gdLst/>
            <a:ahLst/>
            <a:cxnLst/>
            <a:rect l="0" t="0" r="0" b="0"/>
            <a:pathLst>
              <a:path w="368310" h="143493">
                <a:moveTo>
                  <a:pt x="339359" y="0"/>
                </a:moveTo>
                <a:lnTo>
                  <a:pt x="29325" y="0"/>
                </a:lnTo>
                <a:cubicBezTo>
                  <a:pt x="11774" y="0"/>
                  <a:pt x="0" y="17720"/>
                  <a:pt x="7051" y="33523"/>
                </a:cubicBezTo>
                <a:lnTo>
                  <a:pt x="56121" y="143493"/>
                </a:lnTo>
                <a:lnTo>
                  <a:pt x="317214" y="143493"/>
                </a:lnTo>
                <a:lnTo>
                  <a:pt x="361965" y="32745"/>
                </a:lnTo>
                <a:cubicBezTo>
                  <a:pt x="368310" y="17043"/>
                  <a:pt x="356543" y="0"/>
                  <a:pt x="339359" y="0"/>
                </a:cubicBezTo>
                <a:close/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10927" y="4488982"/>
            <a:ext cx="3925134" cy="139616"/>
          </a:xfrm>
          <a:custGeom>
            <a:avLst/>
            <a:gdLst/>
            <a:ahLst/>
            <a:cxnLst/>
            <a:rect l="0" t="0" r="0" b="0"/>
            <a:pathLst>
              <a:path w="3925134" h="139616">
                <a:moveTo>
                  <a:pt x="0" y="139616"/>
                </a:moveTo>
                <a:lnTo>
                  <a:pt x="123080" y="139616"/>
                </a:lnTo>
                <a:cubicBezTo>
                  <a:pt x="123080" y="139616"/>
                  <a:pt x="144179" y="128295"/>
                  <a:pt x="144179" y="101881"/>
                </a:cubicBezTo>
                <a:cubicBezTo>
                  <a:pt x="161762" y="120748"/>
                  <a:pt x="168795" y="139616"/>
                  <a:pt x="168795" y="139616"/>
                </a:cubicBezTo>
                <a:cubicBezTo>
                  <a:pt x="168795" y="139616"/>
                  <a:pt x="154729" y="41507"/>
                  <a:pt x="189895" y="0"/>
                </a:cubicBezTo>
                <a:cubicBezTo>
                  <a:pt x="182862" y="83014"/>
                  <a:pt x="218028" y="139616"/>
                  <a:pt x="218028" y="139616"/>
                </a:cubicBezTo>
                <a:cubicBezTo>
                  <a:pt x="218028" y="139616"/>
                  <a:pt x="218028" y="113202"/>
                  <a:pt x="232094" y="90562"/>
                </a:cubicBezTo>
                <a:cubicBezTo>
                  <a:pt x="239127" y="132069"/>
                  <a:pt x="253193" y="139616"/>
                  <a:pt x="253193" y="139616"/>
                </a:cubicBezTo>
                <a:lnTo>
                  <a:pt x="281326" y="139616"/>
                </a:lnTo>
                <a:cubicBezTo>
                  <a:pt x="281326" y="139616"/>
                  <a:pt x="309459" y="105655"/>
                  <a:pt x="302426" y="18866"/>
                </a:cubicBezTo>
                <a:cubicBezTo>
                  <a:pt x="330558" y="56601"/>
                  <a:pt x="323525" y="139616"/>
                  <a:pt x="323525" y="139616"/>
                </a:cubicBezTo>
                <a:cubicBezTo>
                  <a:pt x="323525" y="139616"/>
                  <a:pt x="323525" y="128295"/>
                  <a:pt x="344624" y="113202"/>
                </a:cubicBezTo>
                <a:cubicBezTo>
                  <a:pt x="344624" y="135842"/>
                  <a:pt x="365724" y="139616"/>
                  <a:pt x="365724" y="139616"/>
                </a:cubicBezTo>
                <a:lnTo>
                  <a:pt x="1321546" y="139616"/>
                </a:lnTo>
                <a:cubicBezTo>
                  <a:pt x="1321546" y="139616"/>
                  <a:pt x="1332096" y="124522"/>
                  <a:pt x="1325063" y="101881"/>
                </a:cubicBezTo>
                <a:cubicBezTo>
                  <a:pt x="1349679" y="113202"/>
                  <a:pt x="1349679" y="139616"/>
                  <a:pt x="1349679" y="139616"/>
                </a:cubicBezTo>
                <a:cubicBezTo>
                  <a:pt x="1349679" y="139616"/>
                  <a:pt x="1367262" y="44337"/>
                  <a:pt x="1388362" y="29243"/>
                </a:cubicBezTo>
                <a:cubicBezTo>
                  <a:pt x="1377812" y="66977"/>
                  <a:pt x="1388362" y="139616"/>
                  <a:pt x="1388362" y="139616"/>
                </a:cubicBezTo>
                <a:lnTo>
                  <a:pt x="1444627" y="139616"/>
                </a:lnTo>
                <a:cubicBezTo>
                  <a:pt x="1444627" y="139616"/>
                  <a:pt x="1469243" y="113202"/>
                  <a:pt x="1458694" y="86788"/>
                </a:cubicBezTo>
                <a:cubicBezTo>
                  <a:pt x="1486826" y="101881"/>
                  <a:pt x="1476276" y="139616"/>
                  <a:pt x="1476276" y="139616"/>
                </a:cubicBezTo>
                <a:lnTo>
                  <a:pt x="2554451" y="139616"/>
                </a:lnTo>
                <a:cubicBezTo>
                  <a:pt x="2554451" y="139616"/>
                  <a:pt x="2594595" y="90562"/>
                  <a:pt x="2565001" y="3773"/>
                </a:cubicBezTo>
                <a:cubicBezTo>
                  <a:pt x="2621266" y="60374"/>
                  <a:pt x="2600167" y="139616"/>
                  <a:pt x="2600167" y="139616"/>
                </a:cubicBezTo>
                <a:cubicBezTo>
                  <a:pt x="2600167" y="139616"/>
                  <a:pt x="2610716" y="101881"/>
                  <a:pt x="2631816" y="79241"/>
                </a:cubicBezTo>
                <a:cubicBezTo>
                  <a:pt x="2624783" y="109429"/>
                  <a:pt x="2649399" y="139616"/>
                  <a:pt x="2659948" y="139616"/>
                </a:cubicBezTo>
                <a:cubicBezTo>
                  <a:pt x="2670498" y="139616"/>
                  <a:pt x="2681048" y="120748"/>
                  <a:pt x="2681048" y="90562"/>
                </a:cubicBezTo>
                <a:cubicBezTo>
                  <a:pt x="2709181" y="109429"/>
                  <a:pt x="2698631" y="139616"/>
                  <a:pt x="2698631" y="139616"/>
                </a:cubicBezTo>
                <a:lnTo>
                  <a:pt x="3504975" y="139616"/>
                </a:lnTo>
                <a:cubicBezTo>
                  <a:pt x="3504975" y="139616"/>
                  <a:pt x="3515525" y="105655"/>
                  <a:pt x="3536624" y="90562"/>
                </a:cubicBezTo>
                <a:cubicBezTo>
                  <a:pt x="3529591" y="124522"/>
                  <a:pt x="3543657" y="139616"/>
                  <a:pt x="3543657" y="139616"/>
                </a:cubicBezTo>
                <a:lnTo>
                  <a:pt x="3606956" y="139616"/>
                </a:lnTo>
                <a:cubicBezTo>
                  <a:pt x="3606956" y="139616"/>
                  <a:pt x="3632163" y="64147"/>
                  <a:pt x="3603439" y="11320"/>
                </a:cubicBezTo>
                <a:cubicBezTo>
                  <a:pt x="3649154" y="56601"/>
                  <a:pt x="3645639" y="139616"/>
                  <a:pt x="3645639" y="139616"/>
                </a:cubicBezTo>
                <a:cubicBezTo>
                  <a:pt x="3645639" y="139616"/>
                  <a:pt x="3649154" y="116975"/>
                  <a:pt x="3673771" y="94335"/>
                </a:cubicBezTo>
                <a:cubicBezTo>
                  <a:pt x="3666738" y="124522"/>
                  <a:pt x="3677288" y="139616"/>
                  <a:pt x="3677288" y="139616"/>
                </a:cubicBezTo>
                <a:cubicBezTo>
                  <a:pt x="3677288" y="139616"/>
                  <a:pt x="3705420" y="120749"/>
                  <a:pt x="3708936" y="52827"/>
                </a:cubicBezTo>
                <a:cubicBezTo>
                  <a:pt x="3733552" y="105655"/>
                  <a:pt x="3715970" y="139616"/>
                  <a:pt x="3715970" y="139616"/>
                </a:cubicBezTo>
                <a:cubicBezTo>
                  <a:pt x="3715970" y="139616"/>
                  <a:pt x="3730036" y="124522"/>
                  <a:pt x="3744103" y="116975"/>
                </a:cubicBezTo>
                <a:cubicBezTo>
                  <a:pt x="3740586" y="135842"/>
                  <a:pt x="3744103" y="139616"/>
                  <a:pt x="3744103" y="139616"/>
                </a:cubicBezTo>
                <a:lnTo>
                  <a:pt x="3925134" y="139616"/>
                </a:lnTo>
              </a:path>
            </a:pathLst>
          </a:custGeom>
          <a:noFill/>
          <a:ln w="8964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85013" y="2064639"/>
            <a:ext cx="573972" cy="573972"/>
          </a:xfrm>
          <a:custGeom>
            <a:avLst/>
            <a:gdLst/>
            <a:ahLst/>
            <a:cxnLst/>
            <a:rect l="0" t="0" r="0" b="0"/>
            <a:pathLst>
              <a:path w="573972" h="573972">
                <a:moveTo>
                  <a:pt x="0" y="35873"/>
                </a:moveTo>
                <a:cubicBezTo>
                  <a:pt x="0" y="16061"/>
                  <a:pt x="16061" y="0"/>
                  <a:pt x="35873" y="0"/>
                </a:cubicBezTo>
                <a:lnTo>
                  <a:pt x="538099" y="0"/>
                </a:lnTo>
                <a:cubicBezTo>
                  <a:pt x="557911" y="0"/>
                  <a:pt x="573972" y="16061"/>
                  <a:pt x="573972" y="35873"/>
                </a:cubicBezTo>
                <a:lnTo>
                  <a:pt x="573972" y="538099"/>
                </a:lnTo>
                <a:cubicBezTo>
                  <a:pt x="573972" y="557911"/>
                  <a:pt x="557911" y="573972"/>
                  <a:pt x="538099" y="573972"/>
                </a:cubicBezTo>
                <a:lnTo>
                  <a:pt x="35873" y="573972"/>
                </a:lnTo>
                <a:cubicBezTo>
                  <a:pt x="16061" y="573972"/>
                  <a:pt x="0" y="557911"/>
                  <a:pt x="0" y="538099"/>
                </a:cubicBezTo>
                <a:lnTo>
                  <a:pt x="0" y="35873"/>
                </a:lnTo>
                <a:close/>
                <a:moveTo>
                  <a:pt x="275028" y="41852"/>
                </a:moveTo>
                <a:cubicBezTo>
                  <a:pt x="275028" y="48456"/>
                  <a:pt x="280382" y="53809"/>
                  <a:pt x="286986" y="53809"/>
                </a:cubicBezTo>
                <a:cubicBezTo>
                  <a:pt x="293590" y="53809"/>
                  <a:pt x="298943" y="48456"/>
                  <a:pt x="298943" y="41852"/>
                </a:cubicBezTo>
                <a:cubicBezTo>
                  <a:pt x="298943" y="35248"/>
                  <a:pt x="293590" y="29894"/>
                  <a:pt x="286986" y="29894"/>
                </a:cubicBezTo>
                <a:cubicBezTo>
                  <a:pt x="280382" y="29894"/>
                  <a:pt x="275028" y="35248"/>
                  <a:pt x="275028" y="41852"/>
                </a:cubicBezTo>
                <a:moveTo>
                  <a:pt x="275028" y="532120"/>
                </a:moveTo>
                <a:cubicBezTo>
                  <a:pt x="275028" y="538724"/>
                  <a:pt x="280382" y="544077"/>
                  <a:pt x="286986" y="544077"/>
                </a:cubicBezTo>
                <a:cubicBezTo>
                  <a:pt x="293590" y="544077"/>
                  <a:pt x="298943" y="538724"/>
                  <a:pt x="298943" y="532120"/>
                </a:cubicBezTo>
                <a:cubicBezTo>
                  <a:pt x="298943" y="525516"/>
                  <a:pt x="293590" y="520162"/>
                  <a:pt x="286986" y="520162"/>
                </a:cubicBezTo>
                <a:cubicBezTo>
                  <a:pt x="280382" y="520162"/>
                  <a:pt x="275028" y="525516"/>
                  <a:pt x="275028" y="532120"/>
                </a:cubicBezTo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35518" y="2644589"/>
            <a:ext cx="71746" cy="275028"/>
          </a:xfrm>
          <a:custGeom>
            <a:avLst/>
            <a:gdLst/>
            <a:ahLst/>
            <a:cxnLst/>
            <a:rect l="0" t="0" r="0" b="0"/>
            <a:pathLst>
              <a:path w="71746" h="275028">
                <a:moveTo>
                  <a:pt x="0" y="0"/>
                </a:moveTo>
                <a:lnTo>
                  <a:pt x="0" y="275028"/>
                </a:lnTo>
                <a:moveTo>
                  <a:pt x="71746" y="0"/>
                </a:moveTo>
                <a:lnTo>
                  <a:pt x="71746" y="275028"/>
                </a:lnTo>
              </a:path>
            </a:pathLst>
          </a:custGeom>
          <a:noFill/>
          <a:ln w="8964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069773" y="2925595"/>
            <a:ext cx="1004451" cy="401800"/>
          </a:xfrm>
          <a:custGeom>
            <a:avLst/>
            <a:gdLst/>
            <a:ahLst/>
            <a:cxnLst/>
            <a:rect l="0" t="0" r="0" b="0"/>
            <a:pathLst>
              <a:path w="1004451" h="401800">
                <a:moveTo>
                  <a:pt x="0" y="35873"/>
                </a:moveTo>
                <a:cubicBezTo>
                  <a:pt x="0" y="16061"/>
                  <a:pt x="16061" y="0"/>
                  <a:pt x="35873" y="0"/>
                </a:cubicBezTo>
                <a:lnTo>
                  <a:pt x="968578" y="0"/>
                </a:lnTo>
                <a:cubicBezTo>
                  <a:pt x="988390" y="0"/>
                  <a:pt x="1004451" y="16061"/>
                  <a:pt x="1004451" y="35873"/>
                </a:cubicBezTo>
                <a:moveTo>
                  <a:pt x="0" y="35873"/>
                </a:moveTo>
                <a:lnTo>
                  <a:pt x="0" y="365927"/>
                </a:lnTo>
                <a:moveTo>
                  <a:pt x="1004451" y="35873"/>
                </a:moveTo>
                <a:lnTo>
                  <a:pt x="1004451" y="365927"/>
                </a:lnTo>
                <a:moveTo>
                  <a:pt x="1004451" y="365927"/>
                </a:moveTo>
                <a:cubicBezTo>
                  <a:pt x="1004451" y="385739"/>
                  <a:pt x="988390" y="401800"/>
                  <a:pt x="968578" y="401800"/>
                </a:cubicBezTo>
                <a:lnTo>
                  <a:pt x="35873" y="401800"/>
                </a:lnTo>
                <a:cubicBezTo>
                  <a:pt x="16061" y="401800"/>
                  <a:pt x="0" y="385739"/>
                  <a:pt x="0" y="365927"/>
                </a:cubicBezTo>
                <a:moveTo>
                  <a:pt x="490268" y="35873"/>
                </a:moveTo>
                <a:cubicBezTo>
                  <a:pt x="490268" y="42477"/>
                  <a:pt x="495621" y="47831"/>
                  <a:pt x="502225" y="47831"/>
                </a:cubicBezTo>
                <a:cubicBezTo>
                  <a:pt x="508829" y="47831"/>
                  <a:pt x="514183" y="42477"/>
                  <a:pt x="514183" y="35873"/>
                </a:cubicBezTo>
                <a:cubicBezTo>
                  <a:pt x="514183" y="29269"/>
                  <a:pt x="508829" y="23915"/>
                  <a:pt x="502225" y="23915"/>
                </a:cubicBezTo>
                <a:cubicBezTo>
                  <a:pt x="495621" y="23915"/>
                  <a:pt x="490268" y="29269"/>
                  <a:pt x="490268" y="35873"/>
                </a:cubicBezTo>
                <a:moveTo>
                  <a:pt x="490268" y="365927"/>
                </a:moveTo>
                <a:cubicBezTo>
                  <a:pt x="490268" y="372531"/>
                  <a:pt x="495621" y="377885"/>
                  <a:pt x="502225" y="377885"/>
                </a:cubicBezTo>
                <a:cubicBezTo>
                  <a:pt x="508829" y="377885"/>
                  <a:pt x="514183" y="372531"/>
                  <a:pt x="514183" y="365927"/>
                </a:cubicBezTo>
                <a:cubicBezTo>
                  <a:pt x="514183" y="359323"/>
                  <a:pt x="508829" y="353969"/>
                  <a:pt x="502225" y="353969"/>
                </a:cubicBezTo>
                <a:cubicBezTo>
                  <a:pt x="495621" y="353969"/>
                  <a:pt x="490268" y="359323"/>
                  <a:pt x="490268" y="365927"/>
                </a:cubicBezTo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35518" y="3333424"/>
            <a:ext cx="71746" cy="59788"/>
          </a:xfrm>
          <a:custGeom>
            <a:avLst/>
            <a:gdLst/>
            <a:ahLst/>
            <a:cxnLst/>
            <a:rect l="0" t="0" r="0" b="0"/>
            <a:pathLst>
              <a:path w="71746" h="59788">
                <a:moveTo>
                  <a:pt x="0" y="0"/>
                </a:moveTo>
                <a:lnTo>
                  <a:pt x="0" y="59788"/>
                </a:lnTo>
                <a:moveTo>
                  <a:pt x="71746" y="0"/>
                </a:moveTo>
                <a:lnTo>
                  <a:pt x="71746" y="59788"/>
                </a:lnTo>
              </a:path>
            </a:pathLst>
          </a:custGeom>
          <a:noFill/>
          <a:ln w="8964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069774" y="3399192"/>
            <a:ext cx="1004451" cy="434168"/>
          </a:xfrm>
          <a:custGeom>
            <a:avLst/>
            <a:gdLst/>
            <a:ahLst/>
            <a:cxnLst/>
            <a:rect l="0" t="0" r="0" b="0"/>
            <a:pathLst>
              <a:path w="1004451" h="434168">
                <a:moveTo>
                  <a:pt x="0" y="35873"/>
                </a:moveTo>
                <a:cubicBezTo>
                  <a:pt x="0" y="16061"/>
                  <a:pt x="16061" y="0"/>
                  <a:pt x="35873" y="0"/>
                </a:cubicBezTo>
                <a:lnTo>
                  <a:pt x="968578" y="0"/>
                </a:lnTo>
                <a:cubicBezTo>
                  <a:pt x="988390" y="0"/>
                  <a:pt x="1004451" y="16061"/>
                  <a:pt x="1004451" y="35873"/>
                </a:cubicBezTo>
                <a:moveTo>
                  <a:pt x="0" y="35873"/>
                </a:moveTo>
                <a:lnTo>
                  <a:pt x="0" y="398294"/>
                </a:lnTo>
                <a:moveTo>
                  <a:pt x="1004451" y="35873"/>
                </a:moveTo>
                <a:lnTo>
                  <a:pt x="1004451" y="398294"/>
                </a:lnTo>
                <a:moveTo>
                  <a:pt x="1004451" y="398294"/>
                </a:moveTo>
                <a:cubicBezTo>
                  <a:pt x="1004451" y="418107"/>
                  <a:pt x="988390" y="434168"/>
                  <a:pt x="968578" y="434168"/>
                </a:cubicBezTo>
                <a:lnTo>
                  <a:pt x="35873" y="434168"/>
                </a:lnTo>
                <a:cubicBezTo>
                  <a:pt x="16061" y="434168"/>
                  <a:pt x="0" y="418107"/>
                  <a:pt x="0" y="398294"/>
                </a:cubicBezTo>
                <a:moveTo>
                  <a:pt x="490268" y="35873"/>
                </a:moveTo>
                <a:cubicBezTo>
                  <a:pt x="490268" y="42477"/>
                  <a:pt x="495621" y="47831"/>
                  <a:pt x="502225" y="47831"/>
                </a:cubicBezTo>
                <a:cubicBezTo>
                  <a:pt x="508829" y="47831"/>
                  <a:pt x="514183" y="42477"/>
                  <a:pt x="514183" y="35873"/>
                </a:cubicBezTo>
                <a:cubicBezTo>
                  <a:pt x="514183" y="29269"/>
                  <a:pt x="508829" y="23915"/>
                  <a:pt x="502225" y="23915"/>
                </a:cubicBezTo>
                <a:cubicBezTo>
                  <a:pt x="495621" y="23915"/>
                  <a:pt x="490268" y="29269"/>
                  <a:pt x="490268" y="35873"/>
                </a:cubicBezTo>
                <a:moveTo>
                  <a:pt x="490268" y="398295"/>
                </a:moveTo>
                <a:cubicBezTo>
                  <a:pt x="490268" y="404899"/>
                  <a:pt x="495621" y="410252"/>
                  <a:pt x="502225" y="410252"/>
                </a:cubicBezTo>
                <a:cubicBezTo>
                  <a:pt x="508829" y="410252"/>
                  <a:pt x="514183" y="404899"/>
                  <a:pt x="514183" y="398295"/>
                </a:cubicBezTo>
                <a:cubicBezTo>
                  <a:pt x="514183" y="391690"/>
                  <a:pt x="508829" y="386337"/>
                  <a:pt x="502225" y="386337"/>
                </a:cubicBezTo>
                <a:cubicBezTo>
                  <a:pt x="495621" y="386337"/>
                  <a:pt x="490268" y="391690"/>
                  <a:pt x="490268" y="398295"/>
                </a:cubicBezTo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35518" y="3839340"/>
            <a:ext cx="71746" cy="639740"/>
          </a:xfrm>
          <a:custGeom>
            <a:avLst/>
            <a:gdLst/>
            <a:ahLst/>
            <a:cxnLst/>
            <a:rect l="0" t="0" r="0" b="0"/>
            <a:pathLst>
              <a:path w="71746" h="639740">
                <a:moveTo>
                  <a:pt x="0" y="0"/>
                </a:moveTo>
                <a:lnTo>
                  <a:pt x="0" y="639740"/>
                </a:lnTo>
                <a:moveTo>
                  <a:pt x="71746" y="0"/>
                </a:moveTo>
                <a:lnTo>
                  <a:pt x="71746" y="639740"/>
                </a:lnTo>
              </a:path>
            </a:pathLst>
          </a:custGeom>
          <a:noFill/>
          <a:ln w="8964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7658" y="4485058"/>
            <a:ext cx="368310" cy="143493"/>
          </a:xfrm>
          <a:custGeom>
            <a:avLst/>
            <a:gdLst/>
            <a:ahLst/>
            <a:cxnLst/>
            <a:rect l="0" t="0" r="0" b="0"/>
            <a:pathLst>
              <a:path w="368310" h="143493">
                <a:moveTo>
                  <a:pt x="339359" y="0"/>
                </a:moveTo>
                <a:lnTo>
                  <a:pt x="29325" y="0"/>
                </a:lnTo>
                <a:cubicBezTo>
                  <a:pt x="11774" y="0"/>
                  <a:pt x="0" y="17720"/>
                  <a:pt x="7051" y="33523"/>
                </a:cubicBezTo>
                <a:lnTo>
                  <a:pt x="56121" y="143493"/>
                </a:lnTo>
                <a:lnTo>
                  <a:pt x="317214" y="143493"/>
                </a:lnTo>
                <a:lnTo>
                  <a:pt x="361965" y="32745"/>
                </a:lnTo>
                <a:cubicBezTo>
                  <a:pt x="368310" y="17043"/>
                  <a:pt x="356543" y="0"/>
                  <a:pt x="339359" y="0"/>
                </a:cubicBezTo>
                <a:close/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03648" y="3217485"/>
            <a:ext cx="23915" cy="23915"/>
          </a:xfrm>
          <a:custGeom>
            <a:avLst/>
            <a:gdLst/>
            <a:ahLst/>
            <a:cxnLst/>
            <a:rect l="0" t="0" r="0" b="0"/>
            <a:pathLst>
              <a:path w="23915" h="23915">
                <a:moveTo>
                  <a:pt x="0" y="11957"/>
                </a:moveTo>
                <a:cubicBezTo>
                  <a:pt x="0" y="18561"/>
                  <a:pt x="5353" y="23915"/>
                  <a:pt x="11957" y="23915"/>
                </a:cubicBezTo>
                <a:cubicBezTo>
                  <a:pt x="18561" y="23915"/>
                  <a:pt x="23915" y="18561"/>
                  <a:pt x="23915" y="11957"/>
                </a:cubicBezTo>
                <a:cubicBezTo>
                  <a:pt x="23915" y="5353"/>
                  <a:pt x="18561" y="0"/>
                  <a:pt x="11957" y="0"/>
                </a:cubicBezTo>
                <a:cubicBezTo>
                  <a:pt x="5353" y="0"/>
                  <a:pt x="0" y="5353"/>
                  <a:pt x="0" y="11957"/>
                </a:cubicBezTo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48009" y="2003773"/>
            <a:ext cx="735194" cy="645718"/>
          </a:xfrm>
          <a:custGeom>
            <a:avLst/>
            <a:gdLst/>
            <a:ahLst/>
            <a:cxnLst/>
            <a:rect l="0" t="0" r="0" b="0"/>
            <a:pathLst>
              <a:path w="735194" h="645718">
                <a:moveTo>
                  <a:pt x="336468" y="23915"/>
                </a:moveTo>
                <a:cubicBezTo>
                  <a:pt x="350146" y="0"/>
                  <a:pt x="384341" y="0"/>
                  <a:pt x="398019" y="23915"/>
                </a:cubicBezTo>
                <a:lnTo>
                  <a:pt x="721515" y="591908"/>
                </a:lnTo>
                <a:cubicBezTo>
                  <a:pt x="735194" y="615824"/>
                  <a:pt x="718096" y="645718"/>
                  <a:pt x="690739" y="645718"/>
                </a:cubicBezTo>
                <a:lnTo>
                  <a:pt x="44453" y="645718"/>
                </a:lnTo>
                <a:cubicBezTo>
                  <a:pt x="17097" y="645718"/>
                  <a:pt x="0" y="615824"/>
                  <a:pt x="13678" y="591908"/>
                </a:cubicBezTo>
                <a:lnTo>
                  <a:pt x="336468" y="23915"/>
                </a:lnTo>
                <a:close/>
                <a:moveTo>
                  <a:pt x="355639" y="113598"/>
                </a:moveTo>
                <a:cubicBezTo>
                  <a:pt x="355639" y="120202"/>
                  <a:pt x="360992" y="125556"/>
                  <a:pt x="367597" y="125556"/>
                </a:cubicBezTo>
                <a:cubicBezTo>
                  <a:pt x="374201" y="125556"/>
                  <a:pt x="379554" y="120202"/>
                  <a:pt x="379554" y="113598"/>
                </a:cubicBezTo>
                <a:cubicBezTo>
                  <a:pt x="379554" y="106994"/>
                  <a:pt x="374201" y="101640"/>
                  <a:pt x="367597" y="101640"/>
                </a:cubicBezTo>
                <a:cubicBezTo>
                  <a:pt x="360992" y="101640"/>
                  <a:pt x="355639" y="106994"/>
                  <a:pt x="355639" y="113598"/>
                </a:cubicBezTo>
                <a:moveTo>
                  <a:pt x="355639" y="603866"/>
                </a:moveTo>
                <a:cubicBezTo>
                  <a:pt x="355639" y="610470"/>
                  <a:pt x="360992" y="615824"/>
                  <a:pt x="367597" y="615824"/>
                </a:cubicBezTo>
                <a:cubicBezTo>
                  <a:pt x="374201" y="615824"/>
                  <a:pt x="379554" y="610470"/>
                  <a:pt x="379554" y="603866"/>
                </a:cubicBezTo>
                <a:cubicBezTo>
                  <a:pt x="379554" y="597262"/>
                  <a:pt x="374201" y="591908"/>
                  <a:pt x="367597" y="591908"/>
                </a:cubicBezTo>
                <a:cubicBezTo>
                  <a:pt x="360992" y="591908"/>
                  <a:pt x="355639" y="597262"/>
                  <a:pt x="355639" y="603866"/>
                </a:cubicBezTo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79125" y="2655470"/>
            <a:ext cx="71746" cy="131535"/>
          </a:xfrm>
          <a:custGeom>
            <a:avLst/>
            <a:gdLst/>
            <a:ahLst/>
            <a:cxnLst/>
            <a:rect l="0" t="0" r="0" b="0"/>
            <a:pathLst>
              <a:path w="71746" h="131535">
                <a:moveTo>
                  <a:pt x="0" y="0"/>
                </a:moveTo>
                <a:lnTo>
                  <a:pt x="0" y="131535"/>
                </a:lnTo>
                <a:moveTo>
                  <a:pt x="71746" y="0"/>
                </a:moveTo>
                <a:lnTo>
                  <a:pt x="71746" y="131535"/>
                </a:lnTo>
              </a:path>
            </a:pathLst>
          </a:custGeom>
          <a:noFill/>
          <a:ln w="8964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13380" y="2792985"/>
            <a:ext cx="1004451" cy="538150"/>
          </a:xfrm>
          <a:custGeom>
            <a:avLst/>
            <a:gdLst/>
            <a:ahLst/>
            <a:cxnLst/>
            <a:rect l="0" t="0" r="0" b="0"/>
            <a:pathLst>
              <a:path w="1004451" h="538150">
                <a:moveTo>
                  <a:pt x="0" y="35873"/>
                </a:moveTo>
                <a:cubicBezTo>
                  <a:pt x="0" y="16061"/>
                  <a:pt x="16061" y="0"/>
                  <a:pt x="35873" y="0"/>
                </a:cubicBezTo>
                <a:lnTo>
                  <a:pt x="968578" y="0"/>
                </a:lnTo>
                <a:cubicBezTo>
                  <a:pt x="988390" y="0"/>
                  <a:pt x="1004451" y="16061"/>
                  <a:pt x="1004451" y="35873"/>
                </a:cubicBezTo>
                <a:moveTo>
                  <a:pt x="0" y="35873"/>
                </a:moveTo>
                <a:lnTo>
                  <a:pt x="0" y="502276"/>
                </a:lnTo>
                <a:moveTo>
                  <a:pt x="1004451" y="35873"/>
                </a:moveTo>
                <a:lnTo>
                  <a:pt x="1004451" y="502276"/>
                </a:lnTo>
                <a:moveTo>
                  <a:pt x="1004451" y="502276"/>
                </a:moveTo>
                <a:cubicBezTo>
                  <a:pt x="1004451" y="522088"/>
                  <a:pt x="988390" y="538150"/>
                  <a:pt x="968578" y="538150"/>
                </a:cubicBezTo>
                <a:lnTo>
                  <a:pt x="35873" y="538150"/>
                </a:lnTo>
                <a:cubicBezTo>
                  <a:pt x="16061" y="538150"/>
                  <a:pt x="0" y="522088"/>
                  <a:pt x="0" y="502276"/>
                </a:cubicBezTo>
                <a:moveTo>
                  <a:pt x="490268" y="35873"/>
                </a:moveTo>
                <a:cubicBezTo>
                  <a:pt x="490268" y="42477"/>
                  <a:pt x="495621" y="47831"/>
                  <a:pt x="502225" y="47831"/>
                </a:cubicBezTo>
                <a:cubicBezTo>
                  <a:pt x="508829" y="47831"/>
                  <a:pt x="514183" y="42477"/>
                  <a:pt x="514183" y="35873"/>
                </a:cubicBezTo>
                <a:cubicBezTo>
                  <a:pt x="514183" y="29269"/>
                  <a:pt x="508829" y="23915"/>
                  <a:pt x="502225" y="23915"/>
                </a:cubicBezTo>
                <a:cubicBezTo>
                  <a:pt x="495621" y="23915"/>
                  <a:pt x="490268" y="29269"/>
                  <a:pt x="490268" y="35873"/>
                </a:cubicBezTo>
                <a:moveTo>
                  <a:pt x="490268" y="502276"/>
                </a:moveTo>
                <a:cubicBezTo>
                  <a:pt x="490268" y="508880"/>
                  <a:pt x="495621" y="514234"/>
                  <a:pt x="502225" y="514234"/>
                </a:cubicBezTo>
                <a:cubicBezTo>
                  <a:pt x="508829" y="514234"/>
                  <a:pt x="514183" y="508880"/>
                  <a:pt x="514183" y="502276"/>
                </a:cubicBezTo>
                <a:cubicBezTo>
                  <a:pt x="514183" y="495672"/>
                  <a:pt x="508829" y="490318"/>
                  <a:pt x="502225" y="490318"/>
                </a:cubicBezTo>
                <a:cubicBezTo>
                  <a:pt x="495621" y="490318"/>
                  <a:pt x="490268" y="495672"/>
                  <a:pt x="490268" y="502276"/>
                </a:cubicBezTo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79125" y="3337115"/>
            <a:ext cx="71746" cy="1141966"/>
          </a:xfrm>
          <a:custGeom>
            <a:avLst/>
            <a:gdLst/>
            <a:ahLst/>
            <a:cxnLst/>
            <a:rect l="0" t="0" r="0" b="0"/>
            <a:pathLst>
              <a:path w="71746" h="1141966">
                <a:moveTo>
                  <a:pt x="0" y="0"/>
                </a:moveTo>
                <a:lnTo>
                  <a:pt x="0" y="1141966"/>
                </a:lnTo>
                <a:moveTo>
                  <a:pt x="71746" y="0"/>
                </a:moveTo>
                <a:lnTo>
                  <a:pt x="71746" y="1141966"/>
                </a:lnTo>
              </a:path>
            </a:pathLst>
          </a:custGeom>
          <a:noFill/>
          <a:ln w="8964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31265" y="4485058"/>
            <a:ext cx="368310" cy="143493"/>
          </a:xfrm>
          <a:custGeom>
            <a:avLst/>
            <a:gdLst/>
            <a:ahLst/>
            <a:cxnLst/>
            <a:rect l="0" t="0" r="0" b="0"/>
            <a:pathLst>
              <a:path w="368310" h="143493">
                <a:moveTo>
                  <a:pt x="339359" y="0"/>
                </a:moveTo>
                <a:lnTo>
                  <a:pt x="29325" y="0"/>
                </a:lnTo>
                <a:cubicBezTo>
                  <a:pt x="11774" y="0"/>
                  <a:pt x="0" y="17720"/>
                  <a:pt x="7051" y="33523"/>
                </a:cubicBezTo>
                <a:lnTo>
                  <a:pt x="56121" y="143493"/>
                </a:lnTo>
                <a:lnTo>
                  <a:pt x="317214" y="143493"/>
                </a:lnTo>
                <a:lnTo>
                  <a:pt x="361965" y="32745"/>
                </a:lnTo>
                <a:cubicBezTo>
                  <a:pt x="368310" y="17043"/>
                  <a:pt x="356543" y="0"/>
                  <a:pt x="339359" y="0"/>
                </a:cubicBezTo>
                <a:close/>
              </a:path>
            </a:pathLst>
          </a:custGeom>
          <a:noFill/>
          <a:ln w="8964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Group 22"/>
          <p:cNvGrpSpPr/>
          <p:nvPr/>
        </p:nvGrpSpPr>
        <p:grpSpPr>
          <a:xfrm>
            <a:off x="5441750" y="3065635"/>
            <a:ext cx="747712" cy="193747"/>
            <a:chOff x="5441750" y="3065635"/>
            <a:chExt cx="747712" cy="193747"/>
          </a:xfrm>
        </p:grpSpPr>
        <p:sp>
          <p:nvSpPr>
            <p:cNvPr id="21" name="TextBox 20"/>
            <p:cNvSpPr txBox="1"/>
            <p:nvPr/>
          </p:nvSpPr>
          <p:spPr>
            <a:xfrm>
              <a:off x="5385672" y="3065635"/>
              <a:ext cx="859868" cy="968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Ensuring security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85672" y="3162504"/>
              <a:ext cx="859868" cy="968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and isolation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345946" y="371474"/>
            <a:ext cx="6452098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7BDEC4"/>
                </a:solidFill>
                <a:latin typeface="Montserrat"/>
              </a:rPr>
              <a:t>Tool Use and Function Calling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4292126" y="2997361"/>
            <a:ext cx="559746" cy="258326"/>
            <a:chOff x="4292126" y="2997361"/>
            <a:chExt cx="559746" cy="258326"/>
          </a:xfrm>
        </p:grpSpPr>
        <p:sp>
          <p:nvSpPr>
            <p:cNvPr id="25" name="TextBox 24"/>
            <p:cNvSpPr txBox="1"/>
            <p:nvPr/>
          </p:nvSpPr>
          <p:spPr>
            <a:xfrm>
              <a:off x="4250146" y="2997361"/>
              <a:ext cx="643707" cy="129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7BDEC4"/>
                  </a:solidFill>
                  <a:latin typeface="Montserrat"/>
                </a:rPr>
                <a:t>Code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250146" y="3126520"/>
              <a:ext cx="643707" cy="12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7BDEC4"/>
                  </a:solidFill>
                  <a:latin typeface="Montserrat"/>
                </a:rPr>
                <a:t>Execution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983559" y="2871871"/>
            <a:ext cx="689667" cy="387514"/>
            <a:chOff x="2983559" y="2871871"/>
            <a:chExt cx="689667" cy="387514"/>
          </a:xfrm>
        </p:grpSpPr>
        <p:sp>
          <p:nvSpPr>
            <p:cNvPr id="28" name="TextBox 27"/>
            <p:cNvSpPr txBox="1"/>
            <p:nvPr/>
          </p:nvSpPr>
          <p:spPr>
            <a:xfrm>
              <a:off x="2931834" y="2871871"/>
              <a:ext cx="793117" cy="968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Selecting,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931834" y="2968740"/>
              <a:ext cx="793117" cy="968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parameterizing,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931834" y="3065609"/>
              <a:ext cx="793117" cy="968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formatting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931834" y="3162478"/>
              <a:ext cx="793117" cy="969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requests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427176" y="2864734"/>
            <a:ext cx="776861" cy="1291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7BDEC4"/>
                </a:solidFill>
                <a:latin typeface="Montserrat"/>
              </a:rPr>
              <a:t>Sandboxing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4306566" y="3470963"/>
            <a:ext cx="530866" cy="290635"/>
            <a:chOff x="4306566" y="3470963"/>
            <a:chExt cx="530866" cy="290635"/>
          </a:xfrm>
        </p:grpSpPr>
        <p:sp>
          <p:nvSpPr>
            <p:cNvPr id="34" name="TextBox 33"/>
            <p:cNvSpPr txBox="1"/>
            <p:nvPr/>
          </p:nvSpPr>
          <p:spPr>
            <a:xfrm>
              <a:off x="4266752" y="3470963"/>
              <a:ext cx="610495" cy="969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Writing and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266752" y="3567927"/>
              <a:ext cx="610495" cy="968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running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66752" y="3664796"/>
              <a:ext cx="610495" cy="96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E7ECEB"/>
                  </a:solidFill>
                  <a:latin typeface="Montserrat"/>
                </a:rPr>
                <a:t>Python/SQL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3012277" y="2541784"/>
            <a:ext cx="632221" cy="258326"/>
            <a:chOff x="3012277" y="2541784"/>
            <a:chExt cx="632221" cy="258326"/>
          </a:xfrm>
        </p:grpSpPr>
        <p:sp>
          <p:nvSpPr>
            <p:cNvPr id="38" name="TextBox 37"/>
            <p:cNvSpPr txBox="1"/>
            <p:nvPr/>
          </p:nvSpPr>
          <p:spPr>
            <a:xfrm>
              <a:off x="2964861" y="2541784"/>
              <a:ext cx="727054" cy="129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7BDEC4"/>
                  </a:solidFill>
                  <a:latin typeface="Montserrat"/>
                </a:rPr>
                <a:t>API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964861" y="2670943"/>
              <a:ext cx="727054" cy="1291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1">
                  <a:solidFill>
                    <a:srgbClr val="7BDEC4"/>
                  </a:solidFill>
                  <a:latin typeface="Montserrat"/>
                </a:rPr>
                <a:t>Integration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37427" y="960120"/>
            <a:ext cx="806914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00" b="1">
                <a:solidFill>
                  <a:srgbClr val="E7ECEB"/>
                </a:solidFill>
                <a:latin typeface="Montserrat"/>
              </a:rPr>
              <a:t>Bridging the gap between static models and dynamic execution environments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90050" y="2260491"/>
            <a:ext cx="251112" cy="276226"/>
          </a:xfrm>
          <a:custGeom>
            <a:avLst/>
            <a:gdLst/>
            <a:ahLst/>
            <a:cxnLst/>
            <a:rect l="0" t="0" r="0" b="0"/>
            <a:pathLst>
              <a:path w="251112" h="276226">
                <a:moveTo>
                  <a:pt x="167408" y="203654"/>
                </a:moveTo>
                <a:lnTo>
                  <a:pt x="83704" y="203654"/>
                </a:lnTo>
                <a:moveTo>
                  <a:pt x="125556" y="167781"/>
                </a:moveTo>
                <a:lnTo>
                  <a:pt x="125556" y="203654"/>
                </a:lnTo>
                <a:moveTo>
                  <a:pt x="59788" y="60161"/>
                </a:moveTo>
                <a:lnTo>
                  <a:pt x="191324" y="60161"/>
                </a:lnTo>
                <a:cubicBezTo>
                  <a:pt x="191324" y="60161"/>
                  <a:pt x="203281" y="60161"/>
                  <a:pt x="203281" y="72119"/>
                </a:cubicBezTo>
                <a:lnTo>
                  <a:pt x="203281" y="155823"/>
                </a:lnTo>
                <a:cubicBezTo>
                  <a:pt x="203281" y="155823"/>
                  <a:pt x="203281" y="167781"/>
                  <a:pt x="191324" y="167781"/>
                </a:cubicBezTo>
                <a:lnTo>
                  <a:pt x="59788" y="167781"/>
                </a:lnTo>
                <a:cubicBezTo>
                  <a:pt x="59788" y="167781"/>
                  <a:pt x="47831" y="167781"/>
                  <a:pt x="47831" y="155823"/>
                </a:cubicBezTo>
                <a:lnTo>
                  <a:pt x="47831" y="72119"/>
                </a:lnTo>
                <a:cubicBezTo>
                  <a:pt x="47831" y="72119"/>
                  <a:pt x="47831" y="60161"/>
                  <a:pt x="59788" y="60161"/>
                </a:cubicBezTo>
                <a:moveTo>
                  <a:pt x="0" y="39534"/>
                </a:moveTo>
                <a:lnTo>
                  <a:pt x="0" y="130856"/>
                </a:lnTo>
                <a:cubicBezTo>
                  <a:pt x="719" y="192667"/>
                  <a:pt x="39978" y="247445"/>
                  <a:pt x="98280" y="267987"/>
                </a:cubicBezTo>
                <a:lnTo>
                  <a:pt x="111685" y="272938"/>
                </a:lnTo>
                <a:cubicBezTo>
                  <a:pt x="120640" y="276226"/>
                  <a:pt x="130472" y="276226"/>
                  <a:pt x="139427" y="272938"/>
                </a:cubicBezTo>
                <a:lnTo>
                  <a:pt x="152832" y="267987"/>
                </a:lnTo>
                <a:cubicBezTo>
                  <a:pt x="211134" y="247445"/>
                  <a:pt x="250393" y="192667"/>
                  <a:pt x="251112" y="130856"/>
                </a:cubicBezTo>
                <a:lnTo>
                  <a:pt x="251112" y="39534"/>
                </a:lnTo>
                <a:cubicBezTo>
                  <a:pt x="251088" y="32201"/>
                  <a:pt x="246695" y="25587"/>
                  <a:pt x="239944" y="22722"/>
                </a:cubicBezTo>
                <a:cubicBezTo>
                  <a:pt x="203721" y="7603"/>
                  <a:pt x="164805" y="0"/>
                  <a:pt x="125556" y="373"/>
                </a:cubicBezTo>
                <a:cubicBezTo>
                  <a:pt x="86307" y="0"/>
                  <a:pt x="47391" y="7603"/>
                  <a:pt x="11168" y="22722"/>
                </a:cubicBezTo>
                <a:cubicBezTo>
                  <a:pt x="4417" y="25587"/>
                  <a:pt x="24" y="32201"/>
                  <a:pt x="0" y="39534"/>
                </a:cubicBezTo>
                <a:close/>
              </a:path>
            </a:pathLst>
          </a:custGeom>
          <a:noFill/>
          <a:ln w="8964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428507" y="2208130"/>
            <a:ext cx="278616" cy="273384"/>
          </a:xfrm>
          <a:custGeom>
            <a:avLst/>
            <a:gdLst/>
            <a:ahLst/>
            <a:cxnLst/>
            <a:rect l="0" t="0" r="0" b="0"/>
            <a:pathLst>
              <a:path w="278616" h="273384">
                <a:moveTo>
                  <a:pt x="0" y="0"/>
                </a:moveTo>
                <a:moveTo>
                  <a:pt x="142066" y="158141"/>
                </a:moveTo>
                <a:lnTo>
                  <a:pt x="124129" y="176077"/>
                </a:lnTo>
                <a:lnTo>
                  <a:pt x="142066" y="194014"/>
                </a:lnTo>
                <a:moveTo>
                  <a:pt x="0" y="0"/>
                </a:moveTo>
                <a:moveTo>
                  <a:pt x="229358" y="194014"/>
                </a:moveTo>
                <a:lnTo>
                  <a:pt x="247294" y="176077"/>
                </a:lnTo>
                <a:lnTo>
                  <a:pt x="229358" y="158141"/>
                </a:lnTo>
                <a:moveTo>
                  <a:pt x="0" y="0"/>
                </a:moveTo>
                <a:moveTo>
                  <a:pt x="171960" y="194014"/>
                </a:moveTo>
                <a:lnTo>
                  <a:pt x="195876" y="146183"/>
                </a:lnTo>
                <a:moveTo>
                  <a:pt x="0" y="0"/>
                </a:moveTo>
                <a:moveTo>
                  <a:pt x="82278" y="19431"/>
                </a:moveTo>
                <a:lnTo>
                  <a:pt x="87061" y="33780"/>
                </a:lnTo>
                <a:cubicBezTo>
                  <a:pt x="88257" y="38563"/>
                  <a:pt x="94235" y="42151"/>
                  <a:pt x="99019" y="40955"/>
                </a:cubicBezTo>
                <a:lnTo>
                  <a:pt x="113368" y="37367"/>
                </a:lnTo>
                <a:cubicBezTo>
                  <a:pt x="126521" y="34976"/>
                  <a:pt x="134891" y="49325"/>
                  <a:pt x="126521" y="58892"/>
                </a:cubicBezTo>
                <a:lnTo>
                  <a:pt x="115759" y="69654"/>
                </a:lnTo>
                <a:cubicBezTo>
                  <a:pt x="112172" y="73241"/>
                  <a:pt x="112172" y="79220"/>
                  <a:pt x="115759" y="82807"/>
                </a:cubicBezTo>
                <a:lnTo>
                  <a:pt x="126521" y="93569"/>
                </a:lnTo>
                <a:cubicBezTo>
                  <a:pt x="134891" y="103135"/>
                  <a:pt x="126521" y="118680"/>
                  <a:pt x="113368" y="115093"/>
                </a:cubicBezTo>
                <a:lnTo>
                  <a:pt x="99019" y="111506"/>
                </a:lnTo>
                <a:cubicBezTo>
                  <a:pt x="94235" y="110310"/>
                  <a:pt x="88257" y="112701"/>
                  <a:pt x="87061" y="118680"/>
                </a:cubicBezTo>
                <a:lnTo>
                  <a:pt x="82278" y="133030"/>
                </a:lnTo>
                <a:cubicBezTo>
                  <a:pt x="78690" y="146183"/>
                  <a:pt x="60754" y="146183"/>
                  <a:pt x="57166" y="133030"/>
                </a:cubicBezTo>
                <a:lnTo>
                  <a:pt x="52383" y="118680"/>
                </a:lnTo>
                <a:cubicBezTo>
                  <a:pt x="51188" y="113897"/>
                  <a:pt x="45209" y="110310"/>
                  <a:pt x="40426" y="111506"/>
                </a:cubicBezTo>
                <a:lnTo>
                  <a:pt x="26076" y="115093"/>
                </a:lnTo>
                <a:cubicBezTo>
                  <a:pt x="12923" y="117484"/>
                  <a:pt x="4552" y="103135"/>
                  <a:pt x="12923" y="93569"/>
                </a:cubicBezTo>
                <a:lnTo>
                  <a:pt x="23685" y="82807"/>
                </a:lnTo>
                <a:cubicBezTo>
                  <a:pt x="27272" y="79220"/>
                  <a:pt x="27272" y="73241"/>
                  <a:pt x="23685" y="69654"/>
                </a:cubicBezTo>
                <a:lnTo>
                  <a:pt x="12923" y="58892"/>
                </a:lnTo>
                <a:cubicBezTo>
                  <a:pt x="4552" y="49325"/>
                  <a:pt x="12923" y="33780"/>
                  <a:pt x="26076" y="37367"/>
                </a:cubicBezTo>
                <a:lnTo>
                  <a:pt x="40426" y="40955"/>
                </a:lnTo>
                <a:cubicBezTo>
                  <a:pt x="45209" y="42151"/>
                  <a:pt x="51188" y="39759"/>
                  <a:pt x="52383" y="33780"/>
                </a:cubicBezTo>
                <a:lnTo>
                  <a:pt x="57166" y="19431"/>
                </a:lnTo>
                <a:cubicBezTo>
                  <a:pt x="60754" y="6277"/>
                  <a:pt x="78690" y="6277"/>
                  <a:pt x="82278" y="19431"/>
                </a:cubicBezTo>
                <a:close/>
                <a:moveTo>
                  <a:pt x="0" y="0"/>
                </a:moveTo>
                <a:moveTo>
                  <a:pt x="120175" y="225314"/>
                </a:moveTo>
                <a:lnTo>
                  <a:pt x="108218" y="273384"/>
                </a:lnTo>
                <a:moveTo>
                  <a:pt x="0" y="0"/>
                </a:moveTo>
                <a:moveTo>
                  <a:pt x="168006" y="225314"/>
                </a:moveTo>
                <a:lnTo>
                  <a:pt x="179964" y="273384"/>
                </a:lnTo>
                <a:moveTo>
                  <a:pt x="72345" y="273384"/>
                </a:moveTo>
                <a:lnTo>
                  <a:pt x="215837" y="273384"/>
                </a:lnTo>
                <a:moveTo>
                  <a:pt x="172640" y="33033"/>
                </a:moveTo>
                <a:lnTo>
                  <a:pt x="254701" y="33033"/>
                </a:lnTo>
                <a:cubicBezTo>
                  <a:pt x="267854" y="33033"/>
                  <a:pt x="278616" y="43849"/>
                  <a:pt x="278616" y="57068"/>
                </a:cubicBezTo>
                <a:lnTo>
                  <a:pt x="278616" y="201278"/>
                </a:lnTo>
                <a:cubicBezTo>
                  <a:pt x="278616" y="214498"/>
                  <a:pt x="267854" y="225314"/>
                  <a:pt x="254701" y="225314"/>
                </a:cubicBezTo>
                <a:lnTo>
                  <a:pt x="33482" y="225314"/>
                </a:lnTo>
                <a:cubicBezTo>
                  <a:pt x="20328" y="225314"/>
                  <a:pt x="9566" y="214498"/>
                  <a:pt x="9566" y="201278"/>
                </a:cubicBezTo>
                <a:lnTo>
                  <a:pt x="9566" y="162177"/>
                </a:lnTo>
                <a:moveTo>
                  <a:pt x="51789" y="76230"/>
                </a:moveTo>
                <a:cubicBezTo>
                  <a:pt x="51789" y="86136"/>
                  <a:pt x="59819" y="94167"/>
                  <a:pt x="69725" y="94167"/>
                </a:cubicBezTo>
                <a:cubicBezTo>
                  <a:pt x="79631" y="94167"/>
                  <a:pt x="87662" y="86136"/>
                  <a:pt x="87662" y="76230"/>
                </a:cubicBezTo>
                <a:cubicBezTo>
                  <a:pt x="87662" y="66324"/>
                  <a:pt x="79631" y="58294"/>
                  <a:pt x="69725" y="58294"/>
                </a:cubicBezTo>
                <a:cubicBezTo>
                  <a:pt x="59819" y="58294"/>
                  <a:pt x="51789" y="66324"/>
                  <a:pt x="51789" y="76230"/>
                </a:cubicBezTo>
              </a:path>
            </a:pathLst>
          </a:custGeom>
          <a:noFill/>
          <a:ln w="8964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184900" y="1896047"/>
            <a:ext cx="278017" cy="266060"/>
          </a:xfrm>
          <a:custGeom>
            <a:avLst/>
            <a:gdLst/>
            <a:ahLst/>
            <a:cxnLst/>
            <a:rect l="0" t="0" r="0" b="0"/>
            <a:pathLst>
              <a:path w="278017" h="266060">
                <a:moveTo>
                  <a:pt x="0" y="0"/>
                </a:moveTo>
                <a:moveTo>
                  <a:pt x="74735" y="260081"/>
                </a:moveTo>
                <a:lnTo>
                  <a:pt x="8968" y="212250"/>
                </a:lnTo>
                <a:lnTo>
                  <a:pt x="8968" y="74735"/>
                </a:lnTo>
                <a:lnTo>
                  <a:pt x="74735" y="20926"/>
                </a:lnTo>
                <a:close/>
                <a:moveTo>
                  <a:pt x="0" y="0"/>
                </a:moveTo>
                <a:moveTo>
                  <a:pt x="212250" y="266060"/>
                </a:moveTo>
                <a:lnTo>
                  <a:pt x="278017" y="212250"/>
                </a:lnTo>
                <a:lnTo>
                  <a:pt x="278017" y="80714"/>
                </a:lnTo>
                <a:lnTo>
                  <a:pt x="212250" y="20926"/>
                </a:lnTo>
                <a:close/>
                <a:moveTo>
                  <a:pt x="74735" y="74735"/>
                </a:moveTo>
                <a:lnTo>
                  <a:pt x="96259" y="74735"/>
                </a:lnTo>
                <a:moveTo>
                  <a:pt x="74735" y="212250"/>
                </a:moveTo>
                <a:lnTo>
                  <a:pt x="96259" y="212250"/>
                </a:lnTo>
                <a:moveTo>
                  <a:pt x="132133" y="74735"/>
                </a:moveTo>
                <a:lnTo>
                  <a:pt x="156048" y="74735"/>
                </a:lnTo>
                <a:moveTo>
                  <a:pt x="132133" y="212250"/>
                </a:moveTo>
                <a:lnTo>
                  <a:pt x="156048" y="212250"/>
                </a:lnTo>
                <a:moveTo>
                  <a:pt x="191921" y="74735"/>
                </a:moveTo>
                <a:lnTo>
                  <a:pt x="212250" y="74735"/>
                </a:lnTo>
                <a:moveTo>
                  <a:pt x="191921" y="212250"/>
                </a:moveTo>
                <a:lnTo>
                  <a:pt x="212250" y="212250"/>
                </a:lnTo>
                <a:moveTo>
                  <a:pt x="0" y="0"/>
                </a:moveTo>
                <a:moveTo>
                  <a:pt x="132133" y="176376"/>
                </a:moveTo>
                <a:lnTo>
                  <a:pt x="102239" y="152461"/>
                </a:lnTo>
                <a:lnTo>
                  <a:pt x="132133" y="128545"/>
                </a:lnTo>
                <a:moveTo>
                  <a:pt x="0" y="0"/>
                </a:moveTo>
                <a:moveTo>
                  <a:pt x="162027" y="176376"/>
                </a:moveTo>
                <a:lnTo>
                  <a:pt x="179964" y="110609"/>
                </a:lnTo>
              </a:path>
            </a:pathLst>
          </a:custGeom>
          <a:noFill/>
          <a:ln w="8964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066168" y="1621898"/>
            <a:ext cx="1514970" cy="1145710"/>
            <a:chOff x="2066168" y="1621898"/>
            <a:chExt cx="1514970" cy="1145710"/>
          </a:xfrm>
        </p:grpSpPr>
        <p:sp>
          <p:nvSpPr>
            <p:cNvPr id="2" name="Rounded Rectangle 1"/>
            <p:cNvSpPr/>
            <p:nvPr/>
          </p:nvSpPr>
          <p:spPr>
            <a:xfrm>
              <a:off x="3328643" y="2351857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52495" y="269550"/>
                  </a:move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3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  <a:moveTo>
                    <a:pt x="252495" y="22529"/>
                  </a:moveTo>
                  <a:cubicBezTo>
                    <a:pt x="252495" y="8680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3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  <a:moveTo>
                    <a:pt x="252495" y="22529"/>
                  </a:move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3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2066168" y="2063290"/>
              <a:ext cx="252495" cy="415752"/>
            </a:xfrm>
            <a:custGeom>
              <a:avLst/>
              <a:gdLst/>
              <a:ahLst/>
              <a:cxnLst/>
              <a:rect l="0" t="0" r="0" b="0"/>
              <a:pathLst>
                <a:path w="252495" h="415752">
                  <a:moveTo>
                    <a:pt x="252495" y="146202"/>
                  </a:moveTo>
                  <a:cubicBezTo>
                    <a:pt x="252495" y="139729"/>
                    <a:pt x="249027" y="133754"/>
                    <a:pt x="243408" y="130542"/>
                  </a:cubicBezTo>
                  <a:lnTo>
                    <a:pt x="26983" y="6869"/>
                  </a:lnTo>
                  <a:cubicBezTo>
                    <a:pt x="14960" y="0"/>
                    <a:pt x="0" y="8680"/>
                    <a:pt x="0" y="22529"/>
                  </a:cubicBez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1" y="408881"/>
                  </a:lnTo>
                  <a:cubicBezTo>
                    <a:pt x="237534" y="415752"/>
                    <a:pt x="252495" y="407071"/>
                    <a:pt x="252495" y="393223"/>
                  </a:cubicBezTo>
                  <a:lnTo>
                    <a:pt x="252495" y="146202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2318663" y="1910465"/>
              <a:ext cx="252495" cy="424300"/>
            </a:xfrm>
            <a:custGeom>
              <a:avLst/>
              <a:gdLst/>
              <a:ahLst/>
              <a:cxnLst/>
              <a:rect l="0" t="0" r="0" b="0"/>
              <a:pathLst>
                <a:path w="252495" h="424300">
                  <a:moveTo>
                    <a:pt x="0" y="0"/>
                  </a:moveTo>
                  <a:lnTo>
                    <a:pt x="252495" y="144282"/>
                  </a:lnTo>
                  <a:lnTo>
                    <a:pt x="252495" y="401770"/>
                  </a:lnTo>
                  <a:cubicBezTo>
                    <a:pt x="252495" y="415618"/>
                    <a:pt x="237534" y="424300"/>
                    <a:pt x="225512" y="417429"/>
                  </a:cubicBezTo>
                  <a:lnTo>
                    <a:pt x="9086" y="293758"/>
                  </a:lnTo>
                  <a:cubicBezTo>
                    <a:pt x="3467" y="290547"/>
                    <a:pt x="0" y="284571"/>
                    <a:pt x="0" y="278099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573529" y="1911995"/>
              <a:ext cx="502618" cy="286458"/>
            </a:xfrm>
            <a:custGeom>
              <a:avLst/>
              <a:gdLst/>
              <a:ahLst/>
              <a:cxnLst/>
              <a:rect l="0" t="0" r="0" b="0"/>
              <a:pathLst>
                <a:path w="502618" h="286458">
                  <a:moveTo>
                    <a:pt x="258798" y="3173"/>
                  </a:moveTo>
                  <a:lnTo>
                    <a:pt x="502618" y="142652"/>
                  </a:lnTo>
                  <a:lnTo>
                    <a:pt x="250252" y="286458"/>
                  </a:lnTo>
                  <a:lnTo>
                    <a:pt x="0" y="143706"/>
                  </a:lnTo>
                  <a:cubicBezTo>
                    <a:pt x="1571" y="140952"/>
                    <a:pt x="3867" y="138613"/>
                    <a:pt x="6716" y="136986"/>
                  </a:cubicBezTo>
                  <a:lnTo>
                    <a:pt x="240894" y="3169"/>
                  </a:lnTo>
                  <a:cubicBezTo>
                    <a:pt x="246442" y="0"/>
                    <a:pt x="253252" y="0"/>
                    <a:pt x="258798" y="3173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571015" y="1621898"/>
              <a:ext cx="505128" cy="288723"/>
            </a:xfrm>
            <a:custGeom>
              <a:avLst/>
              <a:gdLst/>
              <a:ahLst/>
              <a:cxnLst/>
              <a:rect l="0" t="0" r="0" b="0"/>
              <a:pathLst>
                <a:path w="505128" h="288723">
                  <a:moveTo>
                    <a:pt x="137" y="144282"/>
                  </a:moveTo>
                  <a:lnTo>
                    <a:pt x="252632" y="288565"/>
                  </a:lnTo>
                  <a:lnTo>
                    <a:pt x="252357" y="288723"/>
                  </a:lnTo>
                  <a:lnTo>
                    <a:pt x="0" y="144362"/>
                  </a:lnTo>
                  <a:close/>
                  <a:moveTo>
                    <a:pt x="252632" y="288565"/>
                  </a:moveTo>
                  <a:lnTo>
                    <a:pt x="137" y="144282"/>
                  </a:lnTo>
                  <a:lnTo>
                    <a:pt x="0" y="144362"/>
                  </a:lnTo>
                  <a:lnTo>
                    <a:pt x="252357" y="288723"/>
                  </a:lnTo>
                  <a:close/>
                  <a:moveTo>
                    <a:pt x="137" y="144282"/>
                  </a:moveTo>
                  <a:lnTo>
                    <a:pt x="252632" y="288565"/>
                  </a:lnTo>
                  <a:lnTo>
                    <a:pt x="252357" y="288723"/>
                  </a:lnTo>
                  <a:lnTo>
                    <a:pt x="0" y="144362"/>
                  </a:lnTo>
                  <a:close/>
                  <a:moveTo>
                    <a:pt x="252357" y="288723"/>
                  </a:moveTo>
                  <a:lnTo>
                    <a:pt x="0" y="144362"/>
                  </a:lnTo>
                  <a:lnTo>
                    <a:pt x="137" y="144282"/>
                  </a:lnTo>
                  <a:lnTo>
                    <a:pt x="252632" y="288565"/>
                  </a:lnTo>
                  <a:close/>
                  <a:moveTo>
                    <a:pt x="252632" y="0"/>
                  </a:moveTo>
                  <a:lnTo>
                    <a:pt x="505128" y="144282"/>
                  </a:lnTo>
                  <a:lnTo>
                    <a:pt x="252632" y="288565"/>
                  </a:lnTo>
                  <a:lnTo>
                    <a:pt x="137" y="144282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571158" y="1335272"/>
            <a:ext cx="1001746" cy="1729525"/>
            <a:chOff x="2571158" y="1335272"/>
            <a:chExt cx="1001746" cy="1729525"/>
          </a:xfrm>
        </p:grpSpPr>
        <p:sp>
          <p:nvSpPr>
            <p:cNvPr id="8" name="Rounded Rectangle 7"/>
            <p:cNvSpPr/>
            <p:nvPr/>
          </p:nvSpPr>
          <p:spPr>
            <a:xfrm>
              <a:off x="2586442" y="1335272"/>
              <a:ext cx="474415" cy="284676"/>
            </a:xfrm>
            <a:custGeom>
              <a:avLst/>
              <a:gdLst/>
              <a:ahLst/>
              <a:cxnLst/>
              <a:rect l="0" t="0" r="0" b="0"/>
              <a:pathLst>
                <a:path w="474415" h="284676">
                  <a:moveTo>
                    <a:pt x="462300" y="126679"/>
                  </a:moveTo>
                  <a:cubicBezTo>
                    <a:pt x="474415" y="133602"/>
                    <a:pt x="474415" y="151073"/>
                    <a:pt x="462300" y="157997"/>
                  </a:cubicBezTo>
                  <a:lnTo>
                    <a:pt x="246156" y="281507"/>
                  </a:lnTo>
                  <a:cubicBezTo>
                    <a:pt x="240611" y="284676"/>
                    <a:pt x="233804" y="284676"/>
                    <a:pt x="228260" y="281507"/>
                  </a:cubicBezTo>
                  <a:lnTo>
                    <a:pt x="12115" y="157997"/>
                  </a:lnTo>
                  <a:cubicBezTo>
                    <a:pt x="0" y="151073"/>
                    <a:pt x="0" y="133602"/>
                    <a:pt x="12115" y="126679"/>
                  </a:cubicBezTo>
                  <a:lnTo>
                    <a:pt x="228260" y="3168"/>
                  </a:lnTo>
                  <a:cubicBezTo>
                    <a:pt x="233804" y="0"/>
                    <a:pt x="240611" y="0"/>
                    <a:pt x="246156" y="3168"/>
                  </a:cubicBezTo>
                  <a:lnTo>
                    <a:pt x="462300" y="12667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571158" y="2351853"/>
              <a:ext cx="252495" cy="424299"/>
            </a:xfrm>
            <a:custGeom>
              <a:avLst/>
              <a:gdLst/>
              <a:ahLst/>
              <a:cxnLst/>
              <a:rect l="0" t="0" r="0" b="0"/>
              <a:pathLst>
                <a:path w="252495" h="424299">
                  <a:moveTo>
                    <a:pt x="252495" y="135733"/>
                  </a:moveTo>
                  <a:lnTo>
                    <a:pt x="252495" y="424299"/>
                  </a:ln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0"/>
                    <a:pt x="14960" y="0"/>
                    <a:pt x="26982" y="6869"/>
                  </a:cubicBezTo>
                  <a:lnTo>
                    <a:pt x="252495" y="135733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571158" y="2640420"/>
              <a:ext cx="252495" cy="424377"/>
            </a:xfrm>
            <a:custGeom>
              <a:avLst/>
              <a:gdLst/>
              <a:ahLst/>
              <a:cxnLst/>
              <a:rect l="0" t="0" r="0" b="0"/>
              <a:pathLst>
                <a:path w="252495" h="424377">
                  <a:moveTo>
                    <a:pt x="0" y="22529"/>
                  </a:moveTo>
                  <a:cubicBezTo>
                    <a:pt x="0" y="8681"/>
                    <a:pt x="14960" y="0"/>
                    <a:pt x="26982" y="6869"/>
                  </a:cubicBezTo>
                  <a:lnTo>
                    <a:pt x="252495" y="135733"/>
                  </a:lnTo>
                  <a:lnTo>
                    <a:pt x="252495" y="424299"/>
                  </a:lnTo>
                  <a:cubicBezTo>
                    <a:pt x="251104" y="424377"/>
                    <a:pt x="247778" y="423765"/>
                    <a:pt x="245367" y="422569"/>
                  </a:cubicBezTo>
                  <a:cubicBezTo>
                    <a:pt x="244575" y="422176"/>
                    <a:pt x="243840" y="421678"/>
                    <a:pt x="243104" y="421180"/>
                  </a:cubicBezTo>
                  <a:cubicBezTo>
                    <a:pt x="242575" y="420821"/>
                    <a:pt x="242046" y="420463"/>
                    <a:pt x="241496" y="420143"/>
                  </a:cubicBezTo>
                  <a:lnTo>
                    <a:pt x="8983" y="285230"/>
                  </a:lnTo>
                  <a:cubicBezTo>
                    <a:pt x="3422" y="282003"/>
                    <a:pt x="0" y="276059"/>
                    <a:pt x="0" y="269629"/>
                  </a:cubicBezTo>
                  <a:lnTo>
                    <a:pt x="0" y="2252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091432" y="1623839"/>
              <a:ext cx="481472" cy="285573"/>
            </a:xfrm>
            <a:custGeom>
              <a:avLst/>
              <a:gdLst/>
              <a:ahLst/>
              <a:cxnLst/>
              <a:rect l="0" t="0" r="0" b="0"/>
              <a:pathLst>
                <a:path w="481472" h="285573">
                  <a:moveTo>
                    <a:pt x="246156" y="3168"/>
                  </a:moveTo>
                  <a:lnTo>
                    <a:pt x="474947" y="133906"/>
                  </a:lnTo>
                  <a:cubicBezTo>
                    <a:pt x="481472" y="137635"/>
                    <a:pt x="481472" y="147042"/>
                    <a:pt x="474947" y="150770"/>
                  </a:cubicBezTo>
                  <a:lnTo>
                    <a:pt x="242026" y="283868"/>
                  </a:lnTo>
                  <a:cubicBezTo>
                    <a:pt x="239041" y="285573"/>
                    <a:pt x="235374" y="285573"/>
                    <a:pt x="232389" y="283868"/>
                  </a:cubicBezTo>
                  <a:lnTo>
                    <a:pt x="12115" y="157997"/>
                  </a:lnTo>
                  <a:cubicBezTo>
                    <a:pt x="0" y="151073"/>
                    <a:pt x="0" y="133602"/>
                    <a:pt x="12115" y="126679"/>
                  </a:cubicBezTo>
                  <a:lnTo>
                    <a:pt x="228260" y="3168"/>
                  </a:lnTo>
                  <a:cubicBezTo>
                    <a:pt x="233804" y="0"/>
                    <a:pt x="240611" y="0"/>
                    <a:pt x="246156" y="3168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823653" y="1768127"/>
            <a:ext cx="504990" cy="1143761"/>
            <a:chOff x="2823653" y="1768127"/>
            <a:chExt cx="504990" cy="1143761"/>
          </a:xfrm>
        </p:grpSpPr>
        <p:sp>
          <p:nvSpPr>
            <p:cNvPr id="13" name="Rounded Rectangle 12"/>
            <p:cNvSpPr/>
            <p:nvPr/>
          </p:nvSpPr>
          <p:spPr>
            <a:xfrm>
              <a:off x="3076148" y="2496137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52495" y="22529"/>
                  </a:moveTo>
                  <a:cubicBezTo>
                    <a:pt x="252495" y="8680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2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  <a:moveTo>
                    <a:pt x="252495" y="269550"/>
                  </a:move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  <a:moveTo>
                    <a:pt x="252495" y="22529"/>
                  </a:move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823653" y="2351856"/>
              <a:ext cx="252495" cy="424299"/>
            </a:xfrm>
            <a:custGeom>
              <a:avLst/>
              <a:gdLst/>
              <a:ahLst/>
              <a:cxnLst/>
              <a:rect l="0" t="0" r="0" b="0"/>
              <a:pathLst>
                <a:path w="252495" h="424299">
                  <a:moveTo>
                    <a:pt x="252495" y="269550"/>
                  </a:moveTo>
                  <a:cubicBezTo>
                    <a:pt x="252495" y="276022"/>
                    <a:pt x="249027" y="281998"/>
                    <a:pt x="243408" y="285209"/>
                  </a:cubicBezTo>
                  <a:lnTo>
                    <a:pt x="0" y="424299"/>
                  </a:lnTo>
                  <a:lnTo>
                    <a:pt x="0" y="135733"/>
                  </a:ln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lnTo>
                    <a:pt x="252495" y="26955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823785" y="2054646"/>
              <a:ext cx="252366" cy="429637"/>
            </a:xfrm>
            <a:custGeom>
              <a:avLst/>
              <a:gdLst/>
              <a:ahLst/>
              <a:cxnLst/>
              <a:rect l="0" t="0" r="0" b="0"/>
              <a:pathLst>
                <a:path w="252366" h="429637">
                  <a:moveTo>
                    <a:pt x="252366" y="0"/>
                  </a:moveTo>
                  <a:lnTo>
                    <a:pt x="252366" y="277626"/>
                  </a:lnTo>
                  <a:cubicBezTo>
                    <a:pt x="252366" y="284097"/>
                    <a:pt x="248898" y="290074"/>
                    <a:pt x="243279" y="293284"/>
                  </a:cubicBezTo>
                  <a:lnTo>
                    <a:pt x="8819" y="427261"/>
                  </a:lnTo>
                  <a:cubicBezTo>
                    <a:pt x="6086" y="428824"/>
                    <a:pt x="3044" y="429615"/>
                    <a:pt x="0" y="429637"/>
                  </a:cubicBezTo>
                  <a:lnTo>
                    <a:pt x="0" y="143806"/>
                  </a:lnTo>
                  <a:lnTo>
                    <a:pt x="252366" y="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838937" y="1768127"/>
              <a:ext cx="489703" cy="284676"/>
            </a:xfrm>
            <a:custGeom>
              <a:avLst/>
              <a:gdLst/>
              <a:ahLst/>
              <a:cxnLst/>
              <a:rect l="0" t="0" r="0" b="0"/>
              <a:pathLst>
                <a:path w="489703" h="284676">
                  <a:moveTo>
                    <a:pt x="228260" y="281507"/>
                  </a:moveTo>
                  <a:lnTo>
                    <a:pt x="12115" y="157997"/>
                  </a:lnTo>
                  <a:cubicBezTo>
                    <a:pt x="0" y="151073"/>
                    <a:pt x="0" y="133602"/>
                    <a:pt x="12115" y="126679"/>
                  </a:cubicBezTo>
                  <a:lnTo>
                    <a:pt x="228260" y="3168"/>
                  </a:lnTo>
                  <a:cubicBezTo>
                    <a:pt x="233804" y="0"/>
                    <a:pt x="240611" y="0"/>
                    <a:pt x="246156" y="3168"/>
                  </a:cubicBezTo>
                  <a:lnTo>
                    <a:pt x="489703" y="142338"/>
                  </a:lnTo>
                  <a:lnTo>
                    <a:pt x="246156" y="281507"/>
                  </a:lnTo>
                  <a:cubicBezTo>
                    <a:pt x="240611" y="284676"/>
                    <a:pt x="233804" y="284676"/>
                    <a:pt x="228260" y="281507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571158" y="2055695"/>
            <a:ext cx="504990" cy="1009023"/>
            <a:chOff x="2571158" y="2055695"/>
            <a:chExt cx="504990" cy="1009023"/>
          </a:xfrm>
        </p:grpSpPr>
        <p:sp>
          <p:nvSpPr>
            <p:cNvPr id="18" name="Rounded Rectangle 17"/>
            <p:cNvSpPr/>
            <p:nvPr/>
          </p:nvSpPr>
          <p:spPr>
            <a:xfrm>
              <a:off x="2823653" y="2640419"/>
              <a:ext cx="252495" cy="424299"/>
            </a:xfrm>
            <a:custGeom>
              <a:avLst/>
              <a:gdLst/>
              <a:ahLst/>
              <a:cxnLst/>
              <a:rect l="0" t="0" r="0" b="0"/>
              <a:pathLst>
                <a:path w="252495" h="424299">
                  <a:moveTo>
                    <a:pt x="0" y="424299"/>
                  </a:moveTo>
                  <a:lnTo>
                    <a:pt x="0" y="135733"/>
                  </a:lnTo>
                  <a:lnTo>
                    <a:pt x="225512" y="6869"/>
                  </a:lnTo>
                  <a:cubicBezTo>
                    <a:pt x="237534" y="0"/>
                    <a:pt x="252495" y="8681"/>
                    <a:pt x="252495" y="22529"/>
                  </a:cubicBezTo>
                  <a:lnTo>
                    <a:pt x="252495" y="269629"/>
                  </a:lnTo>
                  <a:cubicBezTo>
                    <a:pt x="252495" y="276059"/>
                    <a:pt x="249072" y="282002"/>
                    <a:pt x="243511" y="285230"/>
                  </a:cubicBezTo>
                  <a:lnTo>
                    <a:pt x="9017" y="421293"/>
                  </a:lnTo>
                  <a:cubicBezTo>
                    <a:pt x="6170" y="423244"/>
                    <a:pt x="1820" y="424197"/>
                    <a:pt x="0" y="42429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571158" y="2055695"/>
              <a:ext cx="252623" cy="428606"/>
            </a:xfrm>
            <a:custGeom>
              <a:avLst/>
              <a:gdLst/>
              <a:ahLst/>
              <a:cxnLst/>
              <a:rect l="0" t="0" r="0" b="0"/>
              <a:pathLst>
                <a:path w="252623" h="428606">
                  <a:moveTo>
                    <a:pt x="252623" y="142752"/>
                  </a:moveTo>
                  <a:lnTo>
                    <a:pt x="252623" y="428584"/>
                  </a:lnTo>
                  <a:cubicBezTo>
                    <a:pt x="249493" y="428606"/>
                    <a:pt x="246357" y="427814"/>
                    <a:pt x="243547" y="426207"/>
                  </a:cubicBezTo>
                  <a:lnTo>
                    <a:pt x="9086" y="292231"/>
                  </a:lnTo>
                  <a:cubicBezTo>
                    <a:pt x="3467" y="289020"/>
                    <a:pt x="0" y="283044"/>
                    <a:pt x="0" y="276572"/>
                  </a:cubicBezTo>
                  <a:lnTo>
                    <a:pt x="0" y="8939"/>
                  </a:lnTo>
                  <a:cubicBezTo>
                    <a:pt x="0" y="5748"/>
                    <a:pt x="842" y="2677"/>
                    <a:pt x="2371" y="0"/>
                  </a:cubicBezTo>
                  <a:lnTo>
                    <a:pt x="252623" y="142752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1" name="Rounded Rectangle 20"/>
          <p:cNvSpPr/>
          <p:nvPr/>
        </p:nvSpPr>
        <p:spPr>
          <a:xfrm>
            <a:off x="2838940" y="1479554"/>
            <a:ext cx="474415" cy="284676"/>
          </a:xfrm>
          <a:custGeom>
            <a:avLst/>
            <a:gdLst/>
            <a:ahLst/>
            <a:cxnLst/>
            <a:rect l="0" t="0" r="0" b="0"/>
            <a:pathLst>
              <a:path w="474415" h="284676">
                <a:moveTo>
                  <a:pt x="12115" y="126679"/>
                </a:moveTo>
                <a:cubicBezTo>
                  <a:pt x="0" y="133602"/>
                  <a:pt x="0" y="151073"/>
                  <a:pt x="12115" y="157997"/>
                </a:cubicBezTo>
                <a:lnTo>
                  <a:pt x="228260" y="281507"/>
                </a:lnTo>
                <a:cubicBezTo>
                  <a:pt x="233804" y="284676"/>
                  <a:pt x="240611" y="284676"/>
                  <a:pt x="246156" y="281507"/>
                </a:cubicBezTo>
                <a:lnTo>
                  <a:pt x="462299" y="157997"/>
                </a:lnTo>
                <a:cubicBezTo>
                  <a:pt x="474415" y="151073"/>
                  <a:pt x="474415" y="133602"/>
                  <a:pt x="462299" y="126679"/>
                </a:cubicBezTo>
                <a:lnTo>
                  <a:pt x="246156" y="3168"/>
                </a:lnTo>
                <a:cubicBezTo>
                  <a:pt x="240611" y="0"/>
                  <a:pt x="233804" y="0"/>
                  <a:pt x="228260" y="3168"/>
                </a:cubicBezTo>
                <a:lnTo>
                  <a:pt x="12115" y="126679"/>
                </a:lnTo>
                <a:close/>
              </a:path>
            </a:pathLst>
          </a:custGeom>
          <a:noFill/>
          <a:ln w="1456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333949" y="1479554"/>
            <a:ext cx="474415" cy="284676"/>
          </a:xfrm>
          <a:custGeom>
            <a:avLst/>
            <a:gdLst/>
            <a:ahLst/>
            <a:cxnLst/>
            <a:rect l="0" t="0" r="0" b="0"/>
            <a:pathLst>
              <a:path w="474415" h="284676">
                <a:moveTo>
                  <a:pt x="12115" y="157997"/>
                </a:moveTo>
                <a:cubicBezTo>
                  <a:pt x="0" y="151073"/>
                  <a:pt x="0" y="133602"/>
                  <a:pt x="12115" y="126679"/>
                </a:cubicBezTo>
                <a:lnTo>
                  <a:pt x="228260" y="3168"/>
                </a:lnTo>
                <a:cubicBezTo>
                  <a:pt x="233804" y="0"/>
                  <a:pt x="240611" y="0"/>
                  <a:pt x="246156" y="3168"/>
                </a:cubicBezTo>
                <a:lnTo>
                  <a:pt x="462300" y="126679"/>
                </a:lnTo>
                <a:cubicBezTo>
                  <a:pt x="474415" y="133602"/>
                  <a:pt x="474415" y="151073"/>
                  <a:pt x="462300" y="157997"/>
                </a:cubicBezTo>
                <a:lnTo>
                  <a:pt x="246156" y="281507"/>
                </a:lnTo>
                <a:cubicBezTo>
                  <a:pt x="240611" y="284676"/>
                  <a:pt x="233804" y="284676"/>
                  <a:pt x="228260" y="281507"/>
                </a:cubicBezTo>
                <a:lnTo>
                  <a:pt x="12115" y="157997"/>
                </a:lnTo>
                <a:close/>
              </a:path>
            </a:pathLst>
          </a:custGeom>
          <a:noFill/>
          <a:ln w="1456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328643" y="2063281"/>
            <a:ext cx="252495" cy="415751"/>
          </a:xfrm>
          <a:custGeom>
            <a:avLst/>
            <a:gdLst/>
            <a:ahLst/>
            <a:cxnLst/>
            <a:rect l="0" t="0" r="0" b="0"/>
            <a:pathLst>
              <a:path w="252495" h="415751">
                <a:moveTo>
                  <a:pt x="252495" y="22529"/>
                </a:moveTo>
                <a:cubicBezTo>
                  <a:pt x="252495" y="8680"/>
                  <a:pt x="237534" y="0"/>
                  <a:pt x="225512" y="6869"/>
                </a:cubicBezTo>
                <a:lnTo>
                  <a:pt x="9086" y="130540"/>
                </a:lnTo>
                <a:cubicBezTo>
                  <a:pt x="3467" y="133752"/>
                  <a:pt x="0" y="139727"/>
                  <a:pt x="0" y="146200"/>
                </a:cubicBezTo>
                <a:lnTo>
                  <a:pt x="0" y="393221"/>
                </a:lnTo>
                <a:cubicBezTo>
                  <a:pt x="0" y="407069"/>
                  <a:pt x="14960" y="415751"/>
                  <a:pt x="26983" y="408880"/>
                </a:cubicBezTo>
                <a:lnTo>
                  <a:pt x="243408" y="285209"/>
                </a:lnTo>
                <a:cubicBezTo>
                  <a:pt x="249027" y="281998"/>
                  <a:pt x="252495" y="276022"/>
                  <a:pt x="252495" y="269550"/>
                </a:cubicBezTo>
                <a:close/>
                <a:moveTo>
                  <a:pt x="252495" y="22529"/>
                </a:moveTo>
                <a:lnTo>
                  <a:pt x="252495" y="269550"/>
                </a:lnTo>
                <a:cubicBezTo>
                  <a:pt x="252495" y="276022"/>
                  <a:pt x="249027" y="281998"/>
                  <a:pt x="243408" y="285209"/>
                </a:cubicBezTo>
                <a:lnTo>
                  <a:pt x="26983" y="408880"/>
                </a:lnTo>
                <a:cubicBezTo>
                  <a:pt x="14960" y="415751"/>
                  <a:pt x="0" y="407069"/>
                  <a:pt x="0" y="393221"/>
                </a:cubicBezTo>
                <a:lnTo>
                  <a:pt x="0" y="146200"/>
                </a:lnTo>
                <a:cubicBezTo>
                  <a:pt x="0" y="139727"/>
                  <a:pt x="3467" y="133752"/>
                  <a:pt x="9086" y="130540"/>
                </a:cubicBezTo>
                <a:lnTo>
                  <a:pt x="225512" y="6869"/>
                </a:lnTo>
                <a:cubicBezTo>
                  <a:pt x="237534" y="0"/>
                  <a:pt x="252495" y="8680"/>
                  <a:pt x="252495" y="22529"/>
                </a:cubicBezTo>
                <a:close/>
                <a:moveTo>
                  <a:pt x="243408" y="285209"/>
                </a:moveTo>
                <a:lnTo>
                  <a:pt x="26983" y="408880"/>
                </a:lnTo>
                <a:cubicBezTo>
                  <a:pt x="14960" y="415751"/>
                  <a:pt x="0" y="407069"/>
                  <a:pt x="0" y="393221"/>
                </a:cubicBezTo>
                <a:lnTo>
                  <a:pt x="0" y="146200"/>
                </a:lnTo>
                <a:cubicBezTo>
                  <a:pt x="0" y="139727"/>
                  <a:pt x="3467" y="133752"/>
                  <a:pt x="9086" y="130540"/>
                </a:cubicBezTo>
                <a:lnTo>
                  <a:pt x="225512" y="6869"/>
                </a:lnTo>
                <a:cubicBezTo>
                  <a:pt x="237534" y="0"/>
                  <a:pt x="252495" y="8680"/>
                  <a:pt x="252495" y="22529"/>
                </a:cubicBezTo>
                <a:lnTo>
                  <a:pt x="252495" y="269550"/>
                </a:lnTo>
                <a:cubicBezTo>
                  <a:pt x="252495" y="276022"/>
                  <a:pt x="249027" y="281998"/>
                  <a:pt x="243408" y="285209"/>
                </a:cubicBezTo>
                <a:close/>
              </a:path>
            </a:pathLst>
          </a:custGeom>
          <a:noFill/>
          <a:ln w="1456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2066168" y="2351851"/>
            <a:ext cx="252495" cy="415753"/>
          </a:xfrm>
          <a:custGeom>
            <a:avLst/>
            <a:gdLst/>
            <a:ahLst/>
            <a:cxnLst/>
            <a:rect l="0" t="0" r="0" b="0"/>
            <a:pathLst>
              <a:path w="252495" h="415753">
                <a:moveTo>
                  <a:pt x="252495" y="146202"/>
                </a:moveTo>
                <a:cubicBezTo>
                  <a:pt x="252495" y="139730"/>
                  <a:pt x="249027" y="133754"/>
                  <a:pt x="243408" y="130543"/>
                </a:cubicBezTo>
                <a:lnTo>
                  <a:pt x="26983" y="6869"/>
                </a:lnTo>
                <a:cubicBezTo>
                  <a:pt x="14960" y="0"/>
                  <a:pt x="0" y="8680"/>
                  <a:pt x="0" y="22529"/>
                </a:cubicBezTo>
                <a:lnTo>
                  <a:pt x="0" y="269553"/>
                </a:lnTo>
                <a:cubicBezTo>
                  <a:pt x="0" y="276025"/>
                  <a:pt x="3467" y="282001"/>
                  <a:pt x="9086" y="285212"/>
                </a:cubicBezTo>
                <a:lnTo>
                  <a:pt x="225512" y="408883"/>
                </a:lnTo>
                <a:cubicBezTo>
                  <a:pt x="237534" y="415753"/>
                  <a:pt x="252495" y="407072"/>
                  <a:pt x="252495" y="393224"/>
                </a:cubicBezTo>
                <a:lnTo>
                  <a:pt x="252495" y="146202"/>
                </a:lnTo>
                <a:close/>
              </a:path>
            </a:pathLst>
          </a:custGeom>
          <a:noFill/>
          <a:ln w="1456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066168" y="1767122"/>
            <a:ext cx="254911" cy="422790"/>
          </a:xfrm>
          <a:custGeom>
            <a:avLst/>
            <a:gdLst/>
            <a:ahLst/>
            <a:cxnLst/>
            <a:rect l="0" t="0" r="0" b="0"/>
            <a:pathLst>
              <a:path w="254911" h="422790">
                <a:moveTo>
                  <a:pt x="252495" y="153236"/>
                </a:moveTo>
                <a:lnTo>
                  <a:pt x="252495" y="400261"/>
                </a:lnTo>
                <a:cubicBezTo>
                  <a:pt x="252495" y="414108"/>
                  <a:pt x="237534" y="422790"/>
                  <a:pt x="225511" y="415919"/>
                </a:cubicBezTo>
                <a:lnTo>
                  <a:pt x="9086" y="292246"/>
                </a:lnTo>
                <a:cubicBezTo>
                  <a:pt x="3467" y="289035"/>
                  <a:pt x="0" y="283059"/>
                  <a:pt x="0" y="276587"/>
                </a:cubicBezTo>
                <a:lnTo>
                  <a:pt x="0" y="8953"/>
                </a:lnTo>
                <a:cubicBezTo>
                  <a:pt x="0" y="5756"/>
                  <a:pt x="845" y="2681"/>
                  <a:pt x="2379" y="0"/>
                </a:cubicBezTo>
                <a:lnTo>
                  <a:pt x="254911" y="144219"/>
                </a:lnTo>
                <a:cubicBezTo>
                  <a:pt x="253354" y="146915"/>
                  <a:pt x="252495" y="150014"/>
                  <a:pt x="252495" y="153236"/>
                </a:cubicBezTo>
                <a:close/>
              </a:path>
            </a:pathLst>
          </a:custGeom>
          <a:noFill/>
          <a:ln w="1456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318663" y="1768118"/>
            <a:ext cx="489703" cy="286621"/>
          </a:xfrm>
          <a:custGeom>
            <a:avLst/>
            <a:gdLst/>
            <a:ahLst/>
            <a:cxnLst/>
            <a:rect l="0" t="0" r="0" b="0"/>
            <a:pathLst>
              <a:path w="489703" h="286621">
                <a:moveTo>
                  <a:pt x="0" y="142338"/>
                </a:moveTo>
                <a:lnTo>
                  <a:pt x="243547" y="3168"/>
                </a:lnTo>
                <a:cubicBezTo>
                  <a:pt x="249091" y="0"/>
                  <a:pt x="255898" y="0"/>
                  <a:pt x="261443" y="3168"/>
                </a:cubicBezTo>
                <a:lnTo>
                  <a:pt x="477586" y="126679"/>
                </a:lnTo>
                <a:cubicBezTo>
                  <a:pt x="489703" y="133602"/>
                  <a:pt x="489703" y="151073"/>
                  <a:pt x="477586" y="157997"/>
                </a:cubicBezTo>
                <a:lnTo>
                  <a:pt x="252495" y="286621"/>
                </a:lnTo>
                <a:lnTo>
                  <a:pt x="0" y="142338"/>
                </a:lnTo>
                <a:close/>
              </a:path>
            </a:pathLst>
          </a:custGeom>
          <a:noFill/>
          <a:ln w="1456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Group 32"/>
          <p:cNvGrpSpPr/>
          <p:nvPr/>
        </p:nvGrpSpPr>
        <p:grpSpPr>
          <a:xfrm>
            <a:off x="2068547" y="1623270"/>
            <a:ext cx="1512590" cy="1288612"/>
            <a:chOff x="2068547" y="1623270"/>
            <a:chExt cx="1512590" cy="1288612"/>
          </a:xfrm>
        </p:grpSpPr>
        <p:sp>
          <p:nvSpPr>
            <p:cNvPr id="27" name="Rounded Rectangle 26"/>
            <p:cNvSpPr/>
            <p:nvPr/>
          </p:nvSpPr>
          <p:spPr>
            <a:xfrm>
              <a:off x="3076147" y="2207569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0" y="146200"/>
                  </a:moveTo>
                  <a:cubicBezTo>
                    <a:pt x="0" y="139727"/>
                    <a:pt x="3467" y="133752"/>
                    <a:pt x="9086" y="130541"/>
                  </a:cubicBezTo>
                  <a:lnTo>
                    <a:pt x="225512" y="6869"/>
                  </a:lnTo>
                  <a:cubicBezTo>
                    <a:pt x="237534" y="0"/>
                    <a:pt x="252495" y="8681"/>
                    <a:pt x="252495" y="22529"/>
                  </a:cubicBez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3" y="408880"/>
                  </a:lnTo>
                  <a:cubicBezTo>
                    <a:pt x="14960" y="415751"/>
                    <a:pt x="0" y="407069"/>
                    <a:pt x="0" y="393221"/>
                  </a:cubicBezTo>
                  <a:close/>
                  <a:moveTo>
                    <a:pt x="0" y="146200"/>
                  </a:moveTo>
                  <a:lnTo>
                    <a:pt x="0" y="393221"/>
                  </a:lnTo>
                  <a:cubicBezTo>
                    <a:pt x="0" y="407069"/>
                    <a:pt x="14960" y="415751"/>
                    <a:pt x="26983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lnTo>
                    <a:pt x="252495" y="22529"/>
                  </a:lnTo>
                  <a:cubicBezTo>
                    <a:pt x="252495" y="8681"/>
                    <a:pt x="237534" y="0"/>
                    <a:pt x="225512" y="6869"/>
                  </a:cubicBezTo>
                  <a:lnTo>
                    <a:pt x="9086" y="130541"/>
                  </a:lnTo>
                  <a:cubicBezTo>
                    <a:pt x="3467" y="133752"/>
                    <a:pt x="0" y="139727"/>
                    <a:pt x="0" y="146200"/>
                  </a:cubicBezTo>
                  <a:close/>
                  <a:moveTo>
                    <a:pt x="252495" y="22529"/>
                  </a:moveTo>
                  <a:cubicBezTo>
                    <a:pt x="252495" y="8681"/>
                    <a:pt x="237534" y="0"/>
                    <a:pt x="225512" y="6869"/>
                  </a:cubicBezTo>
                  <a:lnTo>
                    <a:pt x="9086" y="130541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3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318661" y="2207569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6983" y="6869"/>
                  </a:moveTo>
                  <a:cubicBezTo>
                    <a:pt x="14960" y="0"/>
                    <a:pt x="0" y="8681"/>
                    <a:pt x="0" y="22529"/>
                  </a:cubicBez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2" y="408880"/>
                  </a:lnTo>
                  <a:cubicBezTo>
                    <a:pt x="237534" y="415751"/>
                    <a:pt x="252495" y="407069"/>
                    <a:pt x="252495" y="393221"/>
                  </a:cubicBezTo>
                  <a:lnTo>
                    <a:pt x="252495" y="146200"/>
                  </a:lnTo>
                  <a:cubicBezTo>
                    <a:pt x="252495" y="139727"/>
                    <a:pt x="249027" y="133752"/>
                    <a:pt x="243408" y="130541"/>
                  </a:cubicBezTo>
                  <a:close/>
                  <a:moveTo>
                    <a:pt x="0" y="22529"/>
                  </a:moveTo>
                  <a:cubicBezTo>
                    <a:pt x="0" y="8681"/>
                    <a:pt x="14960" y="0"/>
                    <a:pt x="26983" y="6869"/>
                  </a:cubicBezTo>
                  <a:lnTo>
                    <a:pt x="243408" y="130541"/>
                  </a:lnTo>
                  <a:cubicBezTo>
                    <a:pt x="249027" y="133752"/>
                    <a:pt x="252495" y="139727"/>
                    <a:pt x="252495" y="146200"/>
                  </a:cubicBezTo>
                  <a:lnTo>
                    <a:pt x="252495" y="393221"/>
                  </a:lnTo>
                  <a:cubicBezTo>
                    <a:pt x="252495" y="407069"/>
                    <a:pt x="237534" y="415751"/>
                    <a:pt x="225512" y="408880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close/>
                  <a:moveTo>
                    <a:pt x="0" y="22529"/>
                  </a:move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2" y="408880"/>
                  </a:lnTo>
                  <a:cubicBezTo>
                    <a:pt x="237534" y="415751"/>
                    <a:pt x="252495" y="407069"/>
                    <a:pt x="252495" y="393221"/>
                  </a:cubicBezTo>
                  <a:lnTo>
                    <a:pt x="252495" y="146200"/>
                  </a:lnTo>
                  <a:cubicBezTo>
                    <a:pt x="252495" y="139727"/>
                    <a:pt x="249027" y="133752"/>
                    <a:pt x="243408" y="130541"/>
                  </a:cubicBezTo>
                  <a:lnTo>
                    <a:pt x="26983" y="6869"/>
                  </a:lnTo>
                  <a:cubicBezTo>
                    <a:pt x="14960" y="0"/>
                    <a:pt x="0" y="8681"/>
                    <a:pt x="0" y="2252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318661" y="2496131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6983" y="6869"/>
                  </a:moveTo>
                  <a:cubicBezTo>
                    <a:pt x="14960" y="0"/>
                    <a:pt x="0" y="8681"/>
                    <a:pt x="0" y="22529"/>
                  </a:cubicBez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2" y="408880"/>
                  </a:lnTo>
                  <a:cubicBezTo>
                    <a:pt x="237534" y="415751"/>
                    <a:pt x="252495" y="407069"/>
                    <a:pt x="252495" y="393221"/>
                  </a:cubicBezTo>
                  <a:lnTo>
                    <a:pt x="252495" y="146200"/>
                  </a:lnTo>
                  <a:cubicBezTo>
                    <a:pt x="252495" y="139727"/>
                    <a:pt x="249027" y="133752"/>
                    <a:pt x="243408" y="130540"/>
                  </a:cubicBezTo>
                  <a:close/>
                  <a:moveTo>
                    <a:pt x="252495" y="393221"/>
                  </a:moveTo>
                  <a:cubicBezTo>
                    <a:pt x="252495" y="407069"/>
                    <a:pt x="237534" y="415751"/>
                    <a:pt x="225512" y="408880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1"/>
                    <a:pt x="14960" y="0"/>
                    <a:pt x="26983" y="6869"/>
                  </a:cubicBezTo>
                  <a:lnTo>
                    <a:pt x="243408" y="130540"/>
                  </a:lnTo>
                  <a:cubicBezTo>
                    <a:pt x="249027" y="133752"/>
                    <a:pt x="252495" y="139727"/>
                    <a:pt x="252495" y="146200"/>
                  </a:cubicBezTo>
                  <a:close/>
                  <a:moveTo>
                    <a:pt x="252495" y="146200"/>
                  </a:moveTo>
                  <a:lnTo>
                    <a:pt x="252495" y="393221"/>
                  </a:lnTo>
                  <a:cubicBezTo>
                    <a:pt x="252495" y="407069"/>
                    <a:pt x="237534" y="415751"/>
                    <a:pt x="225512" y="408880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1"/>
                    <a:pt x="14960" y="0"/>
                    <a:pt x="26983" y="6869"/>
                  </a:cubicBezTo>
                  <a:lnTo>
                    <a:pt x="243408" y="130540"/>
                  </a:lnTo>
                  <a:cubicBezTo>
                    <a:pt x="249027" y="133752"/>
                    <a:pt x="252495" y="139727"/>
                    <a:pt x="252495" y="146200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2068547" y="1623270"/>
              <a:ext cx="487200" cy="288067"/>
            </a:xfrm>
            <a:custGeom>
              <a:avLst/>
              <a:gdLst/>
              <a:ahLst/>
              <a:cxnLst/>
              <a:rect l="0" t="0" r="0" b="0"/>
              <a:pathLst>
                <a:path w="487200" h="288067">
                  <a:moveTo>
                    <a:pt x="259065" y="3173"/>
                  </a:moveTo>
                  <a:lnTo>
                    <a:pt x="475091" y="126752"/>
                  </a:lnTo>
                  <a:cubicBezTo>
                    <a:pt x="487200" y="133679"/>
                    <a:pt x="487197" y="151144"/>
                    <a:pt x="475084" y="158065"/>
                  </a:cubicBezTo>
                  <a:lnTo>
                    <a:pt x="259202" y="281427"/>
                  </a:lnTo>
                  <a:cubicBezTo>
                    <a:pt x="256381" y="283039"/>
                    <a:pt x="254102" y="285348"/>
                    <a:pt x="252531" y="288067"/>
                  </a:cubicBezTo>
                  <a:lnTo>
                    <a:pt x="0" y="143849"/>
                  </a:lnTo>
                  <a:cubicBezTo>
                    <a:pt x="1571" y="141102"/>
                    <a:pt x="3864" y="138769"/>
                    <a:pt x="6707" y="137143"/>
                  </a:cubicBezTo>
                  <a:lnTo>
                    <a:pt x="241162" y="3169"/>
                  </a:lnTo>
                  <a:cubicBezTo>
                    <a:pt x="246710" y="0"/>
                    <a:pt x="253520" y="0"/>
                    <a:pt x="259065" y="3173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076147" y="1910458"/>
              <a:ext cx="252495" cy="424300"/>
            </a:xfrm>
            <a:custGeom>
              <a:avLst/>
              <a:gdLst/>
              <a:ahLst/>
              <a:cxnLst/>
              <a:rect l="0" t="0" r="0" b="0"/>
              <a:pathLst>
                <a:path w="252495" h="424300">
                  <a:moveTo>
                    <a:pt x="252495" y="278099"/>
                  </a:moveTo>
                  <a:cubicBezTo>
                    <a:pt x="252495" y="284571"/>
                    <a:pt x="249027" y="290547"/>
                    <a:pt x="243408" y="293758"/>
                  </a:cubicBezTo>
                  <a:lnTo>
                    <a:pt x="26983" y="417429"/>
                  </a:lnTo>
                  <a:cubicBezTo>
                    <a:pt x="14960" y="424300"/>
                    <a:pt x="0" y="415618"/>
                    <a:pt x="0" y="401770"/>
                  </a:cubicBezTo>
                  <a:lnTo>
                    <a:pt x="0" y="155205"/>
                  </a:lnTo>
                  <a:cubicBezTo>
                    <a:pt x="0" y="148742"/>
                    <a:pt x="3458" y="142774"/>
                    <a:pt x="9065" y="139559"/>
                  </a:cubicBezTo>
                  <a:lnTo>
                    <a:pt x="252495" y="0"/>
                  </a:lnTo>
                  <a:lnTo>
                    <a:pt x="252495" y="27809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328642" y="1770775"/>
              <a:ext cx="252495" cy="419697"/>
            </a:xfrm>
            <a:custGeom>
              <a:avLst/>
              <a:gdLst/>
              <a:ahLst/>
              <a:cxnLst/>
              <a:rect l="0" t="0" r="0" b="0"/>
              <a:pathLst>
                <a:path w="252495" h="419697">
                  <a:moveTo>
                    <a:pt x="0" y="145315"/>
                  </a:moveTo>
                  <a:cubicBezTo>
                    <a:pt x="0" y="141830"/>
                    <a:pt x="1867" y="138613"/>
                    <a:pt x="4893" y="136883"/>
                  </a:cubicBezTo>
                  <a:lnTo>
                    <a:pt x="237965" y="3699"/>
                  </a:lnTo>
                  <a:cubicBezTo>
                    <a:pt x="244439" y="0"/>
                    <a:pt x="252495" y="4675"/>
                    <a:pt x="252495" y="12131"/>
                  </a:cubicBezTo>
                  <a:lnTo>
                    <a:pt x="252495" y="273495"/>
                  </a:lnTo>
                  <a:cubicBezTo>
                    <a:pt x="252495" y="279968"/>
                    <a:pt x="249027" y="285943"/>
                    <a:pt x="243408" y="289155"/>
                  </a:cubicBezTo>
                  <a:lnTo>
                    <a:pt x="26983" y="412826"/>
                  </a:lnTo>
                  <a:cubicBezTo>
                    <a:pt x="14960" y="419697"/>
                    <a:pt x="0" y="411015"/>
                    <a:pt x="0" y="397167"/>
                  </a:cubicBezTo>
                  <a:lnTo>
                    <a:pt x="0" y="145315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3829480" y="1906011"/>
            <a:ext cx="1484409" cy="546937"/>
            <a:chOff x="3829480" y="1906011"/>
            <a:chExt cx="1484409" cy="546937"/>
          </a:xfrm>
        </p:grpSpPr>
        <p:sp>
          <p:nvSpPr>
            <p:cNvPr id="34" name="Rounded Rectangle 33"/>
            <p:cNvSpPr/>
            <p:nvPr/>
          </p:nvSpPr>
          <p:spPr>
            <a:xfrm>
              <a:off x="4342305" y="2309713"/>
              <a:ext cx="458781" cy="143235"/>
            </a:xfrm>
            <a:custGeom>
              <a:avLst/>
              <a:gdLst/>
              <a:ahLst/>
              <a:cxnLst/>
              <a:rect l="0" t="0" r="0" b="0"/>
              <a:pathLst>
                <a:path w="458781" h="143235">
                  <a:moveTo>
                    <a:pt x="13464" y="0"/>
                  </a:moveTo>
                  <a:cubicBezTo>
                    <a:pt x="3505" y="0"/>
                    <a:pt x="0" y="13202"/>
                    <a:pt x="8646" y="18142"/>
                  </a:cubicBezTo>
                  <a:lnTo>
                    <a:pt x="224572" y="141529"/>
                  </a:lnTo>
                  <a:cubicBezTo>
                    <a:pt x="227558" y="143235"/>
                    <a:pt x="231223" y="143235"/>
                    <a:pt x="234208" y="141529"/>
                  </a:cubicBezTo>
                  <a:lnTo>
                    <a:pt x="450135" y="18142"/>
                  </a:lnTo>
                  <a:cubicBezTo>
                    <a:pt x="458781" y="13202"/>
                    <a:pt x="455275" y="0"/>
                    <a:pt x="445316" y="0"/>
                  </a:cubicBezTo>
                  <a:lnTo>
                    <a:pt x="13464" y="0"/>
                  </a:lnTo>
                  <a:close/>
                </a:path>
              </a:pathLst>
            </a:custGeom>
            <a:noFill/>
            <a:ln w="1456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112752" y="1906028"/>
              <a:ext cx="201137" cy="230248"/>
            </a:xfrm>
            <a:custGeom>
              <a:avLst/>
              <a:gdLst/>
              <a:ahLst/>
              <a:cxnLst/>
              <a:rect l="0" t="0" r="0" b="0"/>
              <a:pathLst>
                <a:path w="201137" h="230248">
                  <a:moveTo>
                    <a:pt x="189021" y="99467"/>
                  </a:moveTo>
                  <a:cubicBezTo>
                    <a:pt x="201137" y="106390"/>
                    <a:pt x="201137" y="123861"/>
                    <a:pt x="189021" y="130785"/>
                  </a:cubicBezTo>
                  <a:lnTo>
                    <a:pt x="26982" y="223377"/>
                  </a:lnTo>
                  <a:cubicBezTo>
                    <a:pt x="14960" y="230248"/>
                    <a:pt x="0" y="221566"/>
                    <a:pt x="0" y="207718"/>
                  </a:cubicBezTo>
                  <a:lnTo>
                    <a:pt x="0" y="22529"/>
                  </a:lnTo>
                  <a:cubicBezTo>
                    <a:pt x="0" y="8680"/>
                    <a:pt x="14960" y="0"/>
                    <a:pt x="26983" y="6870"/>
                  </a:cubicBezTo>
                  <a:lnTo>
                    <a:pt x="189021" y="99467"/>
                  </a:lnTo>
                  <a:close/>
                </a:path>
              </a:pathLst>
            </a:custGeom>
            <a:noFill/>
            <a:ln w="1456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829480" y="1906011"/>
              <a:ext cx="201155" cy="230269"/>
            </a:xfrm>
            <a:custGeom>
              <a:avLst/>
              <a:gdLst/>
              <a:ahLst/>
              <a:cxnLst/>
              <a:rect l="0" t="0" r="0" b="0"/>
              <a:pathLst>
                <a:path w="201155" h="230269">
                  <a:moveTo>
                    <a:pt x="201155" y="207731"/>
                  </a:moveTo>
                  <a:cubicBezTo>
                    <a:pt x="201155" y="221579"/>
                    <a:pt x="186209" y="230269"/>
                    <a:pt x="174185" y="223398"/>
                  </a:cubicBezTo>
                  <a:cubicBezTo>
                    <a:pt x="137300" y="202320"/>
                    <a:pt x="69183" y="163395"/>
                    <a:pt x="12115" y="130784"/>
                  </a:cubicBezTo>
                  <a:cubicBezTo>
                    <a:pt x="0" y="123860"/>
                    <a:pt x="5" y="106406"/>
                    <a:pt x="12121" y="99482"/>
                  </a:cubicBezTo>
                  <a:cubicBezTo>
                    <a:pt x="69188" y="66872"/>
                    <a:pt x="137301" y="27948"/>
                    <a:pt x="174185" y="6870"/>
                  </a:cubicBezTo>
                  <a:cubicBezTo>
                    <a:pt x="186209" y="0"/>
                    <a:pt x="201155" y="8689"/>
                    <a:pt x="201155" y="22538"/>
                  </a:cubicBezTo>
                  <a:lnTo>
                    <a:pt x="201155" y="207731"/>
                  </a:lnTo>
                  <a:close/>
                </a:path>
              </a:pathLst>
            </a:custGeom>
            <a:noFill/>
            <a:ln w="14565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4066706" y="1804724"/>
            <a:ext cx="1046048" cy="1073567"/>
            <a:chOff x="4066706" y="1804724"/>
            <a:chExt cx="1046048" cy="1073567"/>
          </a:xfrm>
        </p:grpSpPr>
        <p:sp>
          <p:nvSpPr>
            <p:cNvPr id="38" name="Rounded Rectangle 37"/>
            <p:cNvSpPr/>
            <p:nvPr/>
          </p:nvSpPr>
          <p:spPr>
            <a:xfrm>
              <a:off x="4066706" y="2309714"/>
              <a:ext cx="252495" cy="280017"/>
            </a:xfrm>
            <a:custGeom>
              <a:avLst/>
              <a:gdLst/>
              <a:ahLst/>
              <a:cxnLst/>
              <a:rect l="0" t="0" r="0" b="0"/>
              <a:pathLst>
                <a:path w="252495" h="280017">
                  <a:moveTo>
                    <a:pt x="18034" y="0"/>
                  </a:moveTo>
                  <a:cubicBezTo>
                    <a:pt x="8074" y="0"/>
                    <a:pt x="0" y="8074"/>
                    <a:pt x="0" y="18034"/>
                  </a:cubicBezTo>
                  <a:lnTo>
                    <a:pt x="0" y="133816"/>
                  </a:lnTo>
                  <a:cubicBezTo>
                    <a:pt x="0" y="140288"/>
                    <a:pt x="3467" y="146264"/>
                    <a:pt x="9086" y="149476"/>
                  </a:cubicBezTo>
                  <a:lnTo>
                    <a:pt x="225512" y="273146"/>
                  </a:lnTo>
                  <a:cubicBezTo>
                    <a:pt x="237534" y="280017"/>
                    <a:pt x="252495" y="271335"/>
                    <a:pt x="252495" y="257487"/>
                  </a:cubicBezTo>
                  <a:lnTo>
                    <a:pt x="252495" y="18034"/>
                  </a:lnTo>
                  <a:cubicBezTo>
                    <a:pt x="252495" y="8074"/>
                    <a:pt x="244420" y="0"/>
                    <a:pt x="234460" y="0"/>
                  </a:cubicBezTo>
                  <a:close/>
                  <a:moveTo>
                    <a:pt x="0" y="18034"/>
                  </a:moveTo>
                  <a:cubicBezTo>
                    <a:pt x="0" y="8074"/>
                    <a:pt x="8074" y="0"/>
                    <a:pt x="18034" y="0"/>
                  </a:cubicBezTo>
                  <a:lnTo>
                    <a:pt x="234460" y="0"/>
                  </a:lnTo>
                  <a:cubicBezTo>
                    <a:pt x="244420" y="0"/>
                    <a:pt x="252495" y="8074"/>
                    <a:pt x="252495" y="18034"/>
                  </a:cubicBezTo>
                  <a:lnTo>
                    <a:pt x="252495" y="257487"/>
                  </a:lnTo>
                  <a:cubicBezTo>
                    <a:pt x="252495" y="271335"/>
                    <a:pt x="237534" y="280017"/>
                    <a:pt x="225512" y="273146"/>
                  </a:cubicBezTo>
                  <a:lnTo>
                    <a:pt x="9086" y="149476"/>
                  </a:lnTo>
                  <a:cubicBezTo>
                    <a:pt x="3467" y="146264"/>
                    <a:pt x="0" y="140288"/>
                    <a:pt x="0" y="133816"/>
                  </a:cubicBezTo>
                  <a:close/>
                  <a:moveTo>
                    <a:pt x="0" y="18034"/>
                  </a:moveTo>
                  <a:lnTo>
                    <a:pt x="0" y="133816"/>
                  </a:lnTo>
                  <a:cubicBezTo>
                    <a:pt x="0" y="140288"/>
                    <a:pt x="3467" y="146264"/>
                    <a:pt x="9086" y="149476"/>
                  </a:cubicBezTo>
                  <a:lnTo>
                    <a:pt x="225512" y="273146"/>
                  </a:lnTo>
                  <a:cubicBezTo>
                    <a:pt x="237534" y="280017"/>
                    <a:pt x="252495" y="271335"/>
                    <a:pt x="252495" y="257487"/>
                  </a:cubicBezTo>
                  <a:lnTo>
                    <a:pt x="252495" y="18034"/>
                  </a:lnTo>
                  <a:cubicBezTo>
                    <a:pt x="252495" y="8074"/>
                    <a:pt x="244420" y="0"/>
                    <a:pt x="234460" y="0"/>
                  </a:cubicBezTo>
                  <a:lnTo>
                    <a:pt x="18034" y="0"/>
                  </a:lnTo>
                  <a:cubicBezTo>
                    <a:pt x="8074" y="0"/>
                    <a:pt x="0" y="8074"/>
                    <a:pt x="0" y="18034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4066706" y="2462540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6982" y="6869"/>
                  </a:moveTo>
                  <a:cubicBezTo>
                    <a:pt x="14960" y="0"/>
                    <a:pt x="0" y="8680"/>
                    <a:pt x="0" y="22529"/>
                  </a:cubicBez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2" y="408880"/>
                  </a:lnTo>
                  <a:cubicBezTo>
                    <a:pt x="237534" y="415751"/>
                    <a:pt x="252495" y="407069"/>
                    <a:pt x="252495" y="393221"/>
                  </a:cubicBezTo>
                  <a:lnTo>
                    <a:pt x="252495" y="146200"/>
                  </a:lnTo>
                  <a:cubicBezTo>
                    <a:pt x="252495" y="139727"/>
                    <a:pt x="249027" y="133752"/>
                    <a:pt x="243408" y="130540"/>
                  </a:cubicBezTo>
                  <a:close/>
                  <a:moveTo>
                    <a:pt x="252495" y="393221"/>
                  </a:moveTo>
                  <a:cubicBezTo>
                    <a:pt x="252495" y="407069"/>
                    <a:pt x="237534" y="415751"/>
                    <a:pt x="225512" y="408880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0"/>
                    <a:pt x="14960" y="0"/>
                    <a:pt x="26982" y="6869"/>
                  </a:cubicBezTo>
                  <a:lnTo>
                    <a:pt x="243408" y="130540"/>
                  </a:lnTo>
                  <a:cubicBezTo>
                    <a:pt x="249027" y="133752"/>
                    <a:pt x="252495" y="139727"/>
                    <a:pt x="252495" y="146200"/>
                  </a:cubicBezTo>
                  <a:close/>
                  <a:moveTo>
                    <a:pt x="252495" y="146200"/>
                  </a:moveTo>
                  <a:lnTo>
                    <a:pt x="252495" y="393221"/>
                  </a:lnTo>
                  <a:cubicBezTo>
                    <a:pt x="252495" y="407069"/>
                    <a:pt x="237534" y="415751"/>
                    <a:pt x="225512" y="408880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0"/>
                    <a:pt x="14960" y="0"/>
                    <a:pt x="26982" y="6869"/>
                  </a:cubicBezTo>
                  <a:lnTo>
                    <a:pt x="243408" y="130540"/>
                  </a:lnTo>
                  <a:cubicBezTo>
                    <a:pt x="249027" y="133752"/>
                    <a:pt x="252495" y="139727"/>
                    <a:pt x="252495" y="146200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752048" y="1804724"/>
              <a:ext cx="360706" cy="216424"/>
            </a:xfrm>
            <a:custGeom>
              <a:avLst/>
              <a:gdLst/>
              <a:ahLst/>
              <a:cxnLst/>
              <a:rect l="0" t="0" r="0" b="0"/>
              <a:pathLst>
                <a:path w="360706" h="216424">
                  <a:moveTo>
                    <a:pt x="360706" y="198389"/>
                  </a:moveTo>
                  <a:cubicBezTo>
                    <a:pt x="360706" y="208349"/>
                    <a:pt x="352632" y="216424"/>
                    <a:pt x="342671" y="216424"/>
                  </a:cubicBezTo>
                  <a:lnTo>
                    <a:pt x="18035" y="216424"/>
                  </a:lnTo>
                  <a:cubicBezTo>
                    <a:pt x="8075" y="216424"/>
                    <a:pt x="0" y="208349"/>
                    <a:pt x="0" y="198389"/>
                  </a:cubicBezTo>
                  <a:lnTo>
                    <a:pt x="0" y="18034"/>
                  </a:lnTo>
                  <a:cubicBezTo>
                    <a:pt x="0" y="8074"/>
                    <a:pt x="8075" y="0"/>
                    <a:pt x="18035" y="0"/>
                  </a:cubicBezTo>
                  <a:lnTo>
                    <a:pt x="342671" y="0"/>
                  </a:lnTo>
                  <a:cubicBezTo>
                    <a:pt x="352632" y="0"/>
                    <a:pt x="360706" y="8074"/>
                    <a:pt x="360706" y="18034"/>
                  </a:cubicBezTo>
                  <a:lnTo>
                    <a:pt x="360706" y="19838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391344" y="2021148"/>
              <a:ext cx="360707" cy="288565"/>
            </a:xfrm>
            <a:custGeom>
              <a:avLst/>
              <a:gdLst/>
              <a:ahLst/>
              <a:cxnLst/>
              <a:rect l="0" t="0" r="0" b="0"/>
              <a:pathLst>
                <a:path w="360707" h="288565">
                  <a:moveTo>
                    <a:pt x="360707" y="270530"/>
                  </a:moveTo>
                  <a:cubicBezTo>
                    <a:pt x="360707" y="280490"/>
                    <a:pt x="352632" y="288565"/>
                    <a:pt x="342671" y="288565"/>
                  </a:cubicBezTo>
                  <a:lnTo>
                    <a:pt x="18034" y="288565"/>
                  </a:lnTo>
                  <a:cubicBezTo>
                    <a:pt x="8075" y="288565"/>
                    <a:pt x="0" y="280490"/>
                    <a:pt x="0" y="270530"/>
                  </a:cubicBezTo>
                  <a:lnTo>
                    <a:pt x="0" y="18034"/>
                  </a:lnTo>
                  <a:cubicBezTo>
                    <a:pt x="0" y="8074"/>
                    <a:pt x="8075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7" y="8074"/>
                    <a:pt x="360707" y="18034"/>
                  </a:cubicBezTo>
                  <a:lnTo>
                    <a:pt x="360707" y="27053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571696" y="2318263"/>
              <a:ext cx="252495" cy="424299"/>
            </a:xfrm>
            <a:custGeom>
              <a:avLst/>
              <a:gdLst/>
              <a:ahLst/>
              <a:cxnLst/>
              <a:rect l="0" t="0" r="0" b="0"/>
              <a:pathLst>
                <a:path w="252495" h="424299">
                  <a:moveTo>
                    <a:pt x="252495" y="269550"/>
                  </a:moveTo>
                  <a:cubicBezTo>
                    <a:pt x="252495" y="276022"/>
                    <a:pt x="249027" y="281998"/>
                    <a:pt x="243408" y="285209"/>
                  </a:cubicBezTo>
                  <a:lnTo>
                    <a:pt x="7404" y="420068"/>
                  </a:lnTo>
                  <a:cubicBezTo>
                    <a:pt x="6478" y="420598"/>
                    <a:pt x="5605" y="421220"/>
                    <a:pt x="4700" y="421786"/>
                  </a:cubicBezTo>
                  <a:cubicBezTo>
                    <a:pt x="2738" y="423011"/>
                    <a:pt x="0" y="424299"/>
                    <a:pt x="0" y="424299"/>
                  </a:cubicBezTo>
                  <a:cubicBezTo>
                    <a:pt x="0" y="327953"/>
                    <a:pt x="0" y="185424"/>
                    <a:pt x="0" y="146104"/>
                  </a:cubicBezTo>
                  <a:cubicBezTo>
                    <a:pt x="0" y="139632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lnTo>
                    <a:pt x="252495" y="26955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824191" y="2318260"/>
            <a:ext cx="504990" cy="560032"/>
            <a:chOff x="4824191" y="2318260"/>
            <a:chExt cx="504990" cy="560032"/>
          </a:xfrm>
        </p:grpSpPr>
        <p:sp>
          <p:nvSpPr>
            <p:cNvPr id="44" name="Rounded Rectangle 43"/>
            <p:cNvSpPr/>
            <p:nvPr/>
          </p:nvSpPr>
          <p:spPr>
            <a:xfrm>
              <a:off x="5076686" y="2318260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52495" y="269550"/>
                  </a:move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  <a:moveTo>
                    <a:pt x="252495" y="22529"/>
                  </a:moveTo>
                  <a:cubicBezTo>
                    <a:pt x="252495" y="8680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2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  <a:moveTo>
                    <a:pt x="252495" y="22529"/>
                  </a:move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4824191" y="2462541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52495" y="22529"/>
                  </a:moveTo>
                  <a:cubicBezTo>
                    <a:pt x="252495" y="8680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2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  <a:moveTo>
                    <a:pt x="252495" y="269550"/>
                  </a:move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  <a:moveTo>
                    <a:pt x="252495" y="22529"/>
                  </a:move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3814211" y="2021151"/>
            <a:ext cx="1298544" cy="721414"/>
            <a:chOff x="3814211" y="2021151"/>
            <a:chExt cx="1298544" cy="721414"/>
          </a:xfrm>
        </p:grpSpPr>
        <p:sp>
          <p:nvSpPr>
            <p:cNvPr id="47" name="Rounded Rectangle 46"/>
            <p:cNvSpPr/>
            <p:nvPr/>
          </p:nvSpPr>
          <p:spPr>
            <a:xfrm>
              <a:off x="3814211" y="2318262"/>
              <a:ext cx="252495" cy="415753"/>
            </a:xfrm>
            <a:custGeom>
              <a:avLst/>
              <a:gdLst/>
              <a:ahLst/>
              <a:cxnLst/>
              <a:rect l="0" t="0" r="0" b="0"/>
              <a:pathLst>
                <a:path w="252495" h="415753">
                  <a:moveTo>
                    <a:pt x="252495" y="146202"/>
                  </a:moveTo>
                  <a:cubicBezTo>
                    <a:pt x="252495" y="139730"/>
                    <a:pt x="249027" y="133754"/>
                    <a:pt x="243408" y="130543"/>
                  </a:cubicBezTo>
                  <a:lnTo>
                    <a:pt x="26983" y="6869"/>
                  </a:lnTo>
                  <a:cubicBezTo>
                    <a:pt x="14960" y="0"/>
                    <a:pt x="0" y="8680"/>
                    <a:pt x="0" y="22529"/>
                  </a:cubicBezTo>
                  <a:lnTo>
                    <a:pt x="0" y="269553"/>
                  </a:lnTo>
                  <a:cubicBezTo>
                    <a:pt x="0" y="276025"/>
                    <a:pt x="3467" y="282001"/>
                    <a:pt x="9086" y="285212"/>
                  </a:cubicBezTo>
                  <a:lnTo>
                    <a:pt x="225512" y="408883"/>
                  </a:lnTo>
                  <a:cubicBezTo>
                    <a:pt x="237534" y="415753"/>
                    <a:pt x="252495" y="407072"/>
                    <a:pt x="252495" y="393224"/>
                  </a:cubicBezTo>
                  <a:lnTo>
                    <a:pt x="252495" y="146202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3814211" y="2029691"/>
              <a:ext cx="252495" cy="415759"/>
            </a:xfrm>
            <a:custGeom>
              <a:avLst/>
              <a:gdLst/>
              <a:ahLst/>
              <a:cxnLst/>
              <a:rect l="0" t="0" r="0" b="0"/>
              <a:pathLst>
                <a:path w="252495" h="415759">
                  <a:moveTo>
                    <a:pt x="216424" y="125600"/>
                  </a:moveTo>
                  <a:cubicBezTo>
                    <a:pt x="216424" y="119129"/>
                    <a:pt x="212965" y="113157"/>
                    <a:pt x="207346" y="109947"/>
                  </a:cubicBezTo>
                  <a:cubicBezTo>
                    <a:pt x="179885" y="94254"/>
                    <a:pt x="95394" y="45972"/>
                    <a:pt x="26968" y="6870"/>
                  </a:cubicBezTo>
                  <a:cubicBezTo>
                    <a:pt x="14944" y="0"/>
                    <a:pt x="0" y="8672"/>
                    <a:pt x="0" y="22519"/>
                  </a:cubicBezTo>
                  <a:cubicBezTo>
                    <a:pt x="0" y="116057"/>
                    <a:pt x="0" y="234383"/>
                    <a:pt x="0" y="269655"/>
                  </a:cubicBezTo>
                  <a:cubicBezTo>
                    <a:pt x="0" y="276126"/>
                    <a:pt x="3467" y="282006"/>
                    <a:pt x="9086" y="285218"/>
                  </a:cubicBezTo>
                  <a:lnTo>
                    <a:pt x="225512" y="408889"/>
                  </a:lnTo>
                  <a:cubicBezTo>
                    <a:pt x="237534" y="415759"/>
                    <a:pt x="252495" y="407078"/>
                    <a:pt x="252495" y="393230"/>
                  </a:cubicBezTo>
                  <a:lnTo>
                    <a:pt x="252495" y="298060"/>
                  </a:lnTo>
                  <a:cubicBezTo>
                    <a:pt x="252495" y="288099"/>
                    <a:pt x="244420" y="280025"/>
                    <a:pt x="234460" y="280025"/>
                  </a:cubicBezTo>
                  <a:cubicBezTo>
                    <a:pt x="224499" y="280025"/>
                    <a:pt x="216424" y="271950"/>
                    <a:pt x="216424" y="261989"/>
                  </a:cubicBezTo>
                  <a:lnTo>
                    <a:pt x="216424" y="12560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4752048" y="2021151"/>
              <a:ext cx="360707" cy="288565"/>
            </a:xfrm>
            <a:custGeom>
              <a:avLst/>
              <a:gdLst/>
              <a:ahLst/>
              <a:cxnLst/>
              <a:rect l="0" t="0" r="0" b="0"/>
              <a:pathLst>
                <a:path w="360707" h="288565">
                  <a:moveTo>
                    <a:pt x="0" y="18034"/>
                  </a:moveTo>
                  <a:cubicBezTo>
                    <a:pt x="0" y="8074"/>
                    <a:pt x="8075" y="0"/>
                    <a:pt x="18035" y="0"/>
                  </a:cubicBezTo>
                  <a:lnTo>
                    <a:pt x="342671" y="0"/>
                  </a:lnTo>
                  <a:cubicBezTo>
                    <a:pt x="352632" y="0"/>
                    <a:pt x="360706" y="8074"/>
                    <a:pt x="360706" y="18034"/>
                  </a:cubicBezTo>
                  <a:lnTo>
                    <a:pt x="360707" y="270530"/>
                  </a:lnTo>
                  <a:cubicBezTo>
                    <a:pt x="360707" y="280490"/>
                    <a:pt x="352632" y="288565"/>
                    <a:pt x="342671" y="288565"/>
                  </a:cubicBezTo>
                  <a:lnTo>
                    <a:pt x="18035" y="288565"/>
                  </a:lnTo>
                  <a:cubicBezTo>
                    <a:pt x="8075" y="288565"/>
                    <a:pt x="0" y="280490"/>
                    <a:pt x="0" y="270530"/>
                  </a:cubicBezTo>
                  <a:lnTo>
                    <a:pt x="0" y="18034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4319201" y="2318266"/>
              <a:ext cx="252495" cy="424299"/>
            </a:xfrm>
            <a:custGeom>
              <a:avLst/>
              <a:gdLst/>
              <a:ahLst/>
              <a:cxnLst/>
              <a:rect l="0" t="0" r="0" b="0"/>
              <a:pathLst>
                <a:path w="252495" h="424299">
                  <a:moveTo>
                    <a:pt x="0" y="22529"/>
                  </a:moveTo>
                  <a:cubicBezTo>
                    <a:pt x="0" y="8680"/>
                    <a:pt x="14960" y="0"/>
                    <a:pt x="26983" y="6869"/>
                  </a:cubicBezTo>
                  <a:lnTo>
                    <a:pt x="243408" y="130540"/>
                  </a:lnTo>
                  <a:cubicBezTo>
                    <a:pt x="249027" y="133752"/>
                    <a:pt x="252495" y="139632"/>
                    <a:pt x="252495" y="146104"/>
                  </a:cubicBezTo>
                  <a:cubicBezTo>
                    <a:pt x="252495" y="185424"/>
                    <a:pt x="252495" y="327953"/>
                    <a:pt x="252495" y="424299"/>
                  </a:cubicBezTo>
                  <a:cubicBezTo>
                    <a:pt x="252495" y="424299"/>
                    <a:pt x="249839" y="423153"/>
                    <a:pt x="247681" y="421732"/>
                  </a:cubicBezTo>
                  <a:cubicBezTo>
                    <a:pt x="246858" y="421190"/>
                    <a:pt x="246053" y="420618"/>
                    <a:pt x="245197" y="420129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2" name="Rounded Rectangle 51"/>
          <p:cNvSpPr/>
          <p:nvPr/>
        </p:nvSpPr>
        <p:spPr>
          <a:xfrm>
            <a:off x="4571686" y="2607347"/>
            <a:ext cx="252504" cy="421564"/>
          </a:xfrm>
          <a:custGeom>
            <a:avLst/>
            <a:gdLst/>
            <a:ahLst/>
            <a:cxnLst/>
            <a:rect l="0" t="0" r="0" b="0"/>
            <a:pathLst>
              <a:path w="252504" h="421564">
                <a:moveTo>
                  <a:pt x="243416" y="285209"/>
                </a:moveTo>
                <a:lnTo>
                  <a:pt x="8957" y="419186"/>
                </a:lnTo>
                <a:cubicBezTo>
                  <a:pt x="6182" y="420772"/>
                  <a:pt x="3091" y="421564"/>
                  <a:pt x="0" y="421562"/>
                </a:cubicBezTo>
                <a:lnTo>
                  <a:pt x="0" y="132996"/>
                </a:lnTo>
                <a:cubicBezTo>
                  <a:pt x="3091" y="132998"/>
                  <a:pt x="6182" y="132206"/>
                  <a:pt x="8957" y="130620"/>
                </a:cubicBezTo>
                <a:lnTo>
                  <a:pt x="225520" y="6869"/>
                </a:lnTo>
                <a:cubicBezTo>
                  <a:pt x="237544" y="0"/>
                  <a:pt x="252504" y="8680"/>
                  <a:pt x="252504" y="22529"/>
                </a:cubicBezTo>
                <a:lnTo>
                  <a:pt x="252504" y="269550"/>
                </a:lnTo>
                <a:cubicBezTo>
                  <a:pt x="252504" y="276022"/>
                  <a:pt x="249036" y="281998"/>
                  <a:pt x="243416" y="285209"/>
                </a:cubicBezTo>
                <a:close/>
              </a:path>
            </a:pathLst>
          </a:custGeom>
          <a:noFill/>
          <a:ln w="14565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6" name="Group 55"/>
          <p:cNvGrpSpPr/>
          <p:nvPr/>
        </p:nvGrpSpPr>
        <p:grpSpPr>
          <a:xfrm>
            <a:off x="4030638" y="1804724"/>
            <a:ext cx="1298542" cy="640728"/>
            <a:chOff x="4030638" y="1804724"/>
            <a:chExt cx="1298542" cy="640728"/>
          </a:xfrm>
        </p:grpSpPr>
        <p:sp>
          <p:nvSpPr>
            <p:cNvPr id="53" name="Rounded Rectangle 52"/>
            <p:cNvSpPr/>
            <p:nvPr/>
          </p:nvSpPr>
          <p:spPr>
            <a:xfrm>
              <a:off x="5076685" y="2029703"/>
              <a:ext cx="252495" cy="415749"/>
            </a:xfrm>
            <a:custGeom>
              <a:avLst/>
              <a:gdLst/>
              <a:ahLst/>
              <a:cxnLst/>
              <a:rect l="0" t="0" r="0" b="0"/>
              <a:pathLst>
                <a:path w="252495" h="415749">
                  <a:moveTo>
                    <a:pt x="252495" y="22530"/>
                  </a:moveTo>
                  <a:cubicBezTo>
                    <a:pt x="252495" y="8681"/>
                    <a:pt x="237533" y="0"/>
                    <a:pt x="225511" y="6871"/>
                  </a:cubicBezTo>
                  <a:lnTo>
                    <a:pt x="45156" y="109945"/>
                  </a:lnTo>
                  <a:cubicBezTo>
                    <a:pt x="39537" y="113155"/>
                    <a:pt x="36070" y="119132"/>
                    <a:pt x="36070" y="125603"/>
                  </a:cubicBezTo>
                  <a:lnTo>
                    <a:pt x="36070" y="261980"/>
                  </a:lnTo>
                  <a:cubicBezTo>
                    <a:pt x="36070" y="271941"/>
                    <a:pt x="27995" y="280016"/>
                    <a:pt x="18034" y="280016"/>
                  </a:cubicBezTo>
                  <a:cubicBezTo>
                    <a:pt x="8074" y="280016"/>
                    <a:pt x="0" y="288090"/>
                    <a:pt x="0" y="298051"/>
                  </a:cubicBezTo>
                  <a:lnTo>
                    <a:pt x="0" y="393220"/>
                  </a:lnTo>
                  <a:cubicBezTo>
                    <a:pt x="0" y="407068"/>
                    <a:pt x="14960" y="415749"/>
                    <a:pt x="26983" y="408879"/>
                  </a:cubicBezTo>
                  <a:lnTo>
                    <a:pt x="243408" y="285208"/>
                  </a:lnTo>
                  <a:cubicBezTo>
                    <a:pt x="249027" y="281997"/>
                    <a:pt x="252495" y="276021"/>
                    <a:pt x="252495" y="269549"/>
                  </a:cubicBezTo>
                  <a:close/>
                  <a:moveTo>
                    <a:pt x="252495" y="22530"/>
                  </a:moveTo>
                  <a:lnTo>
                    <a:pt x="252495" y="269549"/>
                  </a:lnTo>
                  <a:cubicBezTo>
                    <a:pt x="252495" y="276021"/>
                    <a:pt x="249027" y="281997"/>
                    <a:pt x="243408" y="285208"/>
                  </a:cubicBezTo>
                  <a:lnTo>
                    <a:pt x="26983" y="408879"/>
                  </a:lnTo>
                  <a:cubicBezTo>
                    <a:pt x="14960" y="415749"/>
                    <a:pt x="0" y="407068"/>
                    <a:pt x="0" y="393220"/>
                  </a:cubicBezTo>
                  <a:lnTo>
                    <a:pt x="0" y="298051"/>
                  </a:lnTo>
                  <a:cubicBezTo>
                    <a:pt x="0" y="288090"/>
                    <a:pt x="8074" y="280016"/>
                    <a:pt x="18034" y="280016"/>
                  </a:cubicBezTo>
                  <a:cubicBezTo>
                    <a:pt x="27995" y="280016"/>
                    <a:pt x="36070" y="271941"/>
                    <a:pt x="36070" y="261980"/>
                  </a:cubicBezTo>
                  <a:lnTo>
                    <a:pt x="36070" y="125603"/>
                  </a:lnTo>
                  <a:cubicBezTo>
                    <a:pt x="36070" y="119132"/>
                    <a:pt x="39537" y="113155"/>
                    <a:pt x="45156" y="109945"/>
                  </a:cubicBezTo>
                  <a:lnTo>
                    <a:pt x="225511" y="6871"/>
                  </a:lnTo>
                  <a:cubicBezTo>
                    <a:pt x="237533" y="0"/>
                    <a:pt x="252495" y="8681"/>
                    <a:pt x="252495" y="22530"/>
                  </a:cubicBezTo>
                  <a:close/>
                  <a:moveTo>
                    <a:pt x="243408" y="285208"/>
                  </a:moveTo>
                  <a:lnTo>
                    <a:pt x="26983" y="408879"/>
                  </a:lnTo>
                  <a:cubicBezTo>
                    <a:pt x="14960" y="415749"/>
                    <a:pt x="0" y="407068"/>
                    <a:pt x="0" y="393220"/>
                  </a:cubicBezTo>
                  <a:lnTo>
                    <a:pt x="0" y="298051"/>
                  </a:lnTo>
                  <a:cubicBezTo>
                    <a:pt x="0" y="288090"/>
                    <a:pt x="8074" y="280016"/>
                    <a:pt x="18034" y="280016"/>
                  </a:cubicBezTo>
                  <a:cubicBezTo>
                    <a:pt x="27995" y="280016"/>
                    <a:pt x="36070" y="271941"/>
                    <a:pt x="36070" y="261980"/>
                  </a:cubicBezTo>
                  <a:lnTo>
                    <a:pt x="36070" y="125603"/>
                  </a:lnTo>
                  <a:cubicBezTo>
                    <a:pt x="36070" y="119132"/>
                    <a:pt x="39537" y="113155"/>
                    <a:pt x="45156" y="109945"/>
                  </a:cubicBezTo>
                  <a:lnTo>
                    <a:pt x="225511" y="6871"/>
                  </a:lnTo>
                  <a:cubicBezTo>
                    <a:pt x="237533" y="0"/>
                    <a:pt x="252495" y="8681"/>
                    <a:pt x="252495" y="22530"/>
                  </a:cubicBezTo>
                  <a:lnTo>
                    <a:pt x="252495" y="269549"/>
                  </a:lnTo>
                  <a:cubicBezTo>
                    <a:pt x="252495" y="276021"/>
                    <a:pt x="249027" y="281997"/>
                    <a:pt x="243408" y="285208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4391342" y="1804724"/>
              <a:ext cx="360707" cy="216424"/>
            </a:xfrm>
            <a:custGeom>
              <a:avLst/>
              <a:gdLst/>
              <a:ahLst/>
              <a:cxnLst/>
              <a:rect l="0" t="0" r="0" b="0"/>
              <a:pathLst>
                <a:path w="360707" h="216424">
                  <a:moveTo>
                    <a:pt x="360707" y="198389"/>
                  </a:moveTo>
                  <a:cubicBezTo>
                    <a:pt x="360707" y="208349"/>
                    <a:pt x="352632" y="216424"/>
                    <a:pt x="342671" y="216424"/>
                  </a:cubicBezTo>
                  <a:lnTo>
                    <a:pt x="18034" y="216424"/>
                  </a:lnTo>
                  <a:cubicBezTo>
                    <a:pt x="8074" y="216424"/>
                    <a:pt x="0" y="208349"/>
                    <a:pt x="0" y="198389"/>
                  </a:cubicBezTo>
                  <a:lnTo>
                    <a:pt x="0" y="18034"/>
                  </a:lnTo>
                  <a:cubicBezTo>
                    <a:pt x="0" y="8074"/>
                    <a:pt x="8074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7" y="8074"/>
                    <a:pt x="360707" y="18034"/>
                  </a:cubicBezTo>
                  <a:lnTo>
                    <a:pt x="360707" y="19838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4030638" y="2021148"/>
              <a:ext cx="360707" cy="288565"/>
            </a:xfrm>
            <a:custGeom>
              <a:avLst/>
              <a:gdLst/>
              <a:ahLst/>
              <a:cxnLst/>
              <a:rect l="0" t="0" r="0" b="0"/>
              <a:pathLst>
                <a:path w="360707" h="288565">
                  <a:moveTo>
                    <a:pt x="18034" y="288565"/>
                  </a:moveTo>
                  <a:cubicBezTo>
                    <a:pt x="8074" y="288565"/>
                    <a:pt x="0" y="280490"/>
                    <a:pt x="0" y="270530"/>
                  </a:cubicBezTo>
                  <a:lnTo>
                    <a:pt x="0" y="18034"/>
                  </a:lnTo>
                  <a:cubicBezTo>
                    <a:pt x="0" y="8074"/>
                    <a:pt x="8074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7" y="8074"/>
                    <a:pt x="360707" y="18034"/>
                  </a:cubicBezTo>
                  <a:lnTo>
                    <a:pt x="360707" y="270530"/>
                  </a:lnTo>
                  <a:cubicBezTo>
                    <a:pt x="360707" y="280490"/>
                    <a:pt x="352632" y="288565"/>
                    <a:pt x="342671" y="288565"/>
                  </a:cubicBezTo>
                  <a:lnTo>
                    <a:pt x="18034" y="288565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4030638" y="1371881"/>
            <a:ext cx="1082115" cy="1657027"/>
            <a:chOff x="4030638" y="1371881"/>
            <a:chExt cx="1082115" cy="1657027"/>
          </a:xfrm>
        </p:grpSpPr>
        <p:sp>
          <p:nvSpPr>
            <p:cNvPr id="57" name="Rounded Rectangle 56"/>
            <p:cNvSpPr/>
            <p:nvPr/>
          </p:nvSpPr>
          <p:spPr>
            <a:xfrm>
              <a:off x="4824190" y="2309718"/>
              <a:ext cx="252495" cy="280016"/>
            </a:xfrm>
            <a:custGeom>
              <a:avLst/>
              <a:gdLst/>
              <a:ahLst/>
              <a:cxnLst/>
              <a:rect l="0" t="0" r="0" b="0"/>
              <a:pathLst>
                <a:path w="252495" h="280016">
                  <a:moveTo>
                    <a:pt x="0" y="18034"/>
                  </a:moveTo>
                  <a:cubicBezTo>
                    <a:pt x="0" y="8074"/>
                    <a:pt x="8075" y="0"/>
                    <a:pt x="18035" y="0"/>
                  </a:cubicBezTo>
                  <a:lnTo>
                    <a:pt x="234460" y="0"/>
                  </a:lnTo>
                  <a:cubicBezTo>
                    <a:pt x="244420" y="0"/>
                    <a:pt x="252495" y="8074"/>
                    <a:pt x="252495" y="18034"/>
                  </a:cubicBezTo>
                  <a:lnTo>
                    <a:pt x="252495" y="133816"/>
                  </a:lnTo>
                  <a:cubicBezTo>
                    <a:pt x="252495" y="140289"/>
                    <a:pt x="249027" y="146264"/>
                    <a:pt x="243408" y="149476"/>
                  </a:cubicBezTo>
                  <a:lnTo>
                    <a:pt x="26983" y="273146"/>
                  </a:lnTo>
                  <a:cubicBezTo>
                    <a:pt x="14960" y="280016"/>
                    <a:pt x="0" y="271336"/>
                    <a:pt x="0" y="257487"/>
                  </a:cubicBezTo>
                  <a:close/>
                  <a:moveTo>
                    <a:pt x="0" y="18034"/>
                  </a:moveTo>
                  <a:lnTo>
                    <a:pt x="0" y="257487"/>
                  </a:lnTo>
                  <a:cubicBezTo>
                    <a:pt x="0" y="271336"/>
                    <a:pt x="14960" y="280016"/>
                    <a:pt x="26983" y="273146"/>
                  </a:cubicBezTo>
                  <a:lnTo>
                    <a:pt x="243408" y="149476"/>
                  </a:lnTo>
                  <a:cubicBezTo>
                    <a:pt x="249027" y="146264"/>
                    <a:pt x="252495" y="140289"/>
                    <a:pt x="252495" y="133816"/>
                  </a:cubicBezTo>
                  <a:lnTo>
                    <a:pt x="252495" y="18034"/>
                  </a:lnTo>
                  <a:cubicBezTo>
                    <a:pt x="252495" y="8074"/>
                    <a:pt x="244420" y="0"/>
                    <a:pt x="234460" y="0"/>
                  </a:cubicBezTo>
                  <a:lnTo>
                    <a:pt x="18035" y="0"/>
                  </a:lnTo>
                  <a:cubicBezTo>
                    <a:pt x="8075" y="0"/>
                    <a:pt x="0" y="8074"/>
                    <a:pt x="0" y="18034"/>
                  </a:cubicBezTo>
                  <a:close/>
                  <a:moveTo>
                    <a:pt x="252495" y="18034"/>
                  </a:moveTo>
                  <a:cubicBezTo>
                    <a:pt x="252495" y="8074"/>
                    <a:pt x="244420" y="0"/>
                    <a:pt x="234460" y="0"/>
                  </a:cubicBezTo>
                  <a:lnTo>
                    <a:pt x="18035" y="0"/>
                  </a:lnTo>
                  <a:cubicBezTo>
                    <a:pt x="8075" y="0"/>
                    <a:pt x="0" y="8074"/>
                    <a:pt x="0" y="18034"/>
                  </a:cubicBezTo>
                  <a:lnTo>
                    <a:pt x="0" y="257487"/>
                  </a:lnTo>
                  <a:cubicBezTo>
                    <a:pt x="0" y="271336"/>
                    <a:pt x="14960" y="280016"/>
                    <a:pt x="26983" y="273146"/>
                  </a:cubicBezTo>
                  <a:lnTo>
                    <a:pt x="243408" y="149476"/>
                  </a:lnTo>
                  <a:cubicBezTo>
                    <a:pt x="249027" y="146264"/>
                    <a:pt x="252495" y="140289"/>
                    <a:pt x="252495" y="133816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4030638" y="1371881"/>
              <a:ext cx="360707" cy="216424"/>
            </a:xfrm>
            <a:custGeom>
              <a:avLst/>
              <a:gdLst/>
              <a:ahLst/>
              <a:cxnLst/>
              <a:rect l="0" t="0" r="0" b="0"/>
              <a:pathLst>
                <a:path w="360707" h="216424">
                  <a:moveTo>
                    <a:pt x="18034" y="216424"/>
                  </a:moveTo>
                  <a:cubicBezTo>
                    <a:pt x="8074" y="216424"/>
                    <a:pt x="0" y="208349"/>
                    <a:pt x="0" y="198389"/>
                  </a:cubicBezTo>
                  <a:lnTo>
                    <a:pt x="0" y="18034"/>
                  </a:lnTo>
                  <a:cubicBezTo>
                    <a:pt x="0" y="8074"/>
                    <a:pt x="8074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7" y="8074"/>
                    <a:pt x="360707" y="18034"/>
                  </a:cubicBezTo>
                  <a:lnTo>
                    <a:pt x="360707" y="198389"/>
                  </a:lnTo>
                  <a:cubicBezTo>
                    <a:pt x="360707" y="208349"/>
                    <a:pt x="352632" y="216424"/>
                    <a:pt x="342671" y="216424"/>
                  </a:cubicBezTo>
                  <a:lnTo>
                    <a:pt x="18034" y="216424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4391342" y="1371881"/>
              <a:ext cx="360707" cy="216424"/>
            </a:xfrm>
            <a:custGeom>
              <a:avLst/>
              <a:gdLst/>
              <a:ahLst/>
              <a:cxnLst/>
              <a:rect l="0" t="0" r="0" b="0"/>
              <a:pathLst>
                <a:path w="360707" h="216424">
                  <a:moveTo>
                    <a:pt x="360707" y="198389"/>
                  </a:moveTo>
                  <a:cubicBezTo>
                    <a:pt x="360707" y="208349"/>
                    <a:pt x="352632" y="216424"/>
                    <a:pt x="342671" y="216424"/>
                  </a:cubicBezTo>
                  <a:lnTo>
                    <a:pt x="18034" y="216424"/>
                  </a:lnTo>
                  <a:cubicBezTo>
                    <a:pt x="8074" y="216424"/>
                    <a:pt x="0" y="208349"/>
                    <a:pt x="0" y="198389"/>
                  </a:cubicBezTo>
                  <a:lnTo>
                    <a:pt x="0" y="18034"/>
                  </a:lnTo>
                  <a:cubicBezTo>
                    <a:pt x="0" y="8074"/>
                    <a:pt x="8074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7" y="8074"/>
                    <a:pt x="360707" y="18034"/>
                  </a:cubicBezTo>
                  <a:lnTo>
                    <a:pt x="360707" y="19838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4752047" y="1371881"/>
              <a:ext cx="360706" cy="216424"/>
            </a:xfrm>
            <a:custGeom>
              <a:avLst/>
              <a:gdLst/>
              <a:ahLst/>
              <a:cxnLst/>
              <a:rect l="0" t="0" r="0" b="0"/>
              <a:pathLst>
                <a:path w="360706" h="216424">
                  <a:moveTo>
                    <a:pt x="360706" y="198389"/>
                  </a:moveTo>
                  <a:cubicBezTo>
                    <a:pt x="360706" y="208349"/>
                    <a:pt x="352632" y="216424"/>
                    <a:pt x="342671" y="216424"/>
                  </a:cubicBezTo>
                  <a:lnTo>
                    <a:pt x="18034" y="216424"/>
                  </a:lnTo>
                  <a:cubicBezTo>
                    <a:pt x="8074" y="216424"/>
                    <a:pt x="0" y="208349"/>
                    <a:pt x="0" y="198389"/>
                  </a:cubicBezTo>
                  <a:lnTo>
                    <a:pt x="0" y="18034"/>
                  </a:lnTo>
                  <a:cubicBezTo>
                    <a:pt x="0" y="8074"/>
                    <a:pt x="8074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6" y="8074"/>
                    <a:pt x="360706" y="18034"/>
                  </a:cubicBezTo>
                  <a:lnTo>
                    <a:pt x="360706" y="19838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4030638" y="1588305"/>
              <a:ext cx="360707" cy="216424"/>
            </a:xfrm>
            <a:custGeom>
              <a:avLst/>
              <a:gdLst/>
              <a:ahLst/>
              <a:cxnLst/>
              <a:rect l="0" t="0" r="0" b="0"/>
              <a:pathLst>
                <a:path w="360707" h="216424">
                  <a:moveTo>
                    <a:pt x="18034" y="216424"/>
                  </a:moveTo>
                  <a:cubicBezTo>
                    <a:pt x="8074" y="216424"/>
                    <a:pt x="0" y="208349"/>
                    <a:pt x="0" y="198389"/>
                  </a:cubicBezTo>
                  <a:lnTo>
                    <a:pt x="0" y="18034"/>
                  </a:lnTo>
                  <a:cubicBezTo>
                    <a:pt x="0" y="8074"/>
                    <a:pt x="8074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7" y="8074"/>
                    <a:pt x="360707" y="18034"/>
                  </a:cubicBezTo>
                  <a:lnTo>
                    <a:pt x="360707" y="198389"/>
                  </a:lnTo>
                  <a:cubicBezTo>
                    <a:pt x="360707" y="208349"/>
                    <a:pt x="352632" y="216424"/>
                    <a:pt x="342671" y="216424"/>
                  </a:cubicBezTo>
                  <a:lnTo>
                    <a:pt x="18034" y="216424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4391342" y="1588305"/>
              <a:ext cx="360707" cy="216424"/>
            </a:xfrm>
            <a:custGeom>
              <a:avLst/>
              <a:gdLst/>
              <a:ahLst/>
              <a:cxnLst/>
              <a:rect l="0" t="0" r="0" b="0"/>
              <a:pathLst>
                <a:path w="360707" h="216424">
                  <a:moveTo>
                    <a:pt x="0" y="12023"/>
                  </a:moveTo>
                  <a:cubicBezTo>
                    <a:pt x="0" y="5382"/>
                    <a:pt x="5382" y="0"/>
                    <a:pt x="12023" y="0"/>
                  </a:cubicBezTo>
                  <a:lnTo>
                    <a:pt x="348684" y="0"/>
                  </a:lnTo>
                  <a:cubicBezTo>
                    <a:pt x="355323" y="0"/>
                    <a:pt x="360707" y="5382"/>
                    <a:pt x="360707" y="12023"/>
                  </a:cubicBezTo>
                  <a:lnTo>
                    <a:pt x="360707" y="204400"/>
                  </a:lnTo>
                  <a:cubicBezTo>
                    <a:pt x="360707" y="211041"/>
                    <a:pt x="355323" y="216424"/>
                    <a:pt x="348684" y="216424"/>
                  </a:cubicBezTo>
                  <a:lnTo>
                    <a:pt x="12023" y="216424"/>
                  </a:lnTo>
                  <a:cubicBezTo>
                    <a:pt x="5382" y="216424"/>
                    <a:pt x="0" y="211041"/>
                    <a:pt x="0" y="204400"/>
                  </a:cubicBezTo>
                  <a:lnTo>
                    <a:pt x="0" y="12023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4752047" y="1588305"/>
              <a:ext cx="360706" cy="216424"/>
            </a:xfrm>
            <a:custGeom>
              <a:avLst/>
              <a:gdLst/>
              <a:ahLst/>
              <a:cxnLst/>
              <a:rect l="0" t="0" r="0" b="0"/>
              <a:pathLst>
                <a:path w="360706" h="216424">
                  <a:moveTo>
                    <a:pt x="360706" y="198389"/>
                  </a:moveTo>
                  <a:cubicBezTo>
                    <a:pt x="360706" y="208349"/>
                    <a:pt x="352632" y="216424"/>
                    <a:pt x="342671" y="216424"/>
                  </a:cubicBezTo>
                  <a:lnTo>
                    <a:pt x="18034" y="216424"/>
                  </a:lnTo>
                  <a:cubicBezTo>
                    <a:pt x="8074" y="216424"/>
                    <a:pt x="0" y="208349"/>
                    <a:pt x="0" y="198389"/>
                  </a:cubicBezTo>
                  <a:lnTo>
                    <a:pt x="0" y="18034"/>
                  </a:lnTo>
                  <a:cubicBezTo>
                    <a:pt x="0" y="8074"/>
                    <a:pt x="8074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6" y="8074"/>
                    <a:pt x="360706" y="18034"/>
                  </a:cubicBezTo>
                  <a:lnTo>
                    <a:pt x="360706" y="19838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4030638" y="1804728"/>
              <a:ext cx="360707" cy="216424"/>
            </a:xfrm>
            <a:custGeom>
              <a:avLst/>
              <a:gdLst/>
              <a:ahLst/>
              <a:cxnLst/>
              <a:rect l="0" t="0" r="0" b="0"/>
              <a:pathLst>
                <a:path w="360707" h="216424">
                  <a:moveTo>
                    <a:pt x="18034" y="216424"/>
                  </a:moveTo>
                  <a:cubicBezTo>
                    <a:pt x="8074" y="216424"/>
                    <a:pt x="0" y="208349"/>
                    <a:pt x="0" y="198389"/>
                  </a:cubicBezTo>
                  <a:lnTo>
                    <a:pt x="0" y="18034"/>
                  </a:lnTo>
                  <a:cubicBezTo>
                    <a:pt x="0" y="8074"/>
                    <a:pt x="8074" y="0"/>
                    <a:pt x="18034" y="0"/>
                  </a:cubicBezTo>
                  <a:lnTo>
                    <a:pt x="342671" y="0"/>
                  </a:lnTo>
                  <a:cubicBezTo>
                    <a:pt x="352632" y="0"/>
                    <a:pt x="360707" y="8074"/>
                    <a:pt x="360707" y="18034"/>
                  </a:cubicBezTo>
                  <a:lnTo>
                    <a:pt x="360707" y="198389"/>
                  </a:lnTo>
                  <a:cubicBezTo>
                    <a:pt x="360707" y="208349"/>
                    <a:pt x="352632" y="216424"/>
                    <a:pt x="342671" y="216424"/>
                  </a:cubicBezTo>
                  <a:lnTo>
                    <a:pt x="18034" y="216424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4319200" y="2607346"/>
              <a:ext cx="252485" cy="421562"/>
            </a:xfrm>
            <a:custGeom>
              <a:avLst/>
              <a:gdLst/>
              <a:ahLst/>
              <a:cxnLst/>
              <a:rect l="0" t="0" r="0" b="0"/>
              <a:pathLst>
                <a:path w="252485" h="421562">
                  <a:moveTo>
                    <a:pt x="243547" y="130620"/>
                  </a:moveTo>
                  <a:cubicBezTo>
                    <a:pt x="246316" y="132203"/>
                    <a:pt x="249401" y="132995"/>
                    <a:pt x="252485" y="132996"/>
                  </a:cubicBezTo>
                  <a:lnTo>
                    <a:pt x="252485" y="421562"/>
                  </a:lnTo>
                  <a:cubicBezTo>
                    <a:pt x="249401" y="421561"/>
                    <a:pt x="246316" y="420769"/>
                    <a:pt x="243547" y="419186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1"/>
                    <a:pt x="14960" y="0"/>
                    <a:pt x="26982" y="6869"/>
                  </a:cubicBezTo>
                  <a:lnTo>
                    <a:pt x="243547" y="13062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564633" y="1335277"/>
            <a:ext cx="1510282" cy="863751"/>
            <a:chOff x="5564633" y="1335277"/>
            <a:chExt cx="1510282" cy="863751"/>
          </a:xfrm>
        </p:grpSpPr>
        <p:sp>
          <p:nvSpPr>
            <p:cNvPr id="67" name="Rounded Rectangle 66"/>
            <p:cNvSpPr/>
            <p:nvPr/>
          </p:nvSpPr>
          <p:spPr>
            <a:xfrm>
              <a:off x="6082527" y="1335277"/>
              <a:ext cx="474415" cy="284676"/>
            </a:xfrm>
            <a:custGeom>
              <a:avLst/>
              <a:gdLst/>
              <a:ahLst/>
              <a:cxnLst/>
              <a:rect l="0" t="0" r="0" b="0"/>
              <a:pathLst>
                <a:path w="474415" h="284676">
                  <a:moveTo>
                    <a:pt x="462300" y="126679"/>
                  </a:moveTo>
                  <a:cubicBezTo>
                    <a:pt x="474415" y="133602"/>
                    <a:pt x="474415" y="151073"/>
                    <a:pt x="462300" y="157997"/>
                  </a:cubicBezTo>
                  <a:lnTo>
                    <a:pt x="246156" y="281507"/>
                  </a:lnTo>
                  <a:cubicBezTo>
                    <a:pt x="240611" y="284676"/>
                    <a:pt x="233804" y="284676"/>
                    <a:pt x="228260" y="281507"/>
                  </a:cubicBezTo>
                  <a:lnTo>
                    <a:pt x="12115" y="157997"/>
                  </a:lnTo>
                  <a:cubicBezTo>
                    <a:pt x="0" y="151073"/>
                    <a:pt x="0" y="133602"/>
                    <a:pt x="12115" y="126679"/>
                  </a:cubicBezTo>
                  <a:lnTo>
                    <a:pt x="228260" y="3168"/>
                  </a:lnTo>
                  <a:cubicBezTo>
                    <a:pt x="233804" y="0"/>
                    <a:pt x="240611" y="0"/>
                    <a:pt x="246156" y="3168"/>
                  </a:cubicBezTo>
                  <a:lnTo>
                    <a:pt x="462300" y="12667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6335022" y="1479558"/>
              <a:ext cx="474415" cy="284676"/>
            </a:xfrm>
            <a:custGeom>
              <a:avLst/>
              <a:gdLst/>
              <a:ahLst/>
              <a:cxnLst/>
              <a:rect l="0" t="0" r="0" b="0"/>
              <a:pathLst>
                <a:path w="474415" h="284676">
                  <a:moveTo>
                    <a:pt x="12115" y="126679"/>
                  </a:moveTo>
                  <a:cubicBezTo>
                    <a:pt x="0" y="133602"/>
                    <a:pt x="0" y="151073"/>
                    <a:pt x="12115" y="157997"/>
                  </a:cubicBezTo>
                  <a:lnTo>
                    <a:pt x="228260" y="281507"/>
                  </a:lnTo>
                  <a:cubicBezTo>
                    <a:pt x="233804" y="284676"/>
                    <a:pt x="240611" y="284676"/>
                    <a:pt x="246156" y="281507"/>
                  </a:cubicBezTo>
                  <a:lnTo>
                    <a:pt x="462299" y="157997"/>
                  </a:lnTo>
                  <a:cubicBezTo>
                    <a:pt x="474415" y="151073"/>
                    <a:pt x="474415" y="133602"/>
                    <a:pt x="462299" y="126679"/>
                  </a:cubicBezTo>
                  <a:lnTo>
                    <a:pt x="246156" y="3168"/>
                  </a:lnTo>
                  <a:cubicBezTo>
                    <a:pt x="240611" y="0"/>
                    <a:pt x="233804" y="0"/>
                    <a:pt x="228260" y="3168"/>
                  </a:cubicBezTo>
                  <a:lnTo>
                    <a:pt x="12115" y="126679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6067180" y="1623843"/>
              <a:ext cx="489764" cy="286718"/>
            </a:xfrm>
            <a:custGeom>
              <a:avLst/>
              <a:gdLst/>
              <a:ahLst/>
              <a:cxnLst/>
              <a:rect l="0" t="0" r="0" b="0"/>
              <a:pathLst>
                <a:path w="489764" h="286718">
                  <a:moveTo>
                    <a:pt x="61" y="142338"/>
                  </a:moveTo>
                  <a:lnTo>
                    <a:pt x="252556" y="286621"/>
                  </a:lnTo>
                  <a:cubicBezTo>
                    <a:pt x="252385" y="286718"/>
                    <a:pt x="252174" y="286718"/>
                    <a:pt x="252003" y="286620"/>
                  </a:cubicBezTo>
                  <a:lnTo>
                    <a:pt x="61" y="142496"/>
                  </a:lnTo>
                  <a:cubicBezTo>
                    <a:pt x="0" y="142461"/>
                    <a:pt x="0" y="142373"/>
                    <a:pt x="61" y="142338"/>
                  </a:cubicBezTo>
                  <a:close/>
                  <a:moveTo>
                    <a:pt x="252556" y="286621"/>
                  </a:moveTo>
                  <a:lnTo>
                    <a:pt x="61" y="142338"/>
                  </a:lnTo>
                  <a:cubicBezTo>
                    <a:pt x="0" y="142373"/>
                    <a:pt x="0" y="142461"/>
                    <a:pt x="61" y="142496"/>
                  </a:cubicBezTo>
                  <a:lnTo>
                    <a:pt x="252003" y="286620"/>
                  </a:lnTo>
                  <a:cubicBezTo>
                    <a:pt x="252174" y="286718"/>
                    <a:pt x="252385" y="286718"/>
                    <a:pt x="252556" y="286621"/>
                  </a:cubicBezTo>
                  <a:close/>
                  <a:moveTo>
                    <a:pt x="61" y="142338"/>
                  </a:moveTo>
                  <a:lnTo>
                    <a:pt x="252556" y="286621"/>
                  </a:lnTo>
                  <a:cubicBezTo>
                    <a:pt x="252385" y="286718"/>
                    <a:pt x="252174" y="286718"/>
                    <a:pt x="252003" y="286620"/>
                  </a:cubicBezTo>
                  <a:lnTo>
                    <a:pt x="61" y="142496"/>
                  </a:lnTo>
                  <a:cubicBezTo>
                    <a:pt x="0" y="142461"/>
                    <a:pt x="0" y="142373"/>
                    <a:pt x="61" y="142338"/>
                  </a:cubicBezTo>
                  <a:close/>
                  <a:moveTo>
                    <a:pt x="252003" y="286620"/>
                  </a:moveTo>
                  <a:lnTo>
                    <a:pt x="61" y="142496"/>
                  </a:lnTo>
                  <a:cubicBezTo>
                    <a:pt x="0" y="142461"/>
                    <a:pt x="0" y="142373"/>
                    <a:pt x="61" y="142338"/>
                  </a:cubicBezTo>
                  <a:lnTo>
                    <a:pt x="252556" y="286621"/>
                  </a:lnTo>
                  <a:cubicBezTo>
                    <a:pt x="252385" y="286718"/>
                    <a:pt x="252174" y="286718"/>
                    <a:pt x="252003" y="286620"/>
                  </a:cubicBezTo>
                  <a:close/>
                  <a:moveTo>
                    <a:pt x="243608" y="3168"/>
                  </a:moveTo>
                  <a:cubicBezTo>
                    <a:pt x="249153" y="0"/>
                    <a:pt x="255960" y="0"/>
                    <a:pt x="261504" y="3168"/>
                  </a:cubicBezTo>
                  <a:lnTo>
                    <a:pt x="477647" y="126679"/>
                  </a:lnTo>
                  <a:cubicBezTo>
                    <a:pt x="489764" y="133602"/>
                    <a:pt x="489764" y="151073"/>
                    <a:pt x="477647" y="157997"/>
                  </a:cubicBezTo>
                  <a:lnTo>
                    <a:pt x="252556" y="286621"/>
                  </a:lnTo>
                  <a:lnTo>
                    <a:pt x="61" y="142338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6587517" y="1623843"/>
              <a:ext cx="487398" cy="288013"/>
            </a:xfrm>
            <a:custGeom>
              <a:avLst/>
              <a:gdLst/>
              <a:ahLst/>
              <a:cxnLst/>
              <a:rect l="0" t="0" r="0" b="0"/>
              <a:pathLst>
                <a:path w="487398" h="288013">
                  <a:moveTo>
                    <a:pt x="480615" y="137145"/>
                  </a:moveTo>
                  <a:lnTo>
                    <a:pt x="246156" y="3168"/>
                  </a:lnTo>
                  <a:cubicBezTo>
                    <a:pt x="240611" y="0"/>
                    <a:pt x="233804" y="0"/>
                    <a:pt x="228260" y="3168"/>
                  </a:cubicBezTo>
                  <a:lnTo>
                    <a:pt x="12115" y="126679"/>
                  </a:lnTo>
                  <a:cubicBezTo>
                    <a:pt x="0" y="133602"/>
                    <a:pt x="0" y="151073"/>
                    <a:pt x="12115" y="157997"/>
                  </a:cubicBezTo>
                  <a:lnTo>
                    <a:pt x="228120" y="281429"/>
                  </a:lnTo>
                  <a:cubicBezTo>
                    <a:pt x="230922" y="283029"/>
                    <a:pt x="233189" y="285318"/>
                    <a:pt x="234758" y="288013"/>
                  </a:cubicBezTo>
                  <a:lnTo>
                    <a:pt x="487398" y="143983"/>
                  </a:lnTo>
                  <a:cubicBezTo>
                    <a:pt x="485825" y="141178"/>
                    <a:pt x="483504" y="138796"/>
                    <a:pt x="480615" y="137145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6335022" y="1767982"/>
              <a:ext cx="487398" cy="288013"/>
            </a:xfrm>
            <a:custGeom>
              <a:avLst/>
              <a:gdLst/>
              <a:ahLst/>
              <a:cxnLst/>
              <a:rect l="0" t="0" r="0" b="0"/>
              <a:pathLst>
                <a:path w="487398" h="288013">
                  <a:moveTo>
                    <a:pt x="480615" y="137145"/>
                  </a:moveTo>
                  <a:lnTo>
                    <a:pt x="246156" y="3168"/>
                  </a:lnTo>
                  <a:cubicBezTo>
                    <a:pt x="240611" y="0"/>
                    <a:pt x="233804" y="0"/>
                    <a:pt x="228260" y="3168"/>
                  </a:cubicBezTo>
                  <a:lnTo>
                    <a:pt x="12115" y="126679"/>
                  </a:lnTo>
                  <a:cubicBezTo>
                    <a:pt x="0" y="133602"/>
                    <a:pt x="0" y="151073"/>
                    <a:pt x="12115" y="157997"/>
                  </a:cubicBezTo>
                  <a:lnTo>
                    <a:pt x="228120" y="281429"/>
                  </a:lnTo>
                  <a:cubicBezTo>
                    <a:pt x="230922" y="283029"/>
                    <a:pt x="233189" y="285318"/>
                    <a:pt x="234758" y="288013"/>
                  </a:cubicBezTo>
                  <a:lnTo>
                    <a:pt x="487398" y="143983"/>
                  </a:lnTo>
                  <a:cubicBezTo>
                    <a:pt x="485825" y="141178"/>
                    <a:pt x="483504" y="138796"/>
                    <a:pt x="480615" y="137145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6069614" y="1912570"/>
              <a:ext cx="502802" cy="286458"/>
            </a:xfrm>
            <a:custGeom>
              <a:avLst/>
              <a:gdLst/>
              <a:ahLst/>
              <a:cxnLst/>
              <a:rect l="0" t="0" r="0" b="0"/>
              <a:pathLst>
                <a:path w="502802" h="286458">
                  <a:moveTo>
                    <a:pt x="502618" y="142652"/>
                  </a:moveTo>
                  <a:cubicBezTo>
                    <a:pt x="502618" y="142441"/>
                    <a:pt x="502802" y="142548"/>
                    <a:pt x="502618" y="142652"/>
                  </a:cubicBezTo>
                  <a:close/>
                  <a:moveTo>
                    <a:pt x="502618" y="142652"/>
                  </a:moveTo>
                  <a:cubicBezTo>
                    <a:pt x="502802" y="142548"/>
                    <a:pt x="502618" y="142441"/>
                    <a:pt x="502618" y="142652"/>
                  </a:cubicBezTo>
                  <a:close/>
                  <a:moveTo>
                    <a:pt x="502618" y="142652"/>
                  </a:moveTo>
                  <a:cubicBezTo>
                    <a:pt x="502802" y="142548"/>
                    <a:pt x="502618" y="142441"/>
                    <a:pt x="502618" y="142652"/>
                  </a:cubicBezTo>
                  <a:close/>
                  <a:moveTo>
                    <a:pt x="502618" y="142652"/>
                  </a:moveTo>
                  <a:cubicBezTo>
                    <a:pt x="502802" y="142548"/>
                    <a:pt x="502618" y="142441"/>
                    <a:pt x="502618" y="142652"/>
                  </a:cubicBezTo>
                  <a:close/>
                  <a:moveTo>
                    <a:pt x="502618" y="142652"/>
                  </a:moveTo>
                  <a:lnTo>
                    <a:pt x="258798" y="3173"/>
                  </a:lnTo>
                  <a:cubicBezTo>
                    <a:pt x="253252" y="0"/>
                    <a:pt x="246442" y="0"/>
                    <a:pt x="240894" y="3169"/>
                  </a:cubicBezTo>
                  <a:lnTo>
                    <a:pt x="6716" y="136986"/>
                  </a:lnTo>
                  <a:cubicBezTo>
                    <a:pt x="3867" y="138613"/>
                    <a:pt x="1571" y="140952"/>
                    <a:pt x="0" y="143706"/>
                  </a:cubicBezTo>
                  <a:lnTo>
                    <a:pt x="250252" y="286458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5564633" y="1623842"/>
              <a:ext cx="487200" cy="288067"/>
            </a:xfrm>
            <a:custGeom>
              <a:avLst/>
              <a:gdLst/>
              <a:ahLst/>
              <a:cxnLst/>
              <a:rect l="0" t="0" r="0" b="0"/>
              <a:pathLst>
                <a:path w="487200" h="288067">
                  <a:moveTo>
                    <a:pt x="475091" y="126752"/>
                  </a:moveTo>
                  <a:lnTo>
                    <a:pt x="259065" y="3173"/>
                  </a:lnTo>
                  <a:cubicBezTo>
                    <a:pt x="253520" y="0"/>
                    <a:pt x="246710" y="0"/>
                    <a:pt x="241162" y="3169"/>
                  </a:cubicBezTo>
                  <a:lnTo>
                    <a:pt x="6707" y="137143"/>
                  </a:lnTo>
                  <a:cubicBezTo>
                    <a:pt x="3864" y="138769"/>
                    <a:pt x="1571" y="141102"/>
                    <a:pt x="0" y="143849"/>
                  </a:cubicBezTo>
                  <a:lnTo>
                    <a:pt x="252531" y="288067"/>
                  </a:lnTo>
                  <a:cubicBezTo>
                    <a:pt x="254102" y="285348"/>
                    <a:pt x="256381" y="283039"/>
                    <a:pt x="259202" y="281427"/>
                  </a:cubicBezTo>
                  <a:lnTo>
                    <a:pt x="475084" y="158065"/>
                  </a:lnTo>
                  <a:cubicBezTo>
                    <a:pt x="487197" y="151144"/>
                    <a:pt x="487200" y="133679"/>
                    <a:pt x="475091" y="126752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5817128" y="1768123"/>
              <a:ext cx="487200" cy="288067"/>
            </a:xfrm>
            <a:custGeom>
              <a:avLst/>
              <a:gdLst/>
              <a:ahLst/>
              <a:cxnLst/>
              <a:rect l="0" t="0" r="0" b="0"/>
              <a:pathLst>
                <a:path w="487200" h="288067">
                  <a:moveTo>
                    <a:pt x="475091" y="126752"/>
                  </a:moveTo>
                  <a:lnTo>
                    <a:pt x="259065" y="3173"/>
                  </a:lnTo>
                  <a:cubicBezTo>
                    <a:pt x="253520" y="0"/>
                    <a:pt x="246710" y="0"/>
                    <a:pt x="241162" y="3169"/>
                  </a:cubicBezTo>
                  <a:lnTo>
                    <a:pt x="6707" y="137143"/>
                  </a:lnTo>
                  <a:cubicBezTo>
                    <a:pt x="3864" y="138769"/>
                    <a:pt x="1571" y="141101"/>
                    <a:pt x="0" y="143849"/>
                  </a:cubicBezTo>
                  <a:lnTo>
                    <a:pt x="252532" y="288067"/>
                  </a:lnTo>
                  <a:cubicBezTo>
                    <a:pt x="254102" y="285348"/>
                    <a:pt x="256381" y="283039"/>
                    <a:pt x="259202" y="281427"/>
                  </a:cubicBezTo>
                  <a:lnTo>
                    <a:pt x="475084" y="158065"/>
                  </a:lnTo>
                  <a:cubicBezTo>
                    <a:pt x="487197" y="151144"/>
                    <a:pt x="487200" y="133679"/>
                    <a:pt x="475091" y="126752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5814748" y="1479558"/>
              <a:ext cx="489703" cy="286670"/>
            </a:xfrm>
            <a:custGeom>
              <a:avLst/>
              <a:gdLst/>
              <a:ahLst/>
              <a:cxnLst/>
              <a:rect l="0" t="0" r="0" b="0"/>
              <a:pathLst>
                <a:path w="489703" h="286670">
                  <a:moveTo>
                    <a:pt x="252495" y="286621"/>
                  </a:moveTo>
                  <a:cubicBezTo>
                    <a:pt x="252409" y="286670"/>
                    <a:pt x="252304" y="286670"/>
                    <a:pt x="252219" y="286621"/>
                  </a:cubicBezTo>
                  <a:lnTo>
                    <a:pt x="0" y="142338"/>
                  </a:lnTo>
                  <a:lnTo>
                    <a:pt x="243547" y="3168"/>
                  </a:lnTo>
                  <a:cubicBezTo>
                    <a:pt x="249091" y="0"/>
                    <a:pt x="255898" y="0"/>
                    <a:pt x="261443" y="3168"/>
                  </a:cubicBezTo>
                  <a:lnTo>
                    <a:pt x="477586" y="126679"/>
                  </a:lnTo>
                  <a:cubicBezTo>
                    <a:pt x="489703" y="133602"/>
                    <a:pt x="489703" y="151073"/>
                    <a:pt x="477586" y="157997"/>
                  </a:cubicBezTo>
                  <a:close/>
                  <a:moveTo>
                    <a:pt x="252495" y="286621"/>
                  </a:moveTo>
                  <a:lnTo>
                    <a:pt x="477586" y="157997"/>
                  </a:lnTo>
                  <a:cubicBezTo>
                    <a:pt x="489703" y="151073"/>
                    <a:pt x="489703" y="133602"/>
                    <a:pt x="477586" y="126679"/>
                  </a:cubicBezTo>
                  <a:lnTo>
                    <a:pt x="261443" y="3168"/>
                  </a:lnTo>
                  <a:cubicBezTo>
                    <a:pt x="255898" y="0"/>
                    <a:pt x="249091" y="0"/>
                    <a:pt x="243547" y="3168"/>
                  </a:cubicBezTo>
                  <a:lnTo>
                    <a:pt x="0" y="142338"/>
                  </a:lnTo>
                  <a:lnTo>
                    <a:pt x="252219" y="286621"/>
                  </a:lnTo>
                  <a:cubicBezTo>
                    <a:pt x="252304" y="286670"/>
                    <a:pt x="252409" y="286670"/>
                    <a:pt x="252495" y="286621"/>
                  </a:cubicBezTo>
                  <a:close/>
                  <a:moveTo>
                    <a:pt x="252495" y="286621"/>
                  </a:moveTo>
                  <a:cubicBezTo>
                    <a:pt x="252409" y="286670"/>
                    <a:pt x="252304" y="286670"/>
                    <a:pt x="252219" y="286621"/>
                  </a:cubicBezTo>
                  <a:lnTo>
                    <a:pt x="0" y="142338"/>
                  </a:lnTo>
                  <a:close/>
                  <a:moveTo>
                    <a:pt x="477586" y="157997"/>
                  </a:moveTo>
                  <a:cubicBezTo>
                    <a:pt x="489703" y="151073"/>
                    <a:pt x="489703" y="133602"/>
                    <a:pt x="477586" y="126679"/>
                  </a:cubicBezTo>
                  <a:lnTo>
                    <a:pt x="261443" y="3168"/>
                  </a:lnTo>
                  <a:cubicBezTo>
                    <a:pt x="255898" y="0"/>
                    <a:pt x="249091" y="0"/>
                    <a:pt x="243547" y="3168"/>
                  </a:cubicBezTo>
                  <a:lnTo>
                    <a:pt x="0" y="142338"/>
                  </a:lnTo>
                  <a:lnTo>
                    <a:pt x="252219" y="286621"/>
                  </a:lnTo>
                  <a:cubicBezTo>
                    <a:pt x="252304" y="286670"/>
                    <a:pt x="252409" y="286670"/>
                    <a:pt x="252495" y="286621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5562254" y="1767701"/>
            <a:ext cx="757613" cy="1297020"/>
            <a:chOff x="5562254" y="1767701"/>
            <a:chExt cx="757613" cy="1297020"/>
          </a:xfrm>
        </p:grpSpPr>
        <p:sp>
          <p:nvSpPr>
            <p:cNvPr id="77" name="Rounded Rectangle 76"/>
            <p:cNvSpPr/>
            <p:nvPr/>
          </p:nvSpPr>
          <p:spPr>
            <a:xfrm>
              <a:off x="5814749" y="2207590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6982" y="6869"/>
                  </a:moveTo>
                  <a:cubicBezTo>
                    <a:pt x="14960" y="0"/>
                    <a:pt x="0" y="8680"/>
                    <a:pt x="0" y="22529"/>
                  </a:cubicBez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2" y="408880"/>
                  </a:lnTo>
                  <a:cubicBezTo>
                    <a:pt x="237534" y="415751"/>
                    <a:pt x="252495" y="407069"/>
                    <a:pt x="252495" y="393221"/>
                  </a:cubicBezTo>
                  <a:lnTo>
                    <a:pt x="252495" y="146200"/>
                  </a:lnTo>
                  <a:cubicBezTo>
                    <a:pt x="252495" y="139727"/>
                    <a:pt x="249027" y="133752"/>
                    <a:pt x="243408" y="130540"/>
                  </a:cubicBezTo>
                  <a:close/>
                  <a:moveTo>
                    <a:pt x="0" y="22529"/>
                  </a:moveTo>
                  <a:cubicBezTo>
                    <a:pt x="0" y="8680"/>
                    <a:pt x="14960" y="0"/>
                    <a:pt x="26982" y="6869"/>
                  </a:cubicBezTo>
                  <a:lnTo>
                    <a:pt x="243408" y="130540"/>
                  </a:lnTo>
                  <a:cubicBezTo>
                    <a:pt x="249027" y="133752"/>
                    <a:pt x="252495" y="139727"/>
                    <a:pt x="252495" y="146200"/>
                  </a:cubicBezTo>
                  <a:lnTo>
                    <a:pt x="252495" y="393221"/>
                  </a:lnTo>
                  <a:cubicBezTo>
                    <a:pt x="252495" y="407069"/>
                    <a:pt x="237534" y="415751"/>
                    <a:pt x="225512" y="408880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close/>
                  <a:moveTo>
                    <a:pt x="0" y="22529"/>
                  </a:move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2" y="408880"/>
                  </a:lnTo>
                  <a:cubicBezTo>
                    <a:pt x="237534" y="415751"/>
                    <a:pt x="252495" y="407069"/>
                    <a:pt x="252495" y="393221"/>
                  </a:cubicBezTo>
                  <a:lnTo>
                    <a:pt x="252495" y="146200"/>
                  </a:lnTo>
                  <a:cubicBezTo>
                    <a:pt x="252495" y="139727"/>
                    <a:pt x="249027" y="133752"/>
                    <a:pt x="243408" y="130540"/>
                  </a:cubicBezTo>
                  <a:lnTo>
                    <a:pt x="26982" y="6869"/>
                  </a:lnTo>
                  <a:cubicBezTo>
                    <a:pt x="14960" y="0"/>
                    <a:pt x="0" y="8680"/>
                    <a:pt x="0" y="2252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5814749" y="2496151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6982" y="6869"/>
                  </a:moveTo>
                  <a:cubicBezTo>
                    <a:pt x="14960" y="0"/>
                    <a:pt x="0" y="8680"/>
                    <a:pt x="0" y="22529"/>
                  </a:cubicBez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2" y="408880"/>
                  </a:lnTo>
                  <a:cubicBezTo>
                    <a:pt x="237534" y="415751"/>
                    <a:pt x="252495" y="407069"/>
                    <a:pt x="252495" y="393221"/>
                  </a:cubicBezTo>
                  <a:lnTo>
                    <a:pt x="252495" y="146200"/>
                  </a:lnTo>
                  <a:cubicBezTo>
                    <a:pt x="252495" y="139727"/>
                    <a:pt x="249027" y="133752"/>
                    <a:pt x="243408" y="130540"/>
                  </a:cubicBezTo>
                  <a:close/>
                  <a:moveTo>
                    <a:pt x="252495" y="393221"/>
                  </a:moveTo>
                  <a:cubicBezTo>
                    <a:pt x="252495" y="407069"/>
                    <a:pt x="237534" y="415751"/>
                    <a:pt x="225512" y="408880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0"/>
                    <a:pt x="14960" y="0"/>
                    <a:pt x="26982" y="6869"/>
                  </a:cubicBezTo>
                  <a:lnTo>
                    <a:pt x="243408" y="130540"/>
                  </a:lnTo>
                  <a:cubicBezTo>
                    <a:pt x="249027" y="133752"/>
                    <a:pt x="252495" y="139727"/>
                    <a:pt x="252495" y="146200"/>
                  </a:cubicBezTo>
                  <a:close/>
                  <a:moveTo>
                    <a:pt x="252495" y="146200"/>
                  </a:moveTo>
                  <a:lnTo>
                    <a:pt x="252495" y="393221"/>
                  </a:lnTo>
                  <a:cubicBezTo>
                    <a:pt x="252495" y="407069"/>
                    <a:pt x="237534" y="415751"/>
                    <a:pt x="225512" y="408880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0"/>
                    <a:pt x="14960" y="0"/>
                    <a:pt x="26982" y="6869"/>
                  </a:cubicBezTo>
                  <a:lnTo>
                    <a:pt x="243408" y="130540"/>
                  </a:lnTo>
                  <a:cubicBezTo>
                    <a:pt x="249027" y="133752"/>
                    <a:pt x="252495" y="139727"/>
                    <a:pt x="252495" y="146200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5562254" y="2063304"/>
              <a:ext cx="252495" cy="415752"/>
            </a:xfrm>
            <a:custGeom>
              <a:avLst/>
              <a:gdLst/>
              <a:ahLst/>
              <a:cxnLst/>
              <a:rect l="0" t="0" r="0" b="0"/>
              <a:pathLst>
                <a:path w="252495" h="415752">
                  <a:moveTo>
                    <a:pt x="252495" y="146202"/>
                  </a:moveTo>
                  <a:cubicBezTo>
                    <a:pt x="252495" y="139729"/>
                    <a:pt x="249027" y="133754"/>
                    <a:pt x="243408" y="130542"/>
                  </a:cubicBezTo>
                  <a:lnTo>
                    <a:pt x="26983" y="6869"/>
                  </a:lnTo>
                  <a:cubicBezTo>
                    <a:pt x="14960" y="0"/>
                    <a:pt x="0" y="8680"/>
                    <a:pt x="0" y="22529"/>
                  </a:cubicBezTo>
                  <a:lnTo>
                    <a:pt x="0" y="269550"/>
                  </a:lnTo>
                  <a:cubicBezTo>
                    <a:pt x="0" y="276022"/>
                    <a:pt x="3467" y="281998"/>
                    <a:pt x="9086" y="285209"/>
                  </a:cubicBezTo>
                  <a:lnTo>
                    <a:pt x="225511" y="408881"/>
                  </a:lnTo>
                  <a:cubicBezTo>
                    <a:pt x="237534" y="415752"/>
                    <a:pt x="252495" y="407071"/>
                    <a:pt x="252495" y="393223"/>
                  </a:cubicBezTo>
                  <a:lnTo>
                    <a:pt x="252495" y="146202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5562254" y="2351870"/>
              <a:ext cx="252495" cy="415753"/>
            </a:xfrm>
            <a:custGeom>
              <a:avLst/>
              <a:gdLst/>
              <a:ahLst/>
              <a:cxnLst/>
              <a:rect l="0" t="0" r="0" b="0"/>
              <a:pathLst>
                <a:path w="252495" h="415753">
                  <a:moveTo>
                    <a:pt x="252495" y="146202"/>
                  </a:moveTo>
                  <a:cubicBezTo>
                    <a:pt x="252495" y="139730"/>
                    <a:pt x="249027" y="133754"/>
                    <a:pt x="243408" y="130543"/>
                  </a:cubicBezTo>
                  <a:lnTo>
                    <a:pt x="26983" y="6869"/>
                  </a:lnTo>
                  <a:cubicBezTo>
                    <a:pt x="14960" y="0"/>
                    <a:pt x="0" y="8680"/>
                    <a:pt x="0" y="22529"/>
                  </a:cubicBezTo>
                  <a:lnTo>
                    <a:pt x="0" y="269553"/>
                  </a:lnTo>
                  <a:cubicBezTo>
                    <a:pt x="0" y="276025"/>
                    <a:pt x="3467" y="282001"/>
                    <a:pt x="9086" y="285212"/>
                  </a:cubicBezTo>
                  <a:lnTo>
                    <a:pt x="225512" y="408883"/>
                  </a:lnTo>
                  <a:cubicBezTo>
                    <a:pt x="237534" y="415753"/>
                    <a:pt x="252495" y="407072"/>
                    <a:pt x="252495" y="393224"/>
                  </a:cubicBezTo>
                  <a:lnTo>
                    <a:pt x="252495" y="146202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5562254" y="1767701"/>
              <a:ext cx="254911" cy="422790"/>
            </a:xfrm>
            <a:custGeom>
              <a:avLst/>
              <a:gdLst/>
              <a:ahLst/>
              <a:cxnLst/>
              <a:rect l="0" t="0" r="0" b="0"/>
              <a:pathLst>
                <a:path w="254911" h="422790">
                  <a:moveTo>
                    <a:pt x="2379" y="0"/>
                  </a:moveTo>
                  <a:lnTo>
                    <a:pt x="254911" y="144219"/>
                  </a:lnTo>
                  <a:cubicBezTo>
                    <a:pt x="253354" y="146915"/>
                    <a:pt x="252495" y="150014"/>
                    <a:pt x="252495" y="153236"/>
                  </a:cubicBezTo>
                  <a:lnTo>
                    <a:pt x="252495" y="400261"/>
                  </a:lnTo>
                  <a:cubicBezTo>
                    <a:pt x="252495" y="414108"/>
                    <a:pt x="237534" y="422790"/>
                    <a:pt x="225511" y="415919"/>
                  </a:cubicBezTo>
                  <a:lnTo>
                    <a:pt x="9086" y="292246"/>
                  </a:lnTo>
                  <a:cubicBezTo>
                    <a:pt x="3467" y="289035"/>
                    <a:pt x="0" y="283059"/>
                    <a:pt x="0" y="276587"/>
                  </a:cubicBezTo>
                  <a:lnTo>
                    <a:pt x="0" y="8953"/>
                  </a:lnTo>
                  <a:cubicBezTo>
                    <a:pt x="0" y="5756"/>
                    <a:pt x="845" y="2681"/>
                    <a:pt x="2379" y="0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5814749" y="1911982"/>
              <a:ext cx="254911" cy="422790"/>
            </a:xfrm>
            <a:custGeom>
              <a:avLst/>
              <a:gdLst/>
              <a:ahLst/>
              <a:cxnLst/>
              <a:rect l="0" t="0" r="0" b="0"/>
              <a:pathLst>
                <a:path w="254911" h="422790">
                  <a:moveTo>
                    <a:pt x="252495" y="153236"/>
                  </a:moveTo>
                  <a:lnTo>
                    <a:pt x="252495" y="400261"/>
                  </a:lnTo>
                  <a:cubicBezTo>
                    <a:pt x="252495" y="414108"/>
                    <a:pt x="237534" y="422790"/>
                    <a:pt x="225511" y="415919"/>
                  </a:cubicBezTo>
                  <a:lnTo>
                    <a:pt x="9086" y="292246"/>
                  </a:lnTo>
                  <a:cubicBezTo>
                    <a:pt x="3467" y="289035"/>
                    <a:pt x="0" y="283059"/>
                    <a:pt x="0" y="276587"/>
                  </a:cubicBezTo>
                  <a:lnTo>
                    <a:pt x="0" y="8953"/>
                  </a:lnTo>
                  <a:cubicBezTo>
                    <a:pt x="0" y="5756"/>
                    <a:pt x="845" y="2681"/>
                    <a:pt x="2379" y="0"/>
                  </a:cubicBezTo>
                  <a:lnTo>
                    <a:pt x="254911" y="144219"/>
                  </a:lnTo>
                  <a:cubicBezTo>
                    <a:pt x="253354" y="146915"/>
                    <a:pt x="252495" y="150014"/>
                    <a:pt x="252495" y="153236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6067244" y="2056286"/>
              <a:ext cx="252623" cy="428606"/>
            </a:xfrm>
            <a:custGeom>
              <a:avLst/>
              <a:gdLst/>
              <a:ahLst/>
              <a:cxnLst/>
              <a:rect l="0" t="0" r="0" b="0"/>
              <a:pathLst>
                <a:path w="252623" h="428606">
                  <a:moveTo>
                    <a:pt x="0" y="276572"/>
                  </a:moveTo>
                  <a:lnTo>
                    <a:pt x="0" y="8939"/>
                  </a:lnTo>
                  <a:cubicBezTo>
                    <a:pt x="0" y="5748"/>
                    <a:pt x="842" y="2677"/>
                    <a:pt x="2371" y="0"/>
                  </a:cubicBezTo>
                  <a:lnTo>
                    <a:pt x="252623" y="142752"/>
                  </a:lnTo>
                  <a:lnTo>
                    <a:pt x="252623" y="428584"/>
                  </a:lnTo>
                  <a:cubicBezTo>
                    <a:pt x="249493" y="428606"/>
                    <a:pt x="246357" y="427814"/>
                    <a:pt x="243547" y="426207"/>
                  </a:cubicBezTo>
                  <a:lnTo>
                    <a:pt x="9086" y="292231"/>
                  </a:lnTo>
                  <a:cubicBezTo>
                    <a:pt x="3467" y="289020"/>
                    <a:pt x="0" y="283044"/>
                    <a:pt x="0" y="276572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6067244" y="2351870"/>
              <a:ext cx="252485" cy="421562"/>
            </a:xfrm>
            <a:custGeom>
              <a:avLst/>
              <a:gdLst/>
              <a:ahLst/>
              <a:cxnLst/>
              <a:rect l="0" t="0" r="0" b="0"/>
              <a:pathLst>
                <a:path w="252485" h="421562">
                  <a:moveTo>
                    <a:pt x="243547" y="130620"/>
                  </a:moveTo>
                  <a:cubicBezTo>
                    <a:pt x="246316" y="132203"/>
                    <a:pt x="249400" y="132994"/>
                    <a:pt x="252485" y="132996"/>
                  </a:cubicBezTo>
                  <a:lnTo>
                    <a:pt x="252485" y="421562"/>
                  </a:lnTo>
                  <a:cubicBezTo>
                    <a:pt x="249400" y="421560"/>
                    <a:pt x="246316" y="420769"/>
                    <a:pt x="243547" y="419186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0"/>
                    <a:pt x="14960" y="0"/>
                    <a:pt x="26983" y="6869"/>
                  </a:cubicBezTo>
                  <a:lnTo>
                    <a:pt x="243547" y="13062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6067244" y="2643159"/>
              <a:ext cx="252485" cy="421562"/>
            </a:xfrm>
            <a:custGeom>
              <a:avLst/>
              <a:gdLst/>
              <a:ahLst/>
              <a:cxnLst/>
              <a:rect l="0" t="0" r="0" b="0"/>
              <a:pathLst>
                <a:path w="252485" h="421562">
                  <a:moveTo>
                    <a:pt x="243547" y="130620"/>
                  </a:moveTo>
                  <a:cubicBezTo>
                    <a:pt x="246316" y="132203"/>
                    <a:pt x="249400" y="132995"/>
                    <a:pt x="252485" y="132996"/>
                  </a:cubicBezTo>
                  <a:lnTo>
                    <a:pt x="252485" y="421562"/>
                  </a:lnTo>
                  <a:cubicBezTo>
                    <a:pt x="249400" y="421560"/>
                    <a:pt x="246316" y="420769"/>
                    <a:pt x="243547" y="419186"/>
                  </a:cubicBezTo>
                  <a:lnTo>
                    <a:pt x="9086" y="285209"/>
                  </a:lnTo>
                  <a:cubicBezTo>
                    <a:pt x="3467" y="281998"/>
                    <a:pt x="0" y="276022"/>
                    <a:pt x="0" y="269550"/>
                  </a:cubicBezTo>
                  <a:lnTo>
                    <a:pt x="0" y="22529"/>
                  </a:lnTo>
                  <a:cubicBezTo>
                    <a:pt x="0" y="8681"/>
                    <a:pt x="14960" y="0"/>
                    <a:pt x="26983" y="6869"/>
                  </a:cubicBezTo>
                  <a:lnTo>
                    <a:pt x="243547" y="130620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6319729" y="1767826"/>
            <a:ext cx="757497" cy="1296894"/>
            <a:chOff x="6319729" y="1767826"/>
            <a:chExt cx="757497" cy="1296894"/>
          </a:xfrm>
        </p:grpSpPr>
        <p:sp>
          <p:nvSpPr>
            <p:cNvPr id="87" name="Rounded Rectangle 86"/>
            <p:cNvSpPr/>
            <p:nvPr/>
          </p:nvSpPr>
          <p:spPr>
            <a:xfrm>
              <a:off x="6824729" y="2063301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52495" y="22529"/>
                  </a:moveTo>
                  <a:cubicBezTo>
                    <a:pt x="252495" y="8681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2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  <a:moveTo>
                    <a:pt x="252495" y="22529"/>
                  </a:move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1"/>
                    <a:pt x="252495" y="22529"/>
                  </a:cubicBezTo>
                  <a:close/>
                  <a:moveTo>
                    <a:pt x="243408" y="285209"/>
                  </a:move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1"/>
                    <a:pt x="252495" y="22529"/>
                  </a:cubicBez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6824729" y="2351868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52495" y="269550"/>
                  </a:move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  <a:moveTo>
                    <a:pt x="252495" y="22529"/>
                  </a:moveTo>
                  <a:cubicBezTo>
                    <a:pt x="252495" y="8680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2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  <a:moveTo>
                    <a:pt x="252495" y="22529"/>
                  </a:move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6572233" y="2496149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252495" y="22529"/>
                  </a:moveTo>
                  <a:cubicBezTo>
                    <a:pt x="252495" y="8680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2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  <a:moveTo>
                    <a:pt x="252495" y="269550"/>
                  </a:move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  <a:moveTo>
                    <a:pt x="252495" y="22529"/>
                  </a:move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lnTo>
                    <a:pt x="0" y="146200"/>
                  </a:ln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6572233" y="2207587"/>
              <a:ext cx="252495" cy="415751"/>
            </a:xfrm>
            <a:custGeom>
              <a:avLst/>
              <a:gdLst/>
              <a:ahLst/>
              <a:cxnLst/>
              <a:rect l="0" t="0" r="0" b="0"/>
              <a:pathLst>
                <a:path w="252495" h="415751">
                  <a:moveTo>
                    <a:pt x="0" y="146200"/>
                  </a:moveTo>
                  <a:cubicBezTo>
                    <a:pt x="0" y="139727"/>
                    <a:pt x="3467" y="133752"/>
                    <a:pt x="9086" y="130540"/>
                  </a:cubicBezTo>
                  <a:lnTo>
                    <a:pt x="225512" y="6869"/>
                  </a:lnTo>
                  <a:cubicBezTo>
                    <a:pt x="237534" y="0"/>
                    <a:pt x="252495" y="8680"/>
                    <a:pt x="252495" y="22529"/>
                  </a:cubicBezTo>
                  <a:lnTo>
                    <a:pt x="252495" y="269550"/>
                  </a:lnTo>
                  <a:cubicBezTo>
                    <a:pt x="252495" y="276022"/>
                    <a:pt x="249027" y="281998"/>
                    <a:pt x="243408" y="285209"/>
                  </a:cubicBezTo>
                  <a:lnTo>
                    <a:pt x="26982" y="408880"/>
                  </a:lnTo>
                  <a:cubicBezTo>
                    <a:pt x="14960" y="415751"/>
                    <a:pt x="0" y="407069"/>
                    <a:pt x="0" y="393221"/>
                  </a:cubicBezTo>
                  <a:close/>
                  <a:moveTo>
                    <a:pt x="0" y="146200"/>
                  </a:moveTo>
                  <a:lnTo>
                    <a:pt x="0" y="393221"/>
                  </a:lnTo>
                  <a:cubicBezTo>
                    <a:pt x="0" y="407069"/>
                    <a:pt x="14960" y="415751"/>
                    <a:pt x="26982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lnTo>
                    <a:pt x="252495" y="22529"/>
                  </a:lnTo>
                  <a:cubicBezTo>
                    <a:pt x="252495" y="8680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close/>
                  <a:moveTo>
                    <a:pt x="252495" y="22529"/>
                  </a:moveTo>
                  <a:cubicBezTo>
                    <a:pt x="252495" y="8680"/>
                    <a:pt x="237534" y="0"/>
                    <a:pt x="225512" y="6869"/>
                  </a:cubicBezTo>
                  <a:lnTo>
                    <a:pt x="9086" y="130540"/>
                  </a:lnTo>
                  <a:cubicBezTo>
                    <a:pt x="3467" y="133752"/>
                    <a:pt x="0" y="139727"/>
                    <a:pt x="0" y="146200"/>
                  </a:cubicBezTo>
                  <a:lnTo>
                    <a:pt x="0" y="393221"/>
                  </a:lnTo>
                  <a:cubicBezTo>
                    <a:pt x="0" y="407069"/>
                    <a:pt x="14960" y="415751"/>
                    <a:pt x="26982" y="408880"/>
                  </a:cubicBezTo>
                  <a:lnTo>
                    <a:pt x="243408" y="285209"/>
                  </a:lnTo>
                  <a:cubicBezTo>
                    <a:pt x="249027" y="281998"/>
                    <a:pt x="252495" y="276022"/>
                    <a:pt x="252495" y="269550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6319871" y="2055231"/>
              <a:ext cx="252366" cy="429637"/>
            </a:xfrm>
            <a:custGeom>
              <a:avLst/>
              <a:gdLst/>
              <a:ahLst/>
              <a:cxnLst/>
              <a:rect l="0" t="0" r="0" b="0"/>
              <a:pathLst>
                <a:path w="252366" h="429637">
                  <a:moveTo>
                    <a:pt x="0" y="143806"/>
                  </a:moveTo>
                  <a:lnTo>
                    <a:pt x="252366" y="0"/>
                  </a:lnTo>
                  <a:lnTo>
                    <a:pt x="252366" y="277626"/>
                  </a:lnTo>
                  <a:cubicBezTo>
                    <a:pt x="252366" y="284097"/>
                    <a:pt x="248898" y="290074"/>
                    <a:pt x="243279" y="293284"/>
                  </a:cubicBezTo>
                  <a:lnTo>
                    <a:pt x="8819" y="427261"/>
                  </a:lnTo>
                  <a:cubicBezTo>
                    <a:pt x="6086" y="428824"/>
                    <a:pt x="3044" y="429615"/>
                    <a:pt x="0" y="429637"/>
                  </a:cubicBezTo>
                  <a:lnTo>
                    <a:pt x="0" y="143806"/>
                  </a:ln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6569787" y="1911979"/>
              <a:ext cx="254944" cy="422655"/>
            </a:xfrm>
            <a:custGeom>
              <a:avLst/>
              <a:gdLst/>
              <a:ahLst/>
              <a:cxnLst/>
              <a:rect l="0" t="0" r="0" b="0"/>
              <a:pathLst>
                <a:path w="254944" h="422655">
                  <a:moveTo>
                    <a:pt x="0" y="144030"/>
                  </a:moveTo>
                  <a:lnTo>
                    <a:pt x="252639" y="0"/>
                  </a:lnTo>
                  <a:cubicBezTo>
                    <a:pt x="254125" y="2650"/>
                    <a:pt x="254944" y="5677"/>
                    <a:pt x="254944" y="8821"/>
                  </a:cubicBezTo>
                  <a:lnTo>
                    <a:pt x="254944" y="276454"/>
                  </a:lnTo>
                  <a:cubicBezTo>
                    <a:pt x="254944" y="282927"/>
                    <a:pt x="251476" y="288902"/>
                    <a:pt x="245857" y="292114"/>
                  </a:cubicBezTo>
                  <a:lnTo>
                    <a:pt x="29433" y="415784"/>
                  </a:lnTo>
                  <a:cubicBezTo>
                    <a:pt x="17409" y="422655"/>
                    <a:pt x="2449" y="413974"/>
                    <a:pt x="2449" y="400126"/>
                  </a:cubicBezTo>
                  <a:lnTo>
                    <a:pt x="2449" y="153104"/>
                  </a:lnTo>
                  <a:cubicBezTo>
                    <a:pt x="2449" y="149859"/>
                    <a:pt x="1577" y="146739"/>
                    <a:pt x="0" y="144030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6822282" y="1767826"/>
              <a:ext cx="254944" cy="422655"/>
            </a:xfrm>
            <a:custGeom>
              <a:avLst/>
              <a:gdLst/>
              <a:ahLst/>
              <a:cxnLst/>
              <a:rect l="0" t="0" r="0" b="0"/>
              <a:pathLst>
                <a:path w="254944" h="422655">
                  <a:moveTo>
                    <a:pt x="254944" y="8821"/>
                  </a:moveTo>
                  <a:lnTo>
                    <a:pt x="254944" y="276454"/>
                  </a:lnTo>
                  <a:cubicBezTo>
                    <a:pt x="254944" y="282927"/>
                    <a:pt x="251476" y="288902"/>
                    <a:pt x="245857" y="292114"/>
                  </a:cubicBezTo>
                  <a:lnTo>
                    <a:pt x="29433" y="415784"/>
                  </a:lnTo>
                  <a:cubicBezTo>
                    <a:pt x="17409" y="422655"/>
                    <a:pt x="2449" y="413974"/>
                    <a:pt x="2449" y="400126"/>
                  </a:cubicBezTo>
                  <a:lnTo>
                    <a:pt x="2449" y="153104"/>
                  </a:lnTo>
                  <a:cubicBezTo>
                    <a:pt x="2449" y="149859"/>
                    <a:pt x="1577" y="146739"/>
                    <a:pt x="0" y="144030"/>
                  </a:cubicBezTo>
                  <a:lnTo>
                    <a:pt x="252639" y="0"/>
                  </a:lnTo>
                  <a:cubicBezTo>
                    <a:pt x="254125" y="2650"/>
                    <a:pt x="254944" y="5677"/>
                    <a:pt x="254944" y="8821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6319729" y="2351868"/>
              <a:ext cx="252504" cy="421564"/>
            </a:xfrm>
            <a:custGeom>
              <a:avLst/>
              <a:gdLst/>
              <a:ahLst/>
              <a:cxnLst/>
              <a:rect l="0" t="0" r="0" b="0"/>
              <a:pathLst>
                <a:path w="252504" h="421564">
                  <a:moveTo>
                    <a:pt x="243416" y="285209"/>
                  </a:moveTo>
                  <a:lnTo>
                    <a:pt x="8957" y="419186"/>
                  </a:lnTo>
                  <a:cubicBezTo>
                    <a:pt x="6182" y="420772"/>
                    <a:pt x="3091" y="421564"/>
                    <a:pt x="0" y="421562"/>
                  </a:cubicBezTo>
                  <a:lnTo>
                    <a:pt x="0" y="132996"/>
                  </a:lnTo>
                  <a:cubicBezTo>
                    <a:pt x="3091" y="132998"/>
                    <a:pt x="6182" y="132206"/>
                    <a:pt x="8957" y="130620"/>
                  </a:cubicBezTo>
                  <a:lnTo>
                    <a:pt x="225520" y="6869"/>
                  </a:lnTo>
                  <a:cubicBezTo>
                    <a:pt x="237544" y="0"/>
                    <a:pt x="252504" y="8680"/>
                    <a:pt x="252504" y="22529"/>
                  </a:cubicBezTo>
                  <a:lnTo>
                    <a:pt x="252504" y="269550"/>
                  </a:lnTo>
                  <a:cubicBezTo>
                    <a:pt x="252504" y="276022"/>
                    <a:pt x="249036" y="281998"/>
                    <a:pt x="243416" y="28520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6319729" y="2643156"/>
              <a:ext cx="252504" cy="421564"/>
            </a:xfrm>
            <a:custGeom>
              <a:avLst/>
              <a:gdLst/>
              <a:ahLst/>
              <a:cxnLst/>
              <a:rect l="0" t="0" r="0" b="0"/>
              <a:pathLst>
                <a:path w="252504" h="421564">
                  <a:moveTo>
                    <a:pt x="243416" y="285209"/>
                  </a:moveTo>
                  <a:lnTo>
                    <a:pt x="8957" y="419186"/>
                  </a:lnTo>
                  <a:cubicBezTo>
                    <a:pt x="6182" y="420772"/>
                    <a:pt x="3091" y="421564"/>
                    <a:pt x="0" y="421562"/>
                  </a:cubicBezTo>
                  <a:lnTo>
                    <a:pt x="0" y="132996"/>
                  </a:lnTo>
                  <a:cubicBezTo>
                    <a:pt x="3091" y="132998"/>
                    <a:pt x="6182" y="132206"/>
                    <a:pt x="8957" y="130620"/>
                  </a:cubicBezTo>
                  <a:lnTo>
                    <a:pt x="225520" y="6869"/>
                  </a:lnTo>
                  <a:cubicBezTo>
                    <a:pt x="237544" y="0"/>
                    <a:pt x="252504" y="8680"/>
                    <a:pt x="252504" y="22529"/>
                  </a:cubicBezTo>
                  <a:lnTo>
                    <a:pt x="252504" y="269550"/>
                  </a:lnTo>
                  <a:cubicBezTo>
                    <a:pt x="252504" y="276022"/>
                    <a:pt x="249036" y="281998"/>
                    <a:pt x="243416" y="285209"/>
                  </a:cubicBezTo>
                  <a:close/>
                </a:path>
              </a:pathLst>
            </a:custGeom>
            <a:noFill/>
            <a:ln w="14565">
              <a:solidFill>
                <a:srgbClr val="05A99C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7" name="TextBox 96"/>
          <p:cNvSpPr txBox="1"/>
          <p:nvPr/>
        </p:nvSpPr>
        <p:spPr>
          <a:xfrm>
            <a:off x="397931" y="371474"/>
            <a:ext cx="8348126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2700" b="1">
                <a:solidFill>
                  <a:srgbClr val="7BDEC4"/>
                </a:solidFill>
                <a:latin typeface="Montserrat"/>
              </a:rPr>
              <a:t>Solving Enterprise Problems with MAS</a:t>
            </a:r>
          </a:p>
        </p:txBody>
      </p:sp>
      <p:grpSp>
        <p:nvGrpSpPr>
          <p:cNvPr id="100" name="Group 99"/>
          <p:cNvGrpSpPr/>
          <p:nvPr/>
        </p:nvGrpSpPr>
        <p:grpSpPr>
          <a:xfrm>
            <a:off x="2254779" y="3592109"/>
            <a:ext cx="1108624" cy="419460"/>
            <a:chOff x="2254779" y="3592109"/>
            <a:chExt cx="1108624" cy="419460"/>
          </a:xfrm>
        </p:grpSpPr>
        <p:sp>
          <p:nvSpPr>
            <p:cNvPr id="98" name="TextBox 97"/>
            <p:cNvSpPr txBox="1"/>
            <p:nvPr/>
          </p:nvSpPr>
          <p:spPr>
            <a:xfrm>
              <a:off x="2171633" y="3592109"/>
              <a:ext cx="1274917" cy="209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7BDEC4"/>
                  </a:solidFill>
                  <a:latin typeface="Montserrat"/>
                </a:rPr>
                <a:t>Role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171633" y="3801849"/>
              <a:ext cx="1274917" cy="20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7BDEC4"/>
                  </a:solidFill>
                  <a:latin typeface="Montserrat"/>
                </a:rPr>
                <a:t>Assignment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3927195" y="3592109"/>
            <a:ext cx="1280817" cy="419460"/>
            <a:chOff x="3927195" y="3592109"/>
            <a:chExt cx="1280817" cy="419460"/>
          </a:xfrm>
        </p:grpSpPr>
        <p:sp>
          <p:nvSpPr>
            <p:cNvPr id="101" name="TextBox 100"/>
            <p:cNvSpPr txBox="1"/>
            <p:nvPr/>
          </p:nvSpPr>
          <p:spPr>
            <a:xfrm>
              <a:off x="3831134" y="3592109"/>
              <a:ext cx="1472939" cy="209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7BDEC4"/>
                  </a:solidFill>
                  <a:latin typeface="Montserrat"/>
                </a:rPr>
                <a:t>Communica-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831134" y="3801849"/>
              <a:ext cx="1472939" cy="20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7BDEC4"/>
                  </a:solidFill>
                  <a:latin typeface="Montserrat"/>
                </a:rPr>
                <a:t>tion Protocols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5673060" y="3530870"/>
            <a:ext cx="1314297" cy="419460"/>
            <a:chOff x="5673060" y="3530870"/>
            <a:chExt cx="1314297" cy="419460"/>
          </a:xfrm>
        </p:grpSpPr>
        <p:sp>
          <p:nvSpPr>
            <p:cNvPr id="104" name="TextBox 103"/>
            <p:cNvSpPr txBox="1"/>
            <p:nvPr/>
          </p:nvSpPr>
          <p:spPr>
            <a:xfrm>
              <a:off x="5574488" y="3530870"/>
              <a:ext cx="1511441" cy="209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7BDEC4"/>
                  </a:solidFill>
                  <a:latin typeface="Montserrat"/>
                </a:rPr>
                <a:t>Orchestration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5574488" y="3740610"/>
              <a:ext cx="1511441" cy="20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300" b="1">
                  <a:solidFill>
                    <a:srgbClr val="7BDEC4"/>
                  </a:solidFill>
                  <a:latin typeface="Montserrat"/>
                </a:rPr>
                <a:t>Patterns</a:t>
              </a:r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2150966" y="4145596"/>
            <a:ext cx="1316240" cy="314639"/>
            <a:chOff x="2150966" y="4145596"/>
            <a:chExt cx="1316240" cy="314639"/>
          </a:xfrm>
        </p:grpSpPr>
        <p:sp>
          <p:nvSpPr>
            <p:cNvPr id="107" name="TextBox 106"/>
            <p:cNvSpPr txBox="1"/>
            <p:nvPr/>
          </p:nvSpPr>
          <p:spPr>
            <a:xfrm>
              <a:off x="2052248" y="4145596"/>
              <a:ext cx="1513676" cy="157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Assign personas for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2052248" y="4302949"/>
              <a:ext cx="1513676" cy="157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focus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3960228" y="4145596"/>
            <a:ext cx="1214732" cy="314639"/>
            <a:chOff x="3960228" y="4145596"/>
            <a:chExt cx="1214732" cy="314639"/>
          </a:xfrm>
        </p:grpSpPr>
        <p:sp>
          <p:nvSpPr>
            <p:cNvPr id="110" name="TextBox 109"/>
            <p:cNvSpPr txBox="1"/>
            <p:nvPr/>
          </p:nvSpPr>
          <p:spPr>
            <a:xfrm>
              <a:off x="3869124" y="4145596"/>
              <a:ext cx="1396941" cy="157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Standardized task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3869124" y="4302949"/>
              <a:ext cx="1396941" cy="1572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handoffs</a:t>
              </a: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5662715" y="4066939"/>
            <a:ext cx="1334985" cy="471943"/>
            <a:chOff x="5662715" y="4066939"/>
            <a:chExt cx="1334985" cy="471943"/>
          </a:xfrm>
        </p:grpSpPr>
        <p:sp>
          <p:nvSpPr>
            <p:cNvPr id="113" name="TextBox 112"/>
            <p:cNvSpPr txBox="1"/>
            <p:nvPr/>
          </p:nvSpPr>
          <p:spPr>
            <a:xfrm>
              <a:off x="5562592" y="4066939"/>
              <a:ext cx="1535232" cy="15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Hierarchical or peer-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5562592" y="4224196"/>
              <a:ext cx="1535232" cy="157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to-peer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562592" y="4381549"/>
              <a:ext cx="1535232" cy="1573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collaboration</a:t>
              </a:r>
            </a:p>
          </p:txBody>
        </p:sp>
      </p:grpSp>
      <p:sp>
        <p:nvSpPr>
          <p:cNvPr id="117" name="Rounded Rectangle 116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6215662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63132" y="805815"/>
            <a:ext cx="3709396" cy="1024890"/>
          </a:xfrm>
          <a:custGeom>
            <a:avLst/>
            <a:gdLst/>
            <a:ahLst/>
            <a:cxnLst/>
            <a:rect l="0" t="0" r="0" b="0"/>
            <a:pathLst>
              <a:path w="3709396" h="1024890">
                <a:moveTo>
                  <a:pt x="3709396" y="910590"/>
                </a:moveTo>
                <a:cubicBezTo>
                  <a:pt x="3709396" y="973712"/>
                  <a:pt x="3658219" y="1024890"/>
                  <a:pt x="3595096" y="1024890"/>
                </a:cubicBezTo>
                <a:lnTo>
                  <a:pt x="114300" y="1024890"/>
                </a:lnTo>
                <a:cubicBezTo>
                  <a:pt x="51177" y="1024890"/>
                  <a:pt x="0" y="973712"/>
                  <a:pt x="0" y="91059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595096" y="0"/>
                </a:lnTo>
                <a:cubicBezTo>
                  <a:pt x="3658219" y="0"/>
                  <a:pt x="3709396" y="51177"/>
                  <a:pt x="3709396" y="114300"/>
                </a:cubicBezTo>
                <a:lnTo>
                  <a:pt x="3709396" y="910590"/>
                </a:lnTo>
              </a:path>
            </a:pathLst>
          </a:custGeom>
          <a:solidFill>
            <a:srgbClr val="194A4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63132" y="2059304"/>
            <a:ext cx="3709396" cy="1024890"/>
          </a:xfrm>
          <a:custGeom>
            <a:avLst/>
            <a:gdLst/>
            <a:ahLst/>
            <a:cxnLst/>
            <a:rect l="0" t="0" r="0" b="0"/>
            <a:pathLst>
              <a:path w="3709396" h="1024890">
                <a:moveTo>
                  <a:pt x="3709396" y="910590"/>
                </a:moveTo>
                <a:cubicBezTo>
                  <a:pt x="3709396" y="973712"/>
                  <a:pt x="3658219" y="1024890"/>
                  <a:pt x="3595096" y="1024890"/>
                </a:cubicBezTo>
                <a:lnTo>
                  <a:pt x="114300" y="1024890"/>
                </a:lnTo>
                <a:cubicBezTo>
                  <a:pt x="51177" y="1024890"/>
                  <a:pt x="0" y="973712"/>
                  <a:pt x="0" y="91059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595096" y="0"/>
                </a:lnTo>
                <a:cubicBezTo>
                  <a:pt x="3658219" y="0"/>
                  <a:pt x="3709396" y="51177"/>
                  <a:pt x="3709396" y="114300"/>
                </a:cubicBezTo>
                <a:lnTo>
                  <a:pt x="3709396" y="910590"/>
                </a:lnTo>
              </a:path>
            </a:pathLst>
          </a:custGeom>
          <a:solidFill>
            <a:srgbClr val="194A4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63132" y="3312795"/>
            <a:ext cx="3709396" cy="1024890"/>
          </a:xfrm>
          <a:custGeom>
            <a:avLst/>
            <a:gdLst/>
            <a:ahLst/>
            <a:cxnLst/>
            <a:rect l="0" t="0" r="0" b="0"/>
            <a:pathLst>
              <a:path w="3709396" h="1024890">
                <a:moveTo>
                  <a:pt x="3709396" y="910590"/>
                </a:moveTo>
                <a:cubicBezTo>
                  <a:pt x="3709396" y="973712"/>
                  <a:pt x="3658219" y="1024890"/>
                  <a:pt x="3595096" y="1024890"/>
                </a:cubicBezTo>
                <a:lnTo>
                  <a:pt x="114300" y="1024890"/>
                </a:lnTo>
                <a:cubicBezTo>
                  <a:pt x="51177" y="1024890"/>
                  <a:pt x="0" y="973712"/>
                  <a:pt x="0" y="910590"/>
                </a:cubicBezTo>
                <a:lnTo>
                  <a:pt x="0" y="114300"/>
                </a:lnTo>
                <a:cubicBezTo>
                  <a:pt x="0" y="51177"/>
                  <a:pt x="51177" y="0"/>
                  <a:pt x="114300" y="0"/>
                </a:cubicBezTo>
                <a:lnTo>
                  <a:pt x="3595096" y="0"/>
                </a:lnTo>
                <a:cubicBezTo>
                  <a:pt x="3658219" y="0"/>
                  <a:pt x="3709396" y="51177"/>
                  <a:pt x="3709396" y="114300"/>
                </a:cubicBezTo>
                <a:lnTo>
                  <a:pt x="3709396" y="910590"/>
                </a:lnTo>
              </a:path>
            </a:pathLst>
          </a:custGeom>
          <a:solidFill>
            <a:srgbClr val="194A4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0525" y="371474"/>
            <a:ext cx="4470674" cy="3600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7BDEC4"/>
                </a:solidFill>
                <a:latin typeface="Montserrat"/>
              </a:rPr>
              <a:t>The Developer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3132" y="805815"/>
            <a:ext cx="3709392" cy="1024890"/>
          </a:xfrm>
          <a:custGeom>
            <a:avLst/>
            <a:gdLst/>
            <a:ahLst/>
            <a:cxnLst/>
            <a:rect l="0" t="0" r="0" b="0"/>
            <a:pathLst>
              <a:path w="3709392" h="1024890">
                <a:moveTo>
                  <a:pt x="0" y="114300"/>
                </a:moveTo>
                <a:cubicBezTo>
                  <a:pt x="0" y="51173"/>
                  <a:pt x="51174" y="0"/>
                  <a:pt x="114300" y="0"/>
                </a:cubicBezTo>
                <a:moveTo>
                  <a:pt x="3595092" y="0"/>
                </a:moveTo>
                <a:lnTo>
                  <a:pt x="114300" y="0"/>
                </a:lnTo>
                <a:moveTo>
                  <a:pt x="3709392" y="114300"/>
                </a:moveTo>
                <a:cubicBezTo>
                  <a:pt x="3709392" y="51173"/>
                  <a:pt x="3658218" y="0"/>
                  <a:pt x="3595092" y="0"/>
                </a:cubicBezTo>
                <a:moveTo>
                  <a:pt x="3709392" y="910590"/>
                </a:moveTo>
                <a:lnTo>
                  <a:pt x="3709392" y="114300"/>
                </a:lnTo>
                <a:moveTo>
                  <a:pt x="3595092" y="1024890"/>
                </a:moveTo>
                <a:cubicBezTo>
                  <a:pt x="3658218" y="1024890"/>
                  <a:pt x="3709392" y="973716"/>
                  <a:pt x="3709392" y="910590"/>
                </a:cubicBezTo>
                <a:moveTo>
                  <a:pt x="3595092" y="1024890"/>
                </a:moveTo>
                <a:lnTo>
                  <a:pt x="114300" y="1024890"/>
                </a:lnTo>
                <a:moveTo>
                  <a:pt x="114300" y="1024890"/>
                </a:moveTo>
                <a:cubicBezTo>
                  <a:pt x="51174" y="1024890"/>
                  <a:pt x="0" y="973716"/>
                  <a:pt x="0" y="910590"/>
                </a:cubicBezTo>
                <a:moveTo>
                  <a:pt x="0" y="91059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72682" y="996314"/>
            <a:ext cx="244165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7BDEC4"/>
                </a:solidFill>
                <a:latin typeface="Montserrat"/>
              </a:rPr>
              <a:t>LangChain / LangGraph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272682" y="1297304"/>
            <a:ext cx="3031931" cy="342900"/>
            <a:chOff x="5272682" y="1297304"/>
            <a:chExt cx="3031931" cy="342900"/>
          </a:xfrm>
        </p:grpSpPr>
        <p:sp>
          <p:nvSpPr>
            <p:cNvPr id="9" name="TextBox 8"/>
            <p:cNvSpPr txBox="1"/>
            <p:nvPr/>
          </p:nvSpPr>
          <p:spPr>
            <a:xfrm>
              <a:off x="5272682" y="1297304"/>
              <a:ext cx="348672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The industry standard for building complex,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272682" y="1468754"/>
              <a:ext cx="348672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stateful agent graphs.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5063132" y="2059304"/>
            <a:ext cx="3709392" cy="1024890"/>
          </a:xfrm>
          <a:custGeom>
            <a:avLst/>
            <a:gdLst/>
            <a:ahLst/>
            <a:cxnLst/>
            <a:rect l="0" t="0" r="0" b="0"/>
            <a:pathLst>
              <a:path w="3709392" h="102489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3595092" y="0"/>
                </a:moveTo>
                <a:lnTo>
                  <a:pt x="114300" y="0"/>
                </a:lnTo>
                <a:moveTo>
                  <a:pt x="3709392" y="114300"/>
                </a:moveTo>
                <a:cubicBezTo>
                  <a:pt x="3709392" y="51174"/>
                  <a:pt x="3658218" y="0"/>
                  <a:pt x="3595092" y="0"/>
                </a:cubicBezTo>
                <a:moveTo>
                  <a:pt x="3709392" y="910590"/>
                </a:moveTo>
                <a:lnTo>
                  <a:pt x="3709392" y="114300"/>
                </a:lnTo>
                <a:moveTo>
                  <a:pt x="3595092" y="1024890"/>
                </a:moveTo>
                <a:cubicBezTo>
                  <a:pt x="3658218" y="1024890"/>
                  <a:pt x="3709392" y="973716"/>
                  <a:pt x="3709392" y="910590"/>
                </a:cubicBezTo>
                <a:moveTo>
                  <a:pt x="3595092" y="1024890"/>
                </a:moveTo>
                <a:lnTo>
                  <a:pt x="114300" y="1024890"/>
                </a:lnTo>
                <a:moveTo>
                  <a:pt x="114300" y="1024890"/>
                </a:moveTo>
                <a:cubicBezTo>
                  <a:pt x="51174" y="1024890"/>
                  <a:pt x="0" y="973716"/>
                  <a:pt x="0" y="910590"/>
                </a:cubicBezTo>
                <a:moveTo>
                  <a:pt x="0" y="91059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2682" y="2249805"/>
            <a:ext cx="183886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7BDEC4"/>
                </a:solidFill>
                <a:latin typeface="Montserrat"/>
              </a:rPr>
              <a:t>AutoGPT / CrewAI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272682" y="2550795"/>
            <a:ext cx="3290296" cy="342900"/>
            <a:chOff x="5272682" y="2550795"/>
            <a:chExt cx="3290296" cy="342900"/>
          </a:xfrm>
        </p:grpSpPr>
        <p:sp>
          <p:nvSpPr>
            <p:cNvPr id="14" name="TextBox 13"/>
            <p:cNvSpPr txBox="1"/>
            <p:nvPr/>
          </p:nvSpPr>
          <p:spPr>
            <a:xfrm>
              <a:off x="5272682" y="2550795"/>
              <a:ext cx="378384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High-level frameworks focused on autonomous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72682" y="2722245"/>
              <a:ext cx="3783840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task completion and multi-agent teams.</a:t>
              </a:r>
            </a:p>
          </p:txBody>
        </p:sp>
      </p:grpSp>
      <p:sp>
        <p:nvSpPr>
          <p:cNvPr id="17" name="Rounded Rectangle 16"/>
          <p:cNvSpPr/>
          <p:nvPr/>
        </p:nvSpPr>
        <p:spPr>
          <a:xfrm>
            <a:off x="5063132" y="3312795"/>
            <a:ext cx="3709392" cy="1024889"/>
          </a:xfrm>
          <a:custGeom>
            <a:avLst/>
            <a:gdLst/>
            <a:ahLst/>
            <a:cxnLst/>
            <a:rect l="0" t="0" r="0" b="0"/>
            <a:pathLst>
              <a:path w="3709392" h="1024889">
                <a:moveTo>
                  <a:pt x="0" y="114300"/>
                </a:moveTo>
                <a:cubicBezTo>
                  <a:pt x="0" y="51173"/>
                  <a:pt x="51174" y="0"/>
                  <a:pt x="114300" y="0"/>
                </a:cubicBezTo>
                <a:moveTo>
                  <a:pt x="3595092" y="0"/>
                </a:moveTo>
                <a:lnTo>
                  <a:pt x="114300" y="0"/>
                </a:lnTo>
                <a:moveTo>
                  <a:pt x="3709392" y="114300"/>
                </a:moveTo>
                <a:cubicBezTo>
                  <a:pt x="3709392" y="51173"/>
                  <a:pt x="3658218" y="0"/>
                  <a:pt x="3595092" y="0"/>
                </a:cubicBezTo>
                <a:moveTo>
                  <a:pt x="3709392" y="910589"/>
                </a:moveTo>
                <a:lnTo>
                  <a:pt x="3709392" y="114300"/>
                </a:lnTo>
                <a:moveTo>
                  <a:pt x="3595092" y="1024889"/>
                </a:moveTo>
                <a:cubicBezTo>
                  <a:pt x="3658218" y="1024889"/>
                  <a:pt x="3709392" y="973715"/>
                  <a:pt x="3709392" y="910589"/>
                </a:cubicBezTo>
                <a:moveTo>
                  <a:pt x="3595092" y="1024889"/>
                </a:moveTo>
                <a:lnTo>
                  <a:pt x="114300" y="1024889"/>
                </a:lnTo>
                <a:moveTo>
                  <a:pt x="114300" y="1024889"/>
                </a:moveTo>
                <a:cubicBezTo>
                  <a:pt x="51174" y="1024889"/>
                  <a:pt x="0" y="973715"/>
                  <a:pt x="0" y="910589"/>
                </a:cubicBezTo>
                <a:moveTo>
                  <a:pt x="0" y="910589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2682" y="3503295"/>
            <a:ext cx="193710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7BDEC4"/>
                </a:solidFill>
                <a:latin typeface="Montserrat"/>
              </a:rPr>
              <a:t>Microsoft AutoGen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272682" y="3804284"/>
            <a:ext cx="2780404" cy="342900"/>
            <a:chOff x="5272682" y="3804284"/>
            <a:chExt cx="2780404" cy="342900"/>
          </a:xfrm>
        </p:grpSpPr>
        <p:sp>
          <p:nvSpPr>
            <p:cNvPr id="19" name="TextBox 18"/>
            <p:cNvSpPr txBox="1"/>
            <p:nvPr/>
          </p:nvSpPr>
          <p:spPr>
            <a:xfrm>
              <a:off x="5272682" y="3804284"/>
              <a:ext cx="319746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An event-driven framework for enabling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72682" y="3975734"/>
              <a:ext cx="3197464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0">
                  <a:solidFill>
                    <a:srgbClr val="E7ECEB"/>
                  </a:solidFill>
                  <a:latin typeface="Montserrat"/>
                </a:rPr>
                <a:t>conversations between multiple agents.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90525" y="4360602"/>
            <a:ext cx="4127001" cy="411421"/>
            <a:chOff x="390525" y="4360602"/>
            <a:chExt cx="4127001" cy="411421"/>
          </a:xfrm>
        </p:grpSpPr>
        <p:sp>
          <p:nvSpPr>
            <p:cNvPr id="22" name="TextBox 21"/>
            <p:cNvSpPr txBox="1"/>
            <p:nvPr/>
          </p:nvSpPr>
          <p:spPr>
            <a:xfrm>
              <a:off x="390525" y="4360602"/>
              <a:ext cx="4746051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Popular frameworks and libraries for building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90525" y="4566342"/>
              <a:ext cx="4746051" cy="205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agentic workflows</a:t>
              </a:r>
            </a:p>
          </p:txBody>
        </p:sp>
      </p:grpSp>
      <p:sp>
        <p:nvSpPr>
          <p:cNvPr id="25" name="Rounded Rectangle 24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4262261" y="860424"/>
            <a:ext cx="1738488" cy="543277"/>
            <a:chOff x="4262261" y="860424"/>
            <a:chExt cx="1738488" cy="543277"/>
          </a:xfrm>
        </p:grpSpPr>
        <p:sp>
          <p:nvSpPr>
            <p:cNvPr id="2" name="Rounded Rectangle 1"/>
            <p:cNvSpPr/>
            <p:nvPr/>
          </p:nvSpPr>
          <p:spPr>
            <a:xfrm>
              <a:off x="4262261" y="860424"/>
              <a:ext cx="1738488" cy="543277"/>
            </a:xfrm>
            <a:custGeom>
              <a:avLst/>
              <a:gdLst/>
              <a:ahLst/>
              <a:cxnLst/>
              <a:rect l="0" t="0" r="0" b="0"/>
              <a:pathLst>
                <a:path w="1738488" h="543277">
                  <a:moveTo>
                    <a:pt x="1738488" y="162983"/>
                  </a:moveTo>
                  <a:cubicBezTo>
                    <a:pt x="1738488" y="72970"/>
                    <a:pt x="1349314" y="0"/>
                    <a:pt x="869244" y="0"/>
                  </a:cubicBezTo>
                  <a:cubicBezTo>
                    <a:pt x="389174" y="0"/>
                    <a:pt x="0" y="72970"/>
                    <a:pt x="0" y="162983"/>
                  </a:cubicBezTo>
                  <a:cubicBezTo>
                    <a:pt x="0" y="314874"/>
                    <a:pt x="0" y="228403"/>
                    <a:pt x="0" y="380294"/>
                  </a:cubicBezTo>
                  <a:cubicBezTo>
                    <a:pt x="0" y="470307"/>
                    <a:pt x="389174" y="543277"/>
                    <a:pt x="869244" y="543277"/>
                  </a:cubicBezTo>
                  <a:cubicBezTo>
                    <a:pt x="1349314" y="543277"/>
                    <a:pt x="1738488" y="470307"/>
                    <a:pt x="1738488" y="380294"/>
                  </a:cubicBezTo>
                  <a:cubicBezTo>
                    <a:pt x="1738488" y="228403"/>
                    <a:pt x="1738488" y="314874"/>
                    <a:pt x="1738488" y="162983"/>
                  </a:cubicBezTo>
                  <a:close/>
                </a:path>
              </a:pathLst>
            </a:custGeom>
            <a:noFill/>
            <a:ln w="13580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262261" y="860424"/>
              <a:ext cx="1738488" cy="325966"/>
            </a:xfrm>
            <a:custGeom>
              <a:avLst/>
              <a:gdLst/>
              <a:ahLst/>
              <a:cxnLst/>
              <a:rect l="0" t="0" r="0" b="0"/>
              <a:pathLst>
                <a:path w="1738488" h="325966">
                  <a:moveTo>
                    <a:pt x="0" y="162983"/>
                  </a:moveTo>
                  <a:cubicBezTo>
                    <a:pt x="0" y="252996"/>
                    <a:pt x="389174" y="325966"/>
                    <a:pt x="869244" y="325966"/>
                  </a:cubicBezTo>
                  <a:cubicBezTo>
                    <a:pt x="1349314" y="325966"/>
                    <a:pt x="1738488" y="252996"/>
                    <a:pt x="1738488" y="162983"/>
                  </a:cubicBezTo>
                  <a:cubicBezTo>
                    <a:pt x="1738488" y="72970"/>
                    <a:pt x="1349314" y="0"/>
                    <a:pt x="869244" y="0"/>
                  </a:cubicBezTo>
                  <a:cubicBezTo>
                    <a:pt x="389174" y="0"/>
                    <a:pt x="0" y="72970"/>
                    <a:pt x="0" y="162983"/>
                  </a:cubicBezTo>
                </a:path>
              </a:pathLst>
            </a:custGeom>
            <a:noFill/>
            <a:ln w="13580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805538" y="860424"/>
              <a:ext cx="651933" cy="226365"/>
            </a:xfrm>
            <a:custGeom>
              <a:avLst/>
              <a:gdLst/>
              <a:ahLst/>
              <a:cxnLst/>
              <a:rect l="0" t="0" r="0" b="0"/>
              <a:pathLst>
                <a:path w="651933" h="226365">
                  <a:moveTo>
                    <a:pt x="0" y="162983"/>
                  </a:moveTo>
                  <a:cubicBezTo>
                    <a:pt x="0" y="197988"/>
                    <a:pt x="145939" y="226365"/>
                    <a:pt x="325966" y="226365"/>
                  </a:cubicBezTo>
                  <a:cubicBezTo>
                    <a:pt x="505993" y="226365"/>
                    <a:pt x="651933" y="197988"/>
                    <a:pt x="651933" y="162983"/>
                  </a:cubicBezTo>
                  <a:lnTo>
                    <a:pt x="651933" y="63382"/>
                  </a:lnTo>
                  <a:cubicBezTo>
                    <a:pt x="651933" y="28377"/>
                    <a:pt x="505993" y="0"/>
                    <a:pt x="325966" y="0"/>
                  </a:cubicBezTo>
                  <a:cubicBezTo>
                    <a:pt x="145939" y="0"/>
                    <a:pt x="0" y="28377"/>
                    <a:pt x="0" y="63382"/>
                  </a:cubicBezTo>
                  <a:lnTo>
                    <a:pt x="0" y="162983"/>
                  </a:lnTo>
                  <a:close/>
                </a:path>
              </a:pathLst>
            </a:custGeom>
            <a:noFill/>
            <a:ln w="13580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805538" y="860424"/>
              <a:ext cx="651933" cy="126764"/>
            </a:xfrm>
            <a:custGeom>
              <a:avLst/>
              <a:gdLst/>
              <a:ahLst/>
              <a:cxnLst/>
              <a:rect l="0" t="0" r="0" b="0"/>
              <a:pathLst>
                <a:path w="651933" h="126764">
                  <a:moveTo>
                    <a:pt x="651933" y="63382"/>
                  </a:moveTo>
                  <a:cubicBezTo>
                    <a:pt x="651933" y="28377"/>
                    <a:pt x="505993" y="0"/>
                    <a:pt x="325966" y="0"/>
                  </a:cubicBezTo>
                  <a:cubicBezTo>
                    <a:pt x="145939" y="0"/>
                    <a:pt x="0" y="28377"/>
                    <a:pt x="0" y="63382"/>
                  </a:cubicBezTo>
                  <a:cubicBezTo>
                    <a:pt x="0" y="98387"/>
                    <a:pt x="145939" y="126764"/>
                    <a:pt x="325966" y="126764"/>
                  </a:cubicBezTo>
                  <a:cubicBezTo>
                    <a:pt x="505993" y="126764"/>
                    <a:pt x="651933" y="98387"/>
                    <a:pt x="651933" y="63382"/>
                  </a:cubicBezTo>
                  <a:close/>
                </a:path>
              </a:pathLst>
            </a:custGeom>
            <a:noFill/>
            <a:ln w="13580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4262260" y="1240719"/>
            <a:ext cx="1738488" cy="1140883"/>
          </a:xfrm>
          <a:custGeom>
            <a:avLst/>
            <a:gdLst/>
            <a:ahLst/>
            <a:cxnLst/>
            <a:rect l="0" t="0" r="0" b="0"/>
            <a:pathLst>
              <a:path w="1738488" h="1140883">
                <a:moveTo>
                  <a:pt x="1738488" y="543277"/>
                </a:moveTo>
                <a:lnTo>
                  <a:pt x="1738488" y="434622"/>
                </a:lnTo>
                <a:moveTo>
                  <a:pt x="0" y="543277"/>
                </a:moveTo>
                <a:lnTo>
                  <a:pt x="0" y="434622"/>
                </a:lnTo>
                <a:moveTo>
                  <a:pt x="0" y="543277"/>
                </a:moveTo>
                <a:lnTo>
                  <a:pt x="0" y="977900"/>
                </a:lnTo>
                <a:cubicBezTo>
                  <a:pt x="0" y="1067913"/>
                  <a:pt x="389174" y="1140883"/>
                  <a:pt x="869244" y="1140883"/>
                </a:cubicBezTo>
                <a:cubicBezTo>
                  <a:pt x="1349314" y="1140883"/>
                  <a:pt x="1738488" y="1067913"/>
                  <a:pt x="1738488" y="977900"/>
                </a:cubicBezTo>
                <a:lnTo>
                  <a:pt x="1738488" y="543277"/>
                </a:lnTo>
                <a:moveTo>
                  <a:pt x="0" y="434622"/>
                </a:moveTo>
                <a:lnTo>
                  <a:pt x="0" y="0"/>
                </a:lnTo>
                <a:cubicBezTo>
                  <a:pt x="0" y="90012"/>
                  <a:pt x="389174" y="162983"/>
                  <a:pt x="869244" y="162983"/>
                </a:cubicBezTo>
                <a:cubicBezTo>
                  <a:pt x="1349314" y="162983"/>
                  <a:pt x="1738488" y="90012"/>
                  <a:pt x="1738488" y="0"/>
                </a:cubicBezTo>
                <a:lnTo>
                  <a:pt x="1738488" y="434622"/>
                </a:lnTo>
              </a:path>
            </a:pathLst>
          </a:custGeom>
          <a:noFill/>
          <a:ln w="13580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00750" y="1240719"/>
            <a:ext cx="1738488" cy="977900"/>
          </a:xfrm>
          <a:custGeom>
            <a:avLst/>
            <a:gdLst/>
            <a:ahLst/>
            <a:cxnLst/>
            <a:rect l="0" t="0" r="0" b="0"/>
            <a:pathLst>
              <a:path w="1738488" h="977900">
                <a:moveTo>
                  <a:pt x="1738488" y="434622"/>
                </a:moveTo>
                <a:lnTo>
                  <a:pt x="1738488" y="0"/>
                </a:lnTo>
                <a:lnTo>
                  <a:pt x="0" y="0"/>
                </a:lnTo>
                <a:lnTo>
                  <a:pt x="0" y="434621"/>
                </a:lnTo>
                <a:moveTo>
                  <a:pt x="1738488" y="543277"/>
                </a:moveTo>
                <a:lnTo>
                  <a:pt x="1738488" y="434622"/>
                </a:lnTo>
                <a:moveTo>
                  <a:pt x="0" y="543277"/>
                </a:moveTo>
                <a:lnTo>
                  <a:pt x="0" y="434622"/>
                </a:lnTo>
                <a:moveTo>
                  <a:pt x="0" y="543277"/>
                </a:moveTo>
                <a:lnTo>
                  <a:pt x="0" y="977900"/>
                </a:lnTo>
                <a:lnTo>
                  <a:pt x="1738488" y="977900"/>
                </a:lnTo>
                <a:lnTo>
                  <a:pt x="1738488" y="543277"/>
                </a:lnTo>
              </a:path>
            </a:pathLst>
          </a:custGeom>
          <a:noFill/>
          <a:ln w="13580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62260" y="2218618"/>
            <a:ext cx="1738488" cy="1140883"/>
          </a:xfrm>
          <a:custGeom>
            <a:avLst/>
            <a:gdLst/>
            <a:ahLst/>
            <a:cxnLst/>
            <a:rect l="0" t="0" r="0" b="0"/>
            <a:pathLst>
              <a:path w="1738488" h="1140883">
                <a:moveTo>
                  <a:pt x="1738488" y="543277"/>
                </a:moveTo>
                <a:lnTo>
                  <a:pt x="1738488" y="434622"/>
                </a:lnTo>
                <a:moveTo>
                  <a:pt x="0" y="543277"/>
                </a:moveTo>
                <a:lnTo>
                  <a:pt x="0" y="434622"/>
                </a:lnTo>
                <a:moveTo>
                  <a:pt x="0" y="543277"/>
                </a:moveTo>
                <a:lnTo>
                  <a:pt x="0" y="977900"/>
                </a:lnTo>
                <a:cubicBezTo>
                  <a:pt x="0" y="1067913"/>
                  <a:pt x="389174" y="1140883"/>
                  <a:pt x="869244" y="1140883"/>
                </a:cubicBezTo>
                <a:cubicBezTo>
                  <a:pt x="1349314" y="1140883"/>
                  <a:pt x="1738488" y="1067913"/>
                  <a:pt x="1738488" y="977900"/>
                </a:cubicBezTo>
                <a:lnTo>
                  <a:pt x="1738488" y="543277"/>
                </a:lnTo>
                <a:moveTo>
                  <a:pt x="0" y="434622"/>
                </a:moveTo>
                <a:lnTo>
                  <a:pt x="0" y="0"/>
                </a:lnTo>
                <a:cubicBezTo>
                  <a:pt x="0" y="90012"/>
                  <a:pt x="389174" y="162983"/>
                  <a:pt x="869244" y="162983"/>
                </a:cubicBezTo>
                <a:cubicBezTo>
                  <a:pt x="1349314" y="162983"/>
                  <a:pt x="1738488" y="90012"/>
                  <a:pt x="1738488" y="0"/>
                </a:cubicBezTo>
                <a:lnTo>
                  <a:pt x="1738488" y="434622"/>
                </a:lnTo>
              </a:path>
            </a:pathLst>
          </a:custGeom>
          <a:noFill/>
          <a:ln w="13580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00750" y="2218617"/>
            <a:ext cx="1738488" cy="977900"/>
          </a:xfrm>
          <a:custGeom>
            <a:avLst/>
            <a:gdLst/>
            <a:ahLst/>
            <a:cxnLst/>
            <a:rect l="0" t="0" r="0" b="0"/>
            <a:pathLst>
              <a:path w="1738488" h="977900">
                <a:moveTo>
                  <a:pt x="1738488" y="434622"/>
                </a:moveTo>
                <a:lnTo>
                  <a:pt x="1738488" y="0"/>
                </a:lnTo>
                <a:lnTo>
                  <a:pt x="0" y="0"/>
                </a:lnTo>
                <a:lnTo>
                  <a:pt x="0" y="434621"/>
                </a:lnTo>
                <a:moveTo>
                  <a:pt x="1738488" y="543277"/>
                </a:moveTo>
                <a:lnTo>
                  <a:pt x="1738488" y="434622"/>
                </a:lnTo>
                <a:moveTo>
                  <a:pt x="0" y="543277"/>
                </a:moveTo>
                <a:lnTo>
                  <a:pt x="0" y="434622"/>
                </a:lnTo>
                <a:moveTo>
                  <a:pt x="0" y="543277"/>
                </a:moveTo>
                <a:lnTo>
                  <a:pt x="0" y="977900"/>
                </a:lnTo>
                <a:lnTo>
                  <a:pt x="1738488" y="977900"/>
                </a:lnTo>
                <a:lnTo>
                  <a:pt x="1738488" y="543277"/>
                </a:lnTo>
              </a:path>
            </a:pathLst>
          </a:custGeom>
          <a:noFill/>
          <a:ln w="13580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62260" y="3196521"/>
            <a:ext cx="1738488" cy="1140883"/>
          </a:xfrm>
          <a:custGeom>
            <a:avLst/>
            <a:gdLst/>
            <a:ahLst/>
            <a:cxnLst/>
            <a:rect l="0" t="0" r="0" b="0"/>
            <a:pathLst>
              <a:path w="1738488" h="1140883">
                <a:moveTo>
                  <a:pt x="1738488" y="543277"/>
                </a:moveTo>
                <a:lnTo>
                  <a:pt x="1738488" y="434622"/>
                </a:lnTo>
                <a:moveTo>
                  <a:pt x="0" y="543277"/>
                </a:moveTo>
                <a:lnTo>
                  <a:pt x="0" y="434622"/>
                </a:lnTo>
                <a:moveTo>
                  <a:pt x="0" y="543277"/>
                </a:moveTo>
                <a:lnTo>
                  <a:pt x="0" y="977900"/>
                </a:lnTo>
                <a:cubicBezTo>
                  <a:pt x="0" y="1067913"/>
                  <a:pt x="389174" y="1140883"/>
                  <a:pt x="869244" y="1140883"/>
                </a:cubicBezTo>
                <a:cubicBezTo>
                  <a:pt x="1349314" y="1140883"/>
                  <a:pt x="1738488" y="1067913"/>
                  <a:pt x="1738488" y="977900"/>
                </a:cubicBezTo>
                <a:lnTo>
                  <a:pt x="1738488" y="543277"/>
                </a:lnTo>
                <a:moveTo>
                  <a:pt x="0" y="434622"/>
                </a:moveTo>
                <a:lnTo>
                  <a:pt x="0" y="0"/>
                </a:lnTo>
                <a:cubicBezTo>
                  <a:pt x="0" y="90012"/>
                  <a:pt x="389174" y="162983"/>
                  <a:pt x="869244" y="162983"/>
                </a:cubicBezTo>
                <a:cubicBezTo>
                  <a:pt x="1349314" y="162983"/>
                  <a:pt x="1738488" y="90012"/>
                  <a:pt x="1738488" y="0"/>
                </a:cubicBezTo>
                <a:lnTo>
                  <a:pt x="1738488" y="434622"/>
                </a:lnTo>
              </a:path>
            </a:pathLst>
          </a:custGeom>
          <a:noFill/>
          <a:ln w="13580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00750" y="3196521"/>
            <a:ext cx="1738488" cy="977900"/>
          </a:xfrm>
          <a:custGeom>
            <a:avLst/>
            <a:gdLst/>
            <a:ahLst/>
            <a:cxnLst/>
            <a:rect l="0" t="0" r="0" b="0"/>
            <a:pathLst>
              <a:path w="1738488" h="977900">
                <a:moveTo>
                  <a:pt x="1738488" y="434622"/>
                </a:moveTo>
                <a:lnTo>
                  <a:pt x="1738488" y="0"/>
                </a:lnTo>
                <a:lnTo>
                  <a:pt x="0" y="0"/>
                </a:lnTo>
                <a:lnTo>
                  <a:pt x="0" y="434621"/>
                </a:lnTo>
                <a:moveTo>
                  <a:pt x="1738488" y="543277"/>
                </a:moveTo>
                <a:lnTo>
                  <a:pt x="1738488" y="434622"/>
                </a:lnTo>
                <a:moveTo>
                  <a:pt x="0" y="543277"/>
                </a:moveTo>
                <a:lnTo>
                  <a:pt x="0" y="434622"/>
                </a:lnTo>
                <a:moveTo>
                  <a:pt x="0" y="543277"/>
                </a:moveTo>
                <a:lnTo>
                  <a:pt x="0" y="977900"/>
                </a:lnTo>
                <a:lnTo>
                  <a:pt x="1738488" y="977900"/>
                </a:lnTo>
                <a:lnTo>
                  <a:pt x="1738488" y="543277"/>
                </a:lnTo>
              </a:path>
            </a:pathLst>
          </a:custGeom>
          <a:noFill/>
          <a:ln w="13580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62260" y="4174419"/>
            <a:ext cx="1738488" cy="380294"/>
          </a:xfrm>
          <a:custGeom>
            <a:avLst/>
            <a:gdLst/>
            <a:ahLst/>
            <a:cxnLst/>
            <a:rect l="0" t="0" r="0" b="0"/>
            <a:pathLst>
              <a:path w="1738488" h="380294">
                <a:moveTo>
                  <a:pt x="869244" y="380294"/>
                </a:moveTo>
                <a:cubicBezTo>
                  <a:pt x="389174" y="380294"/>
                  <a:pt x="0" y="307324"/>
                  <a:pt x="0" y="217311"/>
                </a:cubicBezTo>
                <a:lnTo>
                  <a:pt x="0" y="0"/>
                </a:lnTo>
                <a:cubicBezTo>
                  <a:pt x="0" y="90012"/>
                  <a:pt x="389174" y="162983"/>
                  <a:pt x="869244" y="162983"/>
                </a:cubicBezTo>
                <a:cubicBezTo>
                  <a:pt x="1349314" y="162983"/>
                  <a:pt x="1738488" y="90012"/>
                  <a:pt x="1738488" y="0"/>
                </a:cubicBezTo>
                <a:lnTo>
                  <a:pt x="1738488" y="217311"/>
                </a:lnTo>
                <a:cubicBezTo>
                  <a:pt x="1738488" y="307324"/>
                  <a:pt x="1349314" y="380294"/>
                  <a:pt x="869244" y="380294"/>
                </a:cubicBezTo>
                <a:close/>
                <a:moveTo>
                  <a:pt x="1738488" y="0"/>
                </a:moveTo>
                <a:cubicBezTo>
                  <a:pt x="1738488" y="151891"/>
                  <a:pt x="1738488" y="65419"/>
                  <a:pt x="1738488" y="217311"/>
                </a:cubicBezTo>
                <a:moveTo>
                  <a:pt x="0" y="0"/>
                </a:moveTo>
                <a:cubicBezTo>
                  <a:pt x="0" y="151891"/>
                  <a:pt x="0" y="65419"/>
                  <a:pt x="0" y="217311"/>
                </a:cubicBezTo>
              </a:path>
            </a:pathLst>
          </a:custGeom>
          <a:noFill/>
          <a:ln w="13580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7" name="Group 16"/>
          <p:cNvGrpSpPr/>
          <p:nvPr/>
        </p:nvGrpSpPr>
        <p:grpSpPr>
          <a:xfrm>
            <a:off x="390525" y="429755"/>
            <a:ext cx="2425007" cy="1047949"/>
            <a:chOff x="390525" y="429755"/>
            <a:chExt cx="2425007" cy="1047949"/>
          </a:xfrm>
        </p:grpSpPr>
        <p:sp>
          <p:nvSpPr>
            <p:cNvPr id="14" name="TextBox 13"/>
            <p:cNvSpPr txBox="1"/>
            <p:nvPr/>
          </p:nvSpPr>
          <p:spPr>
            <a:xfrm>
              <a:off x="390525" y="429755"/>
              <a:ext cx="2788758" cy="349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Evaluation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90525" y="779036"/>
              <a:ext cx="2788758" cy="349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and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0525" y="1128318"/>
              <a:ext cx="2788758" cy="34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Observability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540109" y="610530"/>
            <a:ext cx="962767" cy="391143"/>
            <a:chOff x="6540109" y="610530"/>
            <a:chExt cx="962767" cy="391143"/>
          </a:xfrm>
        </p:grpSpPr>
        <p:sp>
          <p:nvSpPr>
            <p:cNvPr id="18" name="TextBox 17"/>
            <p:cNvSpPr txBox="1"/>
            <p:nvPr/>
          </p:nvSpPr>
          <p:spPr>
            <a:xfrm>
              <a:off x="6467902" y="610530"/>
              <a:ext cx="1107182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Evaluation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467902" y="806078"/>
              <a:ext cx="1107182" cy="195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Objectivity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390525" y="1707428"/>
            <a:ext cx="102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00" b="1">
                <a:solidFill>
                  <a:srgbClr val="E7ECEB"/>
                </a:solidFill>
                <a:latin typeface="Montserrat"/>
              </a:rPr>
              <a:t>Reliability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601829" y="1642757"/>
            <a:ext cx="1059360" cy="391143"/>
            <a:chOff x="4601829" y="1642757"/>
            <a:chExt cx="1059360" cy="391143"/>
          </a:xfrm>
        </p:grpSpPr>
        <p:sp>
          <p:nvSpPr>
            <p:cNvPr id="22" name="TextBox 21"/>
            <p:cNvSpPr txBox="1"/>
            <p:nvPr/>
          </p:nvSpPr>
          <p:spPr>
            <a:xfrm>
              <a:off x="4522377" y="1642757"/>
              <a:ext cx="1218264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Benchmark-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522377" y="1838305"/>
              <a:ext cx="1218264" cy="195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ing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269995" y="1509586"/>
            <a:ext cx="1199997" cy="440177"/>
            <a:chOff x="6269995" y="1509586"/>
            <a:chExt cx="1199997" cy="440177"/>
          </a:xfrm>
        </p:grpSpPr>
        <p:sp>
          <p:nvSpPr>
            <p:cNvPr id="25" name="TextBox 24"/>
            <p:cNvSpPr txBox="1"/>
            <p:nvPr/>
          </p:nvSpPr>
          <p:spPr>
            <a:xfrm>
              <a:off x="6179996" y="1509586"/>
              <a:ext cx="1379996" cy="146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Measures reliability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179996" y="1656366"/>
              <a:ext cx="1379996" cy="146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using standardized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179996" y="1803146"/>
              <a:ext cx="1379996" cy="146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tests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4434232" y="2718430"/>
            <a:ext cx="1394554" cy="1955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7BDEC4"/>
                </a:solidFill>
                <a:latin typeface="Montserrat"/>
              </a:rPr>
              <a:t>Trace Analysis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6246259" y="2560856"/>
            <a:ext cx="1247479" cy="293427"/>
            <a:chOff x="6246259" y="2560856"/>
            <a:chExt cx="1247479" cy="293427"/>
          </a:xfrm>
        </p:grpSpPr>
        <p:sp>
          <p:nvSpPr>
            <p:cNvPr id="30" name="TextBox 29"/>
            <p:cNvSpPr txBox="1"/>
            <p:nvPr/>
          </p:nvSpPr>
          <p:spPr>
            <a:xfrm>
              <a:off x="6152699" y="2560856"/>
              <a:ext cx="1434600" cy="1466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Visualizes reasoning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152699" y="2707541"/>
              <a:ext cx="1434600" cy="1467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path for deviations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717244" y="3598559"/>
            <a:ext cx="828522" cy="391143"/>
            <a:chOff x="4717244" y="3598559"/>
            <a:chExt cx="828522" cy="391143"/>
          </a:xfrm>
        </p:grpSpPr>
        <p:sp>
          <p:nvSpPr>
            <p:cNvPr id="33" name="TextBox 32"/>
            <p:cNvSpPr txBox="1"/>
            <p:nvPr/>
          </p:nvSpPr>
          <p:spPr>
            <a:xfrm>
              <a:off x="4655105" y="3598559"/>
              <a:ext cx="952800" cy="1955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LLM-as-a-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655105" y="3794107"/>
              <a:ext cx="952800" cy="195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Judge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441522" y="3465383"/>
            <a:ext cx="856954" cy="440177"/>
            <a:chOff x="6441522" y="3465383"/>
            <a:chExt cx="856954" cy="440177"/>
          </a:xfrm>
        </p:grpSpPr>
        <p:sp>
          <p:nvSpPr>
            <p:cNvPr id="36" name="TextBox 35"/>
            <p:cNvSpPr txBox="1"/>
            <p:nvPr/>
          </p:nvSpPr>
          <p:spPr>
            <a:xfrm>
              <a:off x="6377251" y="3465383"/>
              <a:ext cx="985497" cy="146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Uses superior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377251" y="3612163"/>
              <a:ext cx="985497" cy="146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models for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377251" y="3758943"/>
              <a:ext cx="985497" cy="146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evaluation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390525" y="4257717"/>
            <a:ext cx="2356989" cy="514302"/>
            <a:chOff x="390525" y="4257717"/>
            <a:chExt cx="2356989" cy="514302"/>
          </a:xfrm>
        </p:grpSpPr>
        <p:sp>
          <p:nvSpPr>
            <p:cNvPr id="40" name="TextBox 39"/>
            <p:cNvSpPr txBox="1"/>
            <p:nvPr/>
          </p:nvSpPr>
          <p:spPr>
            <a:xfrm>
              <a:off x="390525" y="4257717"/>
              <a:ext cx="271053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Benchmarking utilizes standardized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0525" y="4429167"/>
              <a:ext cx="2710537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sets like AgentBench to measure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90525" y="4600617"/>
              <a:ext cx="2710537" cy="1714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900" b="0">
                  <a:solidFill>
                    <a:srgbClr val="E7ECEB"/>
                  </a:solidFill>
                  <a:latin typeface="Montserrat"/>
                </a:rPr>
                <a:t>reliability and success rates.</a:t>
              </a:r>
            </a:p>
          </p:txBody>
        </p:sp>
      </p:grpSp>
      <p:sp>
        <p:nvSpPr>
          <p:cNvPr id="44" name="Rounded Rectangle 43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4477869" y="882648"/>
            <a:ext cx="1715911" cy="536222"/>
            <a:chOff x="4477869" y="882648"/>
            <a:chExt cx="1715911" cy="536222"/>
          </a:xfrm>
        </p:grpSpPr>
        <p:sp>
          <p:nvSpPr>
            <p:cNvPr id="2" name="Rounded Rectangle 1"/>
            <p:cNvSpPr/>
            <p:nvPr/>
          </p:nvSpPr>
          <p:spPr>
            <a:xfrm>
              <a:off x="4477869" y="882648"/>
              <a:ext cx="1715911" cy="536222"/>
            </a:xfrm>
            <a:custGeom>
              <a:avLst/>
              <a:gdLst/>
              <a:ahLst/>
              <a:cxnLst/>
              <a:rect l="0" t="0" r="0" b="0"/>
              <a:pathLst>
                <a:path w="1715911" h="536222">
                  <a:moveTo>
                    <a:pt x="1715911" y="160866"/>
                  </a:moveTo>
                  <a:cubicBezTo>
                    <a:pt x="1715911" y="72022"/>
                    <a:pt x="1331790" y="0"/>
                    <a:pt x="857955" y="0"/>
                  </a:cubicBezTo>
                  <a:cubicBezTo>
                    <a:pt x="384120" y="0"/>
                    <a:pt x="0" y="72022"/>
                    <a:pt x="0" y="160866"/>
                  </a:cubicBezTo>
                  <a:cubicBezTo>
                    <a:pt x="0" y="310785"/>
                    <a:pt x="0" y="225436"/>
                    <a:pt x="0" y="375355"/>
                  </a:cubicBezTo>
                  <a:cubicBezTo>
                    <a:pt x="0" y="464199"/>
                    <a:pt x="384120" y="536222"/>
                    <a:pt x="857955" y="536222"/>
                  </a:cubicBezTo>
                  <a:cubicBezTo>
                    <a:pt x="1331790" y="536222"/>
                    <a:pt x="1715911" y="464199"/>
                    <a:pt x="1715911" y="375355"/>
                  </a:cubicBezTo>
                  <a:cubicBezTo>
                    <a:pt x="1715911" y="225436"/>
                    <a:pt x="1715911" y="310785"/>
                    <a:pt x="1715911" y="160866"/>
                  </a:cubicBezTo>
                  <a:close/>
                </a:path>
              </a:pathLst>
            </a:custGeom>
            <a:noFill/>
            <a:ln w="13408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477869" y="882648"/>
              <a:ext cx="1715911" cy="321733"/>
            </a:xfrm>
            <a:custGeom>
              <a:avLst/>
              <a:gdLst/>
              <a:ahLst/>
              <a:cxnLst/>
              <a:rect l="0" t="0" r="0" b="0"/>
              <a:pathLst>
                <a:path w="1715911" h="321733">
                  <a:moveTo>
                    <a:pt x="0" y="160866"/>
                  </a:moveTo>
                  <a:cubicBezTo>
                    <a:pt x="0" y="249710"/>
                    <a:pt x="384119" y="321733"/>
                    <a:pt x="857955" y="321733"/>
                  </a:cubicBezTo>
                  <a:cubicBezTo>
                    <a:pt x="1331791" y="321733"/>
                    <a:pt x="1715911" y="249710"/>
                    <a:pt x="1715911" y="160866"/>
                  </a:cubicBezTo>
                  <a:cubicBezTo>
                    <a:pt x="1715911" y="72022"/>
                    <a:pt x="1331791" y="0"/>
                    <a:pt x="857955" y="0"/>
                  </a:cubicBezTo>
                  <a:cubicBezTo>
                    <a:pt x="384119" y="0"/>
                    <a:pt x="0" y="72022"/>
                    <a:pt x="0" y="160866"/>
                  </a:cubicBezTo>
                </a:path>
              </a:pathLst>
            </a:custGeom>
            <a:noFill/>
            <a:ln w="13408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014091" y="882648"/>
              <a:ext cx="643466" cy="223425"/>
            </a:xfrm>
            <a:custGeom>
              <a:avLst/>
              <a:gdLst/>
              <a:ahLst/>
              <a:cxnLst/>
              <a:rect l="0" t="0" r="0" b="0"/>
              <a:pathLst>
                <a:path w="643466" h="223425">
                  <a:moveTo>
                    <a:pt x="0" y="160866"/>
                  </a:moveTo>
                  <a:cubicBezTo>
                    <a:pt x="0" y="195417"/>
                    <a:pt x="144044" y="223425"/>
                    <a:pt x="321733" y="223425"/>
                  </a:cubicBezTo>
                  <a:cubicBezTo>
                    <a:pt x="499422" y="223425"/>
                    <a:pt x="643466" y="195417"/>
                    <a:pt x="643466" y="160866"/>
                  </a:cubicBezTo>
                  <a:lnTo>
                    <a:pt x="643466" y="62559"/>
                  </a:lnTo>
                  <a:cubicBezTo>
                    <a:pt x="643466" y="28008"/>
                    <a:pt x="499422" y="0"/>
                    <a:pt x="321733" y="0"/>
                  </a:cubicBezTo>
                  <a:cubicBezTo>
                    <a:pt x="144044" y="0"/>
                    <a:pt x="0" y="28008"/>
                    <a:pt x="0" y="62559"/>
                  </a:cubicBezTo>
                  <a:lnTo>
                    <a:pt x="0" y="160866"/>
                  </a:lnTo>
                  <a:close/>
                </a:path>
              </a:pathLst>
            </a:custGeom>
            <a:noFill/>
            <a:ln w="13408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014091" y="882648"/>
              <a:ext cx="643466" cy="125118"/>
            </a:xfrm>
            <a:custGeom>
              <a:avLst/>
              <a:gdLst/>
              <a:ahLst/>
              <a:cxnLst/>
              <a:rect l="0" t="0" r="0" b="0"/>
              <a:pathLst>
                <a:path w="643466" h="125118">
                  <a:moveTo>
                    <a:pt x="643466" y="62559"/>
                  </a:moveTo>
                  <a:cubicBezTo>
                    <a:pt x="643466" y="28008"/>
                    <a:pt x="499422" y="0"/>
                    <a:pt x="321733" y="0"/>
                  </a:cubicBezTo>
                  <a:cubicBezTo>
                    <a:pt x="144044" y="0"/>
                    <a:pt x="0" y="28008"/>
                    <a:pt x="0" y="62559"/>
                  </a:cubicBezTo>
                  <a:cubicBezTo>
                    <a:pt x="0" y="97109"/>
                    <a:pt x="144044" y="125118"/>
                    <a:pt x="321733" y="125118"/>
                  </a:cubicBezTo>
                  <a:cubicBezTo>
                    <a:pt x="499422" y="125118"/>
                    <a:pt x="643466" y="97109"/>
                    <a:pt x="643466" y="62559"/>
                  </a:cubicBezTo>
                  <a:close/>
                </a:path>
              </a:pathLst>
            </a:custGeom>
            <a:noFill/>
            <a:ln w="13408">
              <a:solidFill>
                <a:srgbClr val="E7ECEB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" name="Rounded Rectangle 6"/>
          <p:cNvSpPr/>
          <p:nvPr/>
        </p:nvSpPr>
        <p:spPr>
          <a:xfrm>
            <a:off x="4477868" y="1258006"/>
            <a:ext cx="1715911" cy="1126066"/>
          </a:xfrm>
          <a:custGeom>
            <a:avLst/>
            <a:gdLst/>
            <a:ahLst/>
            <a:cxnLst/>
            <a:rect l="0" t="0" r="0" b="0"/>
            <a:pathLst>
              <a:path w="1715911" h="1126066">
                <a:moveTo>
                  <a:pt x="1715911" y="536222"/>
                </a:moveTo>
                <a:lnTo>
                  <a:pt x="1715911" y="428977"/>
                </a:lnTo>
                <a:moveTo>
                  <a:pt x="0" y="536222"/>
                </a:moveTo>
                <a:lnTo>
                  <a:pt x="0" y="428977"/>
                </a:lnTo>
                <a:moveTo>
                  <a:pt x="0" y="536222"/>
                </a:moveTo>
                <a:lnTo>
                  <a:pt x="0" y="965199"/>
                </a:lnTo>
                <a:cubicBezTo>
                  <a:pt x="0" y="1054043"/>
                  <a:pt x="384120" y="1126066"/>
                  <a:pt x="857955" y="1126066"/>
                </a:cubicBezTo>
                <a:cubicBezTo>
                  <a:pt x="1331790" y="1126066"/>
                  <a:pt x="1715911" y="1054043"/>
                  <a:pt x="1715911" y="965199"/>
                </a:cubicBezTo>
                <a:lnTo>
                  <a:pt x="1715911" y="536222"/>
                </a:lnTo>
                <a:moveTo>
                  <a:pt x="0" y="428977"/>
                </a:moveTo>
                <a:lnTo>
                  <a:pt x="0" y="0"/>
                </a:lnTo>
                <a:cubicBezTo>
                  <a:pt x="0" y="88843"/>
                  <a:pt x="384120" y="160866"/>
                  <a:pt x="857955" y="160866"/>
                </a:cubicBezTo>
                <a:cubicBezTo>
                  <a:pt x="1331790" y="160866"/>
                  <a:pt x="1715911" y="88843"/>
                  <a:pt x="1715911" y="0"/>
                </a:cubicBezTo>
                <a:lnTo>
                  <a:pt x="1715911" y="428977"/>
                </a:lnTo>
              </a:path>
            </a:pathLst>
          </a:custGeom>
          <a:noFill/>
          <a:ln w="13408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3780" y="1258006"/>
            <a:ext cx="1715911" cy="965200"/>
          </a:xfrm>
          <a:custGeom>
            <a:avLst/>
            <a:gdLst/>
            <a:ahLst/>
            <a:cxnLst/>
            <a:rect l="0" t="0" r="0" b="0"/>
            <a:pathLst>
              <a:path w="1715911" h="965200">
                <a:moveTo>
                  <a:pt x="1715911" y="428977"/>
                </a:moveTo>
                <a:lnTo>
                  <a:pt x="1715911" y="0"/>
                </a:lnTo>
                <a:lnTo>
                  <a:pt x="0" y="0"/>
                </a:lnTo>
                <a:lnTo>
                  <a:pt x="0" y="428976"/>
                </a:lnTo>
                <a:moveTo>
                  <a:pt x="1715911" y="536222"/>
                </a:moveTo>
                <a:lnTo>
                  <a:pt x="1715911" y="428977"/>
                </a:lnTo>
                <a:moveTo>
                  <a:pt x="0" y="536222"/>
                </a:moveTo>
                <a:lnTo>
                  <a:pt x="0" y="428977"/>
                </a:lnTo>
                <a:moveTo>
                  <a:pt x="0" y="536222"/>
                </a:moveTo>
                <a:lnTo>
                  <a:pt x="0" y="965200"/>
                </a:lnTo>
                <a:lnTo>
                  <a:pt x="1715911" y="965200"/>
                </a:lnTo>
                <a:lnTo>
                  <a:pt x="1715911" y="536222"/>
                </a:lnTo>
              </a:path>
            </a:pathLst>
          </a:custGeom>
          <a:noFill/>
          <a:ln w="13408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77868" y="2223203"/>
            <a:ext cx="1715911" cy="1126066"/>
          </a:xfrm>
          <a:custGeom>
            <a:avLst/>
            <a:gdLst/>
            <a:ahLst/>
            <a:cxnLst/>
            <a:rect l="0" t="0" r="0" b="0"/>
            <a:pathLst>
              <a:path w="1715911" h="1126066">
                <a:moveTo>
                  <a:pt x="1715911" y="536222"/>
                </a:moveTo>
                <a:lnTo>
                  <a:pt x="1715911" y="428977"/>
                </a:lnTo>
                <a:moveTo>
                  <a:pt x="0" y="536222"/>
                </a:moveTo>
                <a:lnTo>
                  <a:pt x="0" y="428977"/>
                </a:lnTo>
                <a:moveTo>
                  <a:pt x="0" y="536222"/>
                </a:moveTo>
                <a:lnTo>
                  <a:pt x="0" y="965199"/>
                </a:lnTo>
                <a:cubicBezTo>
                  <a:pt x="0" y="1054043"/>
                  <a:pt x="384120" y="1126066"/>
                  <a:pt x="857955" y="1126066"/>
                </a:cubicBezTo>
                <a:cubicBezTo>
                  <a:pt x="1331790" y="1126066"/>
                  <a:pt x="1715911" y="1054043"/>
                  <a:pt x="1715911" y="965199"/>
                </a:cubicBezTo>
                <a:lnTo>
                  <a:pt x="1715911" y="536222"/>
                </a:lnTo>
                <a:moveTo>
                  <a:pt x="0" y="428977"/>
                </a:moveTo>
                <a:lnTo>
                  <a:pt x="0" y="0"/>
                </a:lnTo>
                <a:cubicBezTo>
                  <a:pt x="0" y="88843"/>
                  <a:pt x="384120" y="160866"/>
                  <a:pt x="857955" y="160866"/>
                </a:cubicBezTo>
                <a:cubicBezTo>
                  <a:pt x="1331790" y="160866"/>
                  <a:pt x="1715911" y="88843"/>
                  <a:pt x="1715911" y="0"/>
                </a:cubicBezTo>
                <a:lnTo>
                  <a:pt x="1715911" y="428977"/>
                </a:lnTo>
              </a:path>
            </a:pathLst>
          </a:custGeom>
          <a:noFill/>
          <a:ln w="13408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93780" y="2223203"/>
            <a:ext cx="1715911" cy="965200"/>
          </a:xfrm>
          <a:custGeom>
            <a:avLst/>
            <a:gdLst/>
            <a:ahLst/>
            <a:cxnLst/>
            <a:rect l="0" t="0" r="0" b="0"/>
            <a:pathLst>
              <a:path w="1715911" h="965200">
                <a:moveTo>
                  <a:pt x="1715911" y="428977"/>
                </a:moveTo>
                <a:lnTo>
                  <a:pt x="1715911" y="0"/>
                </a:lnTo>
                <a:lnTo>
                  <a:pt x="0" y="0"/>
                </a:lnTo>
                <a:lnTo>
                  <a:pt x="0" y="428976"/>
                </a:lnTo>
                <a:moveTo>
                  <a:pt x="1715911" y="536222"/>
                </a:moveTo>
                <a:lnTo>
                  <a:pt x="1715911" y="428977"/>
                </a:lnTo>
                <a:moveTo>
                  <a:pt x="0" y="536222"/>
                </a:moveTo>
                <a:lnTo>
                  <a:pt x="0" y="428977"/>
                </a:lnTo>
                <a:moveTo>
                  <a:pt x="0" y="536222"/>
                </a:moveTo>
                <a:lnTo>
                  <a:pt x="0" y="965200"/>
                </a:lnTo>
                <a:lnTo>
                  <a:pt x="1715911" y="965200"/>
                </a:lnTo>
                <a:lnTo>
                  <a:pt x="1715911" y="536222"/>
                </a:lnTo>
              </a:path>
            </a:pathLst>
          </a:custGeom>
          <a:noFill/>
          <a:ln w="13408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77868" y="3188405"/>
            <a:ext cx="1715911" cy="1126066"/>
          </a:xfrm>
          <a:custGeom>
            <a:avLst/>
            <a:gdLst/>
            <a:ahLst/>
            <a:cxnLst/>
            <a:rect l="0" t="0" r="0" b="0"/>
            <a:pathLst>
              <a:path w="1715911" h="1126066">
                <a:moveTo>
                  <a:pt x="1715911" y="536222"/>
                </a:moveTo>
                <a:lnTo>
                  <a:pt x="1715911" y="428977"/>
                </a:lnTo>
                <a:moveTo>
                  <a:pt x="0" y="536222"/>
                </a:moveTo>
                <a:lnTo>
                  <a:pt x="0" y="428977"/>
                </a:lnTo>
                <a:moveTo>
                  <a:pt x="0" y="536222"/>
                </a:moveTo>
                <a:lnTo>
                  <a:pt x="0" y="965199"/>
                </a:lnTo>
                <a:cubicBezTo>
                  <a:pt x="0" y="1054043"/>
                  <a:pt x="384120" y="1126066"/>
                  <a:pt x="857955" y="1126066"/>
                </a:cubicBezTo>
                <a:cubicBezTo>
                  <a:pt x="1331790" y="1126066"/>
                  <a:pt x="1715911" y="1054043"/>
                  <a:pt x="1715911" y="965199"/>
                </a:cubicBezTo>
                <a:lnTo>
                  <a:pt x="1715911" y="536222"/>
                </a:lnTo>
                <a:moveTo>
                  <a:pt x="0" y="428977"/>
                </a:moveTo>
                <a:lnTo>
                  <a:pt x="0" y="0"/>
                </a:lnTo>
                <a:cubicBezTo>
                  <a:pt x="0" y="88843"/>
                  <a:pt x="384120" y="160866"/>
                  <a:pt x="857955" y="160866"/>
                </a:cubicBezTo>
                <a:cubicBezTo>
                  <a:pt x="1331790" y="160866"/>
                  <a:pt x="1715911" y="88843"/>
                  <a:pt x="1715911" y="0"/>
                </a:cubicBezTo>
                <a:lnTo>
                  <a:pt x="1715911" y="428977"/>
                </a:lnTo>
              </a:path>
            </a:pathLst>
          </a:custGeom>
          <a:noFill/>
          <a:ln w="13408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3780" y="3188405"/>
            <a:ext cx="1715911" cy="965200"/>
          </a:xfrm>
          <a:custGeom>
            <a:avLst/>
            <a:gdLst/>
            <a:ahLst/>
            <a:cxnLst/>
            <a:rect l="0" t="0" r="0" b="0"/>
            <a:pathLst>
              <a:path w="1715911" h="965200">
                <a:moveTo>
                  <a:pt x="1715911" y="428977"/>
                </a:moveTo>
                <a:lnTo>
                  <a:pt x="1715911" y="0"/>
                </a:lnTo>
                <a:lnTo>
                  <a:pt x="0" y="0"/>
                </a:lnTo>
                <a:lnTo>
                  <a:pt x="0" y="428976"/>
                </a:lnTo>
                <a:moveTo>
                  <a:pt x="1715911" y="536222"/>
                </a:moveTo>
                <a:lnTo>
                  <a:pt x="1715911" y="428977"/>
                </a:lnTo>
                <a:moveTo>
                  <a:pt x="0" y="536222"/>
                </a:moveTo>
                <a:lnTo>
                  <a:pt x="0" y="428977"/>
                </a:lnTo>
                <a:moveTo>
                  <a:pt x="0" y="536222"/>
                </a:moveTo>
                <a:lnTo>
                  <a:pt x="0" y="965200"/>
                </a:lnTo>
                <a:lnTo>
                  <a:pt x="1715911" y="965200"/>
                </a:lnTo>
                <a:lnTo>
                  <a:pt x="1715911" y="536222"/>
                </a:lnTo>
              </a:path>
            </a:pathLst>
          </a:custGeom>
          <a:noFill/>
          <a:ln w="13408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77868" y="4153606"/>
            <a:ext cx="1715911" cy="375355"/>
          </a:xfrm>
          <a:custGeom>
            <a:avLst/>
            <a:gdLst/>
            <a:ahLst/>
            <a:cxnLst/>
            <a:rect l="0" t="0" r="0" b="0"/>
            <a:pathLst>
              <a:path w="1715911" h="375355">
                <a:moveTo>
                  <a:pt x="857955" y="375355"/>
                </a:moveTo>
                <a:cubicBezTo>
                  <a:pt x="384120" y="375355"/>
                  <a:pt x="0" y="303332"/>
                  <a:pt x="0" y="214488"/>
                </a:cubicBezTo>
                <a:lnTo>
                  <a:pt x="0" y="0"/>
                </a:lnTo>
                <a:cubicBezTo>
                  <a:pt x="0" y="88843"/>
                  <a:pt x="384120" y="160866"/>
                  <a:pt x="857955" y="160866"/>
                </a:cubicBezTo>
                <a:cubicBezTo>
                  <a:pt x="1331790" y="160866"/>
                  <a:pt x="1715911" y="88843"/>
                  <a:pt x="1715911" y="0"/>
                </a:cubicBezTo>
                <a:lnTo>
                  <a:pt x="1715911" y="214488"/>
                </a:lnTo>
                <a:cubicBezTo>
                  <a:pt x="1715911" y="303332"/>
                  <a:pt x="1331790" y="375355"/>
                  <a:pt x="857955" y="375355"/>
                </a:cubicBezTo>
                <a:close/>
                <a:moveTo>
                  <a:pt x="1715911" y="0"/>
                </a:moveTo>
                <a:cubicBezTo>
                  <a:pt x="1715911" y="149918"/>
                  <a:pt x="1715911" y="64570"/>
                  <a:pt x="1715911" y="214488"/>
                </a:cubicBezTo>
                <a:moveTo>
                  <a:pt x="0" y="0"/>
                </a:moveTo>
                <a:cubicBezTo>
                  <a:pt x="0" y="149918"/>
                  <a:pt x="0" y="64570"/>
                  <a:pt x="0" y="214488"/>
                </a:cubicBezTo>
              </a:path>
            </a:pathLst>
          </a:custGeom>
          <a:noFill/>
          <a:ln w="13408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" name="Group 15"/>
          <p:cNvGrpSpPr/>
          <p:nvPr/>
        </p:nvGrpSpPr>
        <p:grpSpPr>
          <a:xfrm>
            <a:off x="6940788" y="635994"/>
            <a:ext cx="735358" cy="386066"/>
            <a:chOff x="6940788" y="635994"/>
            <a:chExt cx="735358" cy="386066"/>
          </a:xfrm>
        </p:grpSpPr>
        <p:sp>
          <p:nvSpPr>
            <p:cNvPr id="14" name="TextBox 13"/>
            <p:cNvSpPr txBox="1"/>
            <p:nvPr/>
          </p:nvSpPr>
          <p:spPr>
            <a:xfrm>
              <a:off x="6885637" y="635994"/>
              <a:ext cx="845661" cy="1930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Security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85637" y="829065"/>
              <a:ext cx="845661" cy="192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Control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19100" y="533905"/>
            <a:ext cx="2976857" cy="2408357"/>
            <a:chOff x="419100" y="533905"/>
            <a:chExt cx="2976857" cy="2408357"/>
          </a:xfrm>
        </p:grpSpPr>
        <p:sp>
          <p:nvSpPr>
            <p:cNvPr id="17" name="TextBox 16"/>
            <p:cNvSpPr txBox="1"/>
            <p:nvPr/>
          </p:nvSpPr>
          <p:spPr>
            <a:xfrm>
              <a:off x="419100" y="533905"/>
              <a:ext cx="3423385" cy="401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7BDEC4"/>
                  </a:solidFill>
                  <a:latin typeface="Montserrat"/>
                </a:rPr>
                <a:t>Security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9100" y="935288"/>
              <a:ext cx="3423385" cy="401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7BDEC4"/>
                  </a:solidFill>
                  <a:latin typeface="Montserrat"/>
                </a:rPr>
                <a:t>measures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9100" y="1336672"/>
              <a:ext cx="3423385" cy="401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7BDEC4"/>
                  </a:solidFill>
                  <a:latin typeface="Montserrat"/>
                </a:rPr>
                <a:t>range from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9100" y="1738055"/>
              <a:ext cx="3423385" cy="401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7BDEC4"/>
                  </a:solidFill>
                  <a:latin typeface="Montserrat"/>
                </a:rPr>
                <a:t>automated to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19100" y="2139439"/>
              <a:ext cx="3423385" cy="401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7BDEC4"/>
                  </a:solidFill>
                  <a:latin typeface="Montserrat"/>
                </a:rPr>
                <a:t>human-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19100" y="2540822"/>
              <a:ext cx="3423385" cy="401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3100" b="1">
                  <a:solidFill>
                    <a:srgbClr val="7BDEC4"/>
                  </a:solidFill>
                  <a:latin typeface="Montserrat"/>
                </a:rPr>
                <a:t>controlled.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883758" y="1654815"/>
            <a:ext cx="904132" cy="386067"/>
            <a:chOff x="4883758" y="1654815"/>
            <a:chExt cx="904132" cy="386067"/>
          </a:xfrm>
        </p:grpSpPr>
        <p:sp>
          <p:nvSpPr>
            <p:cNvPr id="24" name="TextBox 23"/>
            <p:cNvSpPr txBox="1"/>
            <p:nvPr/>
          </p:nvSpPr>
          <p:spPr>
            <a:xfrm>
              <a:off x="4815949" y="1654815"/>
              <a:ext cx="1039751" cy="1930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Human-in-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815949" y="1847887"/>
              <a:ext cx="1039751" cy="192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the-loop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6513573" y="1523405"/>
            <a:ext cx="1076325" cy="434397"/>
            <a:chOff x="6513573" y="1523405"/>
            <a:chExt cx="1076325" cy="434397"/>
          </a:xfrm>
        </p:grpSpPr>
        <p:sp>
          <p:nvSpPr>
            <p:cNvPr id="27" name="TextBox 26"/>
            <p:cNvSpPr txBox="1"/>
            <p:nvPr/>
          </p:nvSpPr>
          <p:spPr>
            <a:xfrm>
              <a:off x="6432849" y="1523405"/>
              <a:ext cx="1237773" cy="144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Requires human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432849" y="1668186"/>
              <a:ext cx="1237773" cy="1447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approval for high-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32849" y="1812966"/>
              <a:ext cx="1237773" cy="1448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stakes actions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4681853" y="2716534"/>
            <a:ext cx="1307943" cy="1930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200" b="1">
                <a:solidFill>
                  <a:srgbClr val="7BDEC4"/>
                </a:solidFill>
                <a:latin typeface="Montserrat"/>
              </a:rPr>
              <a:t>Rate Limiting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6473539" y="2561007"/>
            <a:ext cx="1156392" cy="289588"/>
            <a:chOff x="6473539" y="2561007"/>
            <a:chExt cx="1156392" cy="289588"/>
          </a:xfrm>
        </p:grpSpPr>
        <p:sp>
          <p:nvSpPr>
            <p:cNvPr id="32" name="TextBox 31"/>
            <p:cNvSpPr txBox="1"/>
            <p:nvPr/>
          </p:nvSpPr>
          <p:spPr>
            <a:xfrm>
              <a:off x="6386810" y="2561007"/>
              <a:ext cx="1329850" cy="1447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Manages API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86810" y="2705787"/>
              <a:ext cx="1329850" cy="144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consumption costs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939641" y="3488697"/>
            <a:ext cx="792365" cy="579099"/>
            <a:chOff x="4939641" y="3488697"/>
            <a:chExt cx="792365" cy="579099"/>
          </a:xfrm>
        </p:grpSpPr>
        <p:sp>
          <p:nvSpPr>
            <p:cNvPr id="35" name="TextBox 34"/>
            <p:cNvSpPr txBox="1"/>
            <p:nvPr/>
          </p:nvSpPr>
          <p:spPr>
            <a:xfrm>
              <a:off x="4880214" y="3488697"/>
              <a:ext cx="911219" cy="19307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Prompt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880214" y="3681768"/>
              <a:ext cx="911219" cy="1929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Injection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880214" y="3874745"/>
              <a:ext cx="911219" cy="1930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1200" b="1">
                  <a:solidFill>
                    <a:srgbClr val="7BDEC4"/>
                  </a:solidFill>
                  <a:latin typeface="Montserrat"/>
                </a:rPr>
                <a:t>Filters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510744" y="3526204"/>
            <a:ext cx="1081982" cy="289588"/>
            <a:chOff x="6510744" y="3526204"/>
            <a:chExt cx="1081982" cy="289588"/>
          </a:xfrm>
        </p:grpSpPr>
        <p:sp>
          <p:nvSpPr>
            <p:cNvPr id="39" name="TextBox 38"/>
            <p:cNvSpPr txBox="1"/>
            <p:nvPr/>
          </p:nvSpPr>
          <p:spPr>
            <a:xfrm>
              <a:off x="6429596" y="3526204"/>
              <a:ext cx="1244279" cy="1447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Prevents external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429596" y="3670984"/>
              <a:ext cx="1244279" cy="1448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900" b="0">
                  <a:solidFill>
                    <a:srgbClr val="E7ECEB"/>
                  </a:solidFill>
                  <a:latin typeface="Montserrat"/>
                </a:rPr>
                <a:t>data hijacking</a:t>
              </a:r>
            </a:p>
          </p:txBody>
        </p:sp>
      </p:grpSp>
      <p:sp>
        <p:nvSpPr>
          <p:cNvPr id="42" name="Rounded Rectangle 4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28975" y="371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6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86475" y="371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6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33503" y="581025"/>
            <a:ext cx="426026" cy="424808"/>
          </a:xfrm>
          <a:custGeom>
            <a:avLst/>
            <a:gdLst/>
            <a:ahLst/>
            <a:cxnLst/>
            <a:rect l="0" t="0" r="0" b="0"/>
            <a:pathLst>
              <a:path w="426026" h="424808">
                <a:moveTo>
                  <a:pt x="259129" y="0"/>
                </a:moveTo>
                <a:cubicBezTo>
                  <a:pt x="280080" y="4417"/>
                  <a:pt x="300241" y="11984"/>
                  <a:pt x="318927" y="22440"/>
                </a:cubicBezTo>
                <a:moveTo>
                  <a:pt x="406290" y="113690"/>
                </a:moveTo>
                <a:cubicBezTo>
                  <a:pt x="415883" y="132854"/>
                  <a:pt x="422537" y="153353"/>
                  <a:pt x="426026" y="174497"/>
                </a:cubicBezTo>
                <a:moveTo>
                  <a:pt x="408976" y="299751"/>
                </a:moveTo>
                <a:cubicBezTo>
                  <a:pt x="399967" y="319205"/>
                  <a:pt x="388073" y="337188"/>
                  <a:pt x="373695" y="353091"/>
                </a:cubicBezTo>
                <a:moveTo>
                  <a:pt x="265186" y="417823"/>
                </a:moveTo>
                <a:cubicBezTo>
                  <a:pt x="244367" y="422882"/>
                  <a:pt x="222909" y="424808"/>
                  <a:pt x="201521" y="423538"/>
                </a:cubicBezTo>
                <a:moveTo>
                  <a:pt x="83221" y="378847"/>
                </a:moveTo>
                <a:cubicBezTo>
                  <a:pt x="66289" y="365729"/>
                  <a:pt x="51428" y="350137"/>
                  <a:pt x="39139" y="332593"/>
                </a:cubicBezTo>
                <a:moveTo>
                  <a:pt x="277" y="212369"/>
                </a:moveTo>
                <a:cubicBezTo>
                  <a:pt x="0" y="190949"/>
                  <a:pt x="2914" y="169607"/>
                  <a:pt x="8926" y="149047"/>
                </a:cubicBezTo>
                <a:moveTo>
                  <a:pt x="78801" y="43814"/>
                </a:moveTo>
                <a:cubicBezTo>
                  <a:pt x="95341" y="30201"/>
                  <a:pt x="113845" y="19166"/>
                  <a:pt x="133684" y="11087"/>
                </a:cubicBezTo>
                <a:moveTo>
                  <a:pt x="62171" y="209550"/>
                </a:moveTo>
                <a:cubicBezTo>
                  <a:pt x="62171" y="293718"/>
                  <a:pt x="130402" y="361950"/>
                  <a:pt x="214571" y="361950"/>
                </a:cubicBezTo>
                <a:cubicBezTo>
                  <a:pt x="298739" y="361950"/>
                  <a:pt x="366971" y="293718"/>
                  <a:pt x="366971" y="209550"/>
                </a:cubicBezTo>
                <a:cubicBezTo>
                  <a:pt x="366971" y="125381"/>
                  <a:pt x="298739" y="57150"/>
                  <a:pt x="214571" y="57150"/>
                </a:cubicBezTo>
                <a:cubicBezTo>
                  <a:pt x="130402" y="57150"/>
                  <a:pt x="62171" y="125381"/>
                  <a:pt x="62171" y="209550"/>
                </a:cubicBezTo>
                <a:moveTo>
                  <a:pt x="278636" y="268262"/>
                </a:moveTo>
                <a:lnTo>
                  <a:pt x="214590" y="209550"/>
                </a:lnTo>
                <a:lnTo>
                  <a:pt x="214590" y="134988"/>
                </a:lnTo>
              </a:path>
            </a:pathLst>
          </a:custGeom>
          <a:noFill/>
          <a:ln w="14287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62700" y="571500"/>
            <a:ext cx="304800" cy="419100"/>
          </a:xfrm>
          <a:custGeom>
            <a:avLst/>
            <a:gdLst/>
            <a:ahLst/>
            <a:cxnLst/>
            <a:rect l="0" t="0" r="0" b="0"/>
            <a:pathLst>
              <a:path w="304800" h="419100">
                <a:moveTo>
                  <a:pt x="85725" y="161925"/>
                </a:moveTo>
                <a:lnTo>
                  <a:pt x="85725" y="66675"/>
                </a:lnTo>
                <a:cubicBezTo>
                  <a:pt x="85725" y="29851"/>
                  <a:pt x="115576" y="0"/>
                  <a:pt x="152400" y="0"/>
                </a:cubicBezTo>
                <a:cubicBezTo>
                  <a:pt x="189223" y="0"/>
                  <a:pt x="219075" y="29851"/>
                  <a:pt x="219075" y="66675"/>
                </a:cubicBezTo>
                <a:lnTo>
                  <a:pt x="219075" y="161925"/>
                </a:lnTo>
                <a:cubicBezTo>
                  <a:pt x="219075" y="198748"/>
                  <a:pt x="189223" y="228600"/>
                  <a:pt x="152400" y="228600"/>
                </a:cubicBezTo>
                <a:moveTo>
                  <a:pt x="219075" y="257175"/>
                </a:moveTo>
                <a:lnTo>
                  <a:pt x="219075" y="352425"/>
                </a:lnTo>
                <a:cubicBezTo>
                  <a:pt x="219075" y="389248"/>
                  <a:pt x="189223" y="419100"/>
                  <a:pt x="152400" y="419100"/>
                </a:cubicBezTo>
                <a:cubicBezTo>
                  <a:pt x="115576" y="419100"/>
                  <a:pt x="85725" y="389248"/>
                  <a:pt x="85725" y="352425"/>
                </a:cubicBezTo>
                <a:lnTo>
                  <a:pt x="85725" y="257175"/>
                </a:lnTo>
                <a:cubicBezTo>
                  <a:pt x="85725" y="220351"/>
                  <a:pt x="115576" y="190500"/>
                  <a:pt x="152400" y="190500"/>
                </a:cubicBezTo>
                <a:moveTo>
                  <a:pt x="17868" y="123805"/>
                </a:moveTo>
                <a:lnTo>
                  <a:pt x="42614" y="138093"/>
                </a:lnTo>
                <a:moveTo>
                  <a:pt x="0" y="190480"/>
                </a:moveTo>
                <a:lnTo>
                  <a:pt x="28575" y="190480"/>
                </a:lnTo>
                <a:moveTo>
                  <a:pt x="17868" y="257155"/>
                </a:moveTo>
                <a:lnTo>
                  <a:pt x="42614" y="242868"/>
                </a:lnTo>
                <a:moveTo>
                  <a:pt x="286931" y="257155"/>
                </a:moveTo>
                <a:lnTo>
                  <a:pt x="262185" y="242868"/>
                </a:lnTo>
                <a:moveTo>
                  <a:pt x="304800" y="190480"/>
                </a:moveTo>
                <a:lnTo>
                  <a:pt x="276225" y="190480"/>
                </a:lnTo>
                <a:moveTo>
                  <a:pt x="286931" y="123805"/>
                </a:moveTo>
                <a:lnTo>
                  <a:pt x="262185" y="138093"/>
                </a:lnTo>
              </a:path>
            </a:pathLst>
          </a:custGeom>
          <a:noFill/>
          <a:ln w="14287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390525" y="371472"/>
            <a:ext cx="2198189" cy="1080076"/>
            <a:chOff x="390525" y="371472"/>
            <a:chExt cx="2198189" cy="1080076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371472"/>
              <a:ext cx="2527917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Challenges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731517"/>
              <a:ext cx="2527917" cy="360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and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1091562"/>
              <a:ext cx="2527917" cy="3599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Limitations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438525" y="1190625"/>
            <a:ext cx="65603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6025" y="1190625"/>
            <a:ext cx="818277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Reliability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3438525" y="1447798"/>
            <a:ext cx="1923897" cy="411269"/>
            <a:chOff x="3438525" y="1447798"/>
            <a:chExt cx="1923897" cy="411269"/>
          </a:xfrm>
        </p:grpSpPr>
        <p:sp>
          <p:nvSpPr>
            <p:cNvPr id="12" name="TextBox 11"/>
            <p:cNvSpPr txBox="1"/>
            <p:nvPr/>
          </p:nvSpPr>
          <p:spPr>
            <a:xfrm>
              <a:off x="3438525" y="1447798"/>
              <a:ext cx="2212481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Multi-step reasoning loops introduce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438525" y="1584862"/>
              <a:ext cx="2212481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significant delays for real-time user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38525" y="1721927"/>
              <a:ext cx="2212481" cy="137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experiences.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296025" y="1447795"/>
            <a:ext cx="2221410" cy="274195"/>
            <a:chOff x="6296025" y="1447795"/>
            <a:chExt cx="2221410" cy="274195"/>
          </a:xfrm>
        </p:grpSpPr>
        <p:sp>
          <p:nvSpPr>
            <p:cNvPr id="16" name="TextBox 15"/>
            <p:cNvSpPr txBox="1"/>
            <p:nvPr/>
          </p:nvSpPr>
          <p:spPr>
            <a:xfrm>
              <a:off x="6296025" y="1447795"/>
              <a:ext cx="2554621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Success rates often degrade rapidly as task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296025" y="1584859"/>
              <a:ext cx="2554621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complexity and step count increase.</a:t>
              </a:r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3228975" y="2657474"/>
            <a:ext cx="2686050" cy="2114550"/>
          </a:xfrm>
          <a:custGeom>
            <a:avLst/>
            <a:gdLst/>
            <a:ahLst/>
            <a:cxnLst/>
            <a:rect l="0" t="0" r="0" b="0"/>
            <a:pathLst>
              <a:path w="2686050" h="2114550">
                <a:moveTo>
                  <a:pt x="0" y="114300"/>
                </a:moveTo>
                <a:cubicBezTo>
                  <a:pt x="0" y="51174"/>
                  <a:pt x="51174" y="0"/>
                  <a:pt x="114300" y="0"/>
                </a:cubicBezTo>
                <a:moveTo>
                  <a:pt x="2571750" y="0"/>
                </a:moveTo>
                <a:lnTo>
                  <a:pt x="114300" y="0"/>
                </a:lnTo>
                <a:moveTo>
                  <a:pt x="2686050" y="114300"/>
                </a:moveTo>
                <a:cubicBezTo>
                  <a:pt x="2686050" y="51174"/>
                  <a:pt x="2634876" y="0"/>
                  <a:pt x="2571750" y="0"/>
                </a:cubicBezTo>
                <a:moveTo>
                  <a:pt x="2686050" y="2000250"/>
                </a:moveTo>
                <a:lnTo>
                  <a:pt x="2686050" y="114300"/>
                </a:lnTo>
                <a:moveTo>
                  <a:pt x="2571750" y="2114550"/>
                </a:moveTo>
                <a:cubicBezTo>
                  <a:pt x="2634876" y="2114550"/>
                  <a:pt x="2686050" y="2063375"/>
                  <a:pt x="2686050" y="2000250"/>
                </a:cubicBezTo>
                <a:moveTo>
                  <a:pt x="2571750" y="2114550"/>
                </a:moveTo>
                <a:lnTo>
                  <a:pt x="114300" y="2114550"/>
                </a:lnTo>
                <a:moveTo>
                  <a:pt x="114300" y="2114550"/>
                </a:moveTo>
                <a:cubicBezTo>
                  <a:pt x="51174" y="2114550"/>
                  <a:pt x="0" y="2063375"/>
                  <a:pt x="0" y="2000250"/>
                </a:cubicBezTo>
                <a:moveTo>
                  <a:pt x="0" y="2000250"/>
                </a:moveTo>
                <a:lnTo>
                  <a:pt x="0" y="114300"/>
                </a:lnTo>
              </a:path>
            </a:pathLst>
          </a:custGeom>
          <a:noFill/>
          <a:ln w="14287">
            <a:solidFill>
              <a:srgbClr val="05A99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19475" y="2847975"/>
            <a:ext cx="439489" cy="407108"/>
          </a:xfrm>
          <a:custGeom>
            <a:avLst/>
            <a:gdLst/>
            <a:ahLst/>
            <a:cxnLst/>
            <a:rect l="0" t="0" r="0" b="0"/>
            <a:pathLst>
              <a:path w="439489" h="407108">
                <a:moveTo>
                  <a:pt x="373856" y="162694"/>
                </a:moveTo>
                <a:lnTo>
                  <a:pt x="373856" y="112172"/>
                </a:lnTo>
                <a:cubicBezTo>
                  <a:pt x="373856" y="106502"/>
                  <a:pt x="371589" y="100975"/>
                  <a:pt x="367478" y="97006"/>
                </a:cubicBezTo>
                <a:lnTo>
                  <a:pt x="324954" y="56184"/>
                </a:lnTo>
                <a:cubicBezTo>
                  <a:pt x="320986" y="52216"/>
                  <a:pt x="315601" y="50089"/>
                  <a:pt x="310073" y="50089"/>
                </a:cubicBezTo>
                <a:lnTo>
                  <a:pt x="97461" y="50089"/>
                </a:lnTo>
                <a:cubicBezTo>
                  <a:pt x="85696" y="50089"/>
                  <a:pt x="76200" y="59586"/>
                  <a:pt x="76200" y="71351"/>
                </a:cubicBezTo>
                <a:lnTo>
                  <a:pt x="76200" y="162694"/>
                </a:lnTo>
                <a:moveTo>
                  <a:pt x="373856" y="305872"/>
                </a:moveTo>
                <a:lnTo>
                  <a:pt x="373856" y="385846"/>
                </a:lnTo>
                <a:cubicBezTo>
                  <a:pt x="373856" y="397611"/>
                  <a:pt x="364359" y="407108"/>
                  <a:pt x="352594" y="407108"/>
                </a:cubicBezTo>
                <a:lnTo>
                  <a:pt x="97461" y="407108"/>
                </a:lnTo>
                <a:cubicBezTo>
                  <a:pt x="85696" y="407108"/>
                  <a:pt x="76200" y="397611"/>
                  <a:pt x="76200" y="385846"/>
                </a:cubicBezTo>
                <a:lnTo>
                  <a:pt x="76200" y="305872"/>
                </a:lnTo>
                <a:moveTo>
                  <a:pt x="0" y="0"/>
                </a:moveTo>
                <a:moveTo>
                  <a:pt x="17710" y="286578"/>
                </a:moveTo>
                <a:lnTo>
                  <a:pt x="74090" y="230202"/>
                </a:lnTo>
                <a:lnTo>
                  <a:pt x="17710" y="173821"/>
                </a:lnTo>
                <a:moveTo>
                  <a:pt x="0" y="0"/>
                </a:moveTo>
                <a:moveTo>
                  <a:pt x="439489" y="173821"/>
                </a:moveTo>
                <a:lnTo>
                  <a:pt x="383108" y="230198"/>
                </a:lnTo>
                <a:lnTo>
                  <a:pt x="439489" y="286578"/>
                </a:lnTo>
                <a:moveTo>
                  <a:pt x="143321" y="149283"/>
                </a:moveTo>
                <a:lnTo>
                  <a:pt x="269490" y="149283"/>
                </a:lnTo>
                <a:moveTo>
                  <a:pt x="143321" y="230190"/>
                </a:moveTo>
                <a:lnTo>
                  <a:pt x="306735" y="230190"/>
                </a:lnTo>
                <a:moveTo>
                  <a:pt x="143321" y="311115"/>
                </a:moveTo>
                <a:lnTo>
                  <a:pt x="306735" y="311115"/>
                </a:lnTo>
              </a:path>
            </a:pathLst>
          </a:custGeom>
          <a:noFill/>
          <a:ln w="14287">
            <a:solidFill>
              <a:srgbClr val="7BDEC4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38525" y="3476625"/>
            <a:ext cx="1944115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Context Window Limits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3438525" y="3733795"/>
            <a:ext cx="2260406" cy="274195"/>
            <a:chOff x="3438525" y="3733795"/>
            <a:chExt cx="2260406" cy="274195"/>
          </a:xfrm>
        </p:grpSpPr>
        <p:sp>
          <p:nvSpPr>
            <p:cNvPr id="22" name="TextBox 21"/>
            <p:cNvSpPr txBox="1"/>
            <p:nvPr/>
          </p:nvSpPr>
          <p:spPr>
            <a:xfrm>
              <a:off x="3438525" y="3733795"/>
              <a:ext cx="2599466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Managing massive execution traces in long-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438525" y="3870859"/>
              <a:ext cx="2599466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running, complex agent sessions.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90525" y="4154923"/>
            <a:ext cx="2434085" cy="617095"/>
            <a:chOff x="390525" y="4154923"/>
            <a:chExt cx="2434085" cy="617095"/>
          </a:xfrm>
        </p:grpSpPr>
        <p:sp>
          <p:nvSpPr>
            <p:cNvPr id="25" name="TextBox 24"/>
            <p:cNvSpPr txBox="1"/>
            <p:nvPr/>
          </p:nvSpPr>
          <p:spPr>
            <a:xfrm>
              <a:off x="390525" y="4154923"/>
              <a:ext cx="2799197" cy="205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The current hurdles facing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0525" y="4360567"/>
              <a:ext cx="2799197" cy="2056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production-grade agentic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90525" y="4566212"/>
              <a:ext cx="2799197" cy="2058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AI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75" y="0"/>
            <a:ext cx="4467225" cy="3107178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390525" y="1856857"/>
            <a:ext cx="3849443" cy="704525"/>
            <a:chOff x="390525" y="1856857"/>
            <a:chExt cx="3849443" cy="704525"/>
          </a:xfrm>
        </p:grpSpPr>
        <p:sp>
          <p:nvSpPr>
            <p:cNvPr id="3" name="TextBox 2"/>
            <p:cNvSpPr txBox="1"/>
            <p:nvPr/>
          </p:nvSpPr>
          <p:spPr>
            <a:xfrm>
              <a:off x="390525" y="1856857"/>
              <a:ext cx="4426859" cy="3522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The Future: Towards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0525" y="2209091"/>
              <a:ext cx="4426859" cy="3522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2700" b="1">
                  <a:solidFill>
                    <a:srgbClr val="7BDEC4"/>
                  </a:solidFill>
                  <a:latin typeface="Montserrat"/>
                </a:rPr>
                <a:t>AGI?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90525" y="2695757"/>
            <a:ext cx="3886200" cy="411421"/>
            <a:chOff x="390525" y="2695757"/>
            <a:chExt cx="3886200" cy="411421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2695757"/>
              <a:ext cx="4469130" cy="205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Where agentic research is heading and the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901497"/>
              <a:ext cx="4469130" cy="2056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300" b="1">
                  <a:solidFill>
                    <a:srgbClr val="E7ECEB"/>
                  </a:solidFill>
                  <a:latin typeface="Montserrat"/>
                </a:rPr>
                <a:t>roadmap for the next 12-24 months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0525" y="3573903"/>
            <a:ext cx="484187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8025" y="3573903"/>
            <a:ext cx="582093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5525" y="3573903"/>
            <a:ext cx="575410" cy="411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200" b="0">
                <a:solidFill>
                  <a:srgbClr val="E7ECEB"/>
                </a:solidFill>
                <a:latin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525" y="4126352"/>
            <a:ext cx="148115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On-device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8025" y="4126352"/>
            <a:ext cx="1920673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Standardized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5525" y="4126352"/>
            <a:ext cx="1924442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>
                <a:solidFill>
                  <a:srgbClr val="7BDEC4"/>
                </a:solidFill>
                <a:latin typeface="Montserrat"/>
              </a:rPr>
              <a:t>Autonomous Discovery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90525" y="4402573"/>
            <a:ext cx="2498969" cy="274195"/>
            <a:chOff x="390525" y="4402573"/>
            <a:chExt cx="2498969" cy="274195"/>
          </a:xfrm>
        </p:grpSpPr>
        <p:sp>
          <p:nvSpPr>
            <p:cNvPr id="15" name="TextBox 14"/>
            <p:cNvSpPr txBox="1"/>
            <p:nvPr/>
          </p:nvSpPr>
          <p:spPr>
            <a:xfrm>
              <a:off x="390525" y="4402573"/>
              <a:ext cx="2873814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Small, highly efficient models running locally for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90525" y="4539637"/>
              <a:ext cx="2873814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privacy and low latency.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248025" y="4402573"/>
            <a:ext cx="2488110" cy="274195"/>
            <a:chOff x="3248025" y="4402573"/>
            <a:chExt cx="2488110" cy="274195"/>
          </a:xfrm>
        </p:grpSpPr>
        <p:sp>
          <p:nvSpPr>
            <p:cNvPr id="18" name="TextBox 17"/>
            <p:cNvSpPr txBox="1"/>
            <p:nvPr/>
          </p:nvSpPr>
          <p:spPr>
            <a:xfrm>
              <a:off x="3248025" y="4402573"/>
              <a:ext cx="2861326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Developing a 'TCP/IP for Agents' to enable cross-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248025" y="4539637"/>
              <a:ext cx="2861326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platform collaboration.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105525" y="4402573"/>
            <a:ext cx="2488253" cy="274195"/>
            <a:chOff x="6105525" y="4402573"/>
            <a:chExt cx="2488253" cy="274195"/>
          </a:xfrm>
        </p:grpSpPr>
        <p:sp>
          <p:nvSpPr>
            <p:cNvPr id="21" name="TextBox 20"/>
            <p:cNvSpPr txBox="1"/>
            <p:nvPr/>
          </p:nvSpPr>
          <p:spPr>
            <a:xfrm>
              <a:off x="6105525" y="4402573"/>
              <a:ext cx="2861490" cy="137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Agents capable of learning and integrating new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05525" y="4539637"/>
              <a:ext cx="2861490" cy="1371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700" b="0">
                  <a:solidFill>
                    <a:srgbClr val="E7ECEB"/>
                  </a:solidFill>
                  <a:latin typeface="Montserrat"/>
                </a:rPr>
                <a:t>tools without manual coding.</a:t>
              </a:r>
            </a:p>
          </p:txBody>
        </p:sp>
      </p:grpSp>
      <p:sp>
        <p:nvSpPr>
          <p:cNvPr id="24" name="Rounded Rectangle 23"/>
          <p:cNvSpPr/>
          <p:nvPr/>
        </p:nvSpPr>
        <p:spPr>
          <a:xfrm>
            <a:off x="8024812" y="4967248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4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0" y="0"/>
            <a:ext cx="6096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0525" y="409575"/>
            <a:ext cx="874754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0">
                <a:solidFill>
                  <a:srgbClr val="E7ECEB"/>
                </a:solidFill>
                <a:latin typeface="Montserrat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1475" y="82867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0525" y="2066925"/>
            <a:ext cx="407034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700" b="1">
                <a:solidFill>
                  <a:srgbClr val="7BDEC4"/>
                </a:solidFill>
                <a:latin typeface="Montserrat"/>
              </a:rPr>
              <a:t>Q&amp;A and Resources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90525" y="2600325"/>
            <a:ext cx="2266950" cy="514350"/>
            <a:chOff x="390525" y="2600325"/>
            <a:chExt cx="2266950" cy="514350"/>
          </a:xfrm>
        </p:grpSpPr>
        <p:sp>
          <p:nvSpPr>
            <p:cNvPr id="6" name="TextBox 5"/>
            <p:cNvSpPr txBox="1"/>
            <p:nvPr/>
          </p:nvSpPr>
          <p:spPr>
            <a:xfrm>
              <a:off x="390525" y="2600325"/>
              <a:ext cx="260699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7ECEB"/>
                  </a:solidFill>
                  <a:latin typeface="Montserrat"/>
                </a:rPr>
                <a:t>Links to documentation, repos,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0525" y="2771775"/>
              <a:ext cx="260699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7ECEB"/>
                  </a:solidFill>
                  <a:latin typeface="Montserrat"/>
                </a:rPr>
                <a:t>and community forums to start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0525" y="2943225"/>
              <a:ext cx="2606992" cy="171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l"/>
              <a:r>
                <a:rPr sz="1000" b="1">
                  <a:solidFill>
                    <a:srgbClr val="E7ECEB"/>
                  </a:solidFill>
                  <a:latin typeface="Montserrat"/>
                </a:rPr>
                <a:t>building</a:t>
              </a:r>
            </a:p>
          </p:txBody>
        </p:sp>
      </p:grpSp>
      <p:sp>
        <p:nvSpPr>
          <p:cNvPr id="10" name="Rounded Rectangle 9"/>
          <p:cNvSpPr/>
          <p:nvPr/>
        </p:nvSpPr>
        <p:spPr>
          <a:xfrm>
            <a:off x="371475" y="4276725"/>
            <a:ext cx="8401050" cy="9525"/>
          </a:xfrm>
          <a:custGeom>
            <a:avLst/>
            <a:gdLst/>
            <a:ahLst/>
            <a:cxnLst/>
            <a:rect l="0" t="0" r="0" b="0"/>
            <a:pathLst>
              <a:path w="8401050" h="9525">
                <a:moveTo>
                  <a:pt x="0" y="0"/>
                </a:moveTo>
                <a:lnTo>
                  <a:pt x="8401050" y="0"/>
                </a:lnTo>
              </a:path>
            </a:pathLst>
          </a:custGeom>
          <a:noFill/>
          <a:ln w="14287">
            <a:solidFill>
              <a:srgbClr val="E7ECEB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0525" y="4524375"/>
            <a:ext cx="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886700" y="4829136"/>
            <a:ext cx="1025290" cy="114677"/>
          </a:xfrm>
          <a:custGeom>
            <a:avLst/>
            <a:gdLst/>
            <a:ahLst/>
            <a:cxnLst/>
            <a:rect l="0" t="0" r="0" b="0"/>
            <a:pathLst>
              <a:path w="1025290" h="114677">
                <a:moveTo>
                  <a:pt x="583720" y="112024"/>
                </a:moveTo>
                <a:cubicBezTo>
                  <a:pt x="584031" y="113167"/>
                  <a:pt x="584928" y="114062"/>
                  <a:pt x="586072" y="114370"/>
                </a:cubicBezTo>
                <a:cubicBezTo>
                  <a:pt x="587216" y="114677"/>
                  <a:pt x="588441" y="114353"/>
                  <a:pt x="589283" y="113519"/>
                </a:cubicBezTo>
                <a:lnTo>
                  <a:pt x="638841" y="64551"/>
                </a:lnTo>
                <a:lnTo>
                  <a:pt x="579948" y="98108"/>
                </a:lnTo>
                <a:close/>
                <a:moveTo>
                  <a:pt x="562613" y="581"/>
                </a:moveTo>
                <a:cubicBezTo>
                  <a:pt x="561581" y="0"/>
                  <a:pt x="560315" y="9"/>
                  <a:pt x="559293" y="606"/>
                </a:cubicBezTo>
                <a:cubicBezTo>
                  <a:pt x="558270" y="1204"/>
                  <a:pt x="557640" y="2302"/>
                  <a:pt x="557641" y="3486"/>
                </a:cubicBezTo>
                <a:lnTo>
                  <a:pt x="557641" y="33119"/>
                </a:lnTo>
                <a:lnTo>
                  <a:pt x="588845" y="15326"/>
                </a:lnTo>
                <a:close/>
                <a:moveTo>
                  <a:pt x="598122" y="20631"/>
                </a:moveTo>
                <a:lnTo>
                  <a:pt x="557641" y="43692"/>
                </a:lnTo>
                <a:lnTo>
                  <a:pt x="557641" y="66980"/>
                </a:lnTo>
                <a:lnTo>
                  <a:pt x="618515" y="32271"/>
                </a:lnTo>
                <a:close/>
                <a:moveTo>
                  <a:pt x="642966" y="52093"/>
                </a:moveTo>
                <a:cubicBezTo>
                  <a:pt x="644009" y="51501"/>
                  <a:pt x="644656" y="50391"/>
                  <a:pt x="644656" y="49192"/>
                </a:cubicBezTo>
                <a:cubicBezTo>
                  <a:pt x="644656" y="47993"/>
                  <a:pt x="644009" y="46883"/>
                  <a:pt x="642966" y="46292"/>
                </a:cubicBezTo>
                <a:lnTo>
                  <a:pt x="627802" y="37719"/>
                </a:lnTo>
                <a:lnTo>
                  <a:pt x="557650" y="77715"/>
                </a:lnTo>
                <a:lnTo>
                  <a:pt x="557650" y="94688"/>
                </a:lnTo>
                <a:cubicBezTo>
                  <a:pt x="557648" y="95875"/>
                  <a:pt x="558279" y="96977"/>
                  <a:pt x="559304" y="97575"/>
                </a:cubicBezTo>
                <a:cubicBezTo>
                  <a:pt x="560330" y="98173"/>
                  <a:pt x="561600" y="98180"/>
                  <a:pt x="562632" y="97593"/>
                </a:cubicBezTo>
                <a:lnTo>
                  <a:pt x="642975" y="52093"/>
                </a:lnTo>
                <a:close/>
                <a:moveTo>
                  <a:pt x="386162" y="14450"/>
                </a:moveTo>
                <a:cubicBezTo>
                  <a:pt x="386162" y="10325"/>
                  <a:pt x="389543" y="6992"/>
                  <a:pt x="393706" y="6992"/>
                </a:cubicBezTo>
                <a:cubicBezTo>
                  <a:pt x="397868" y="6992"/>
                  <a:pt x="401250" y="10325"/>
                  <a:pt x="401250" y="14450"/>
                </a:cubicBezTo>
                <a:cubicBezTo>
                  <a:pt x="401250" y="18574"/>
                  <a:pt x="397868" y="21908"/>
                  <a:pt x="393706" y="21908"/>
                </a:cubicBezTo>
                <a:cubicBezTo>
                  <a:pt x="389543" y="21908"/>
                  <a:pt x="386162" y="18574"/>
                  <a:pt x="386162" y="14450"/>
                </a:cubicBezTo>
                <a:close/>
                <a:moveTo>
                  <a:pt x="949766" y="14450"/>
                </a:moveTo>
                <a:cubicBezTo>
                  <a:pt x="949766" y="10325"/>
                  <a:pt x="953147" y="6992"/>
                  <a:pt x="957310" y="6992"/>
                </a:cubicBezTo>
                <a:cubicBezTo>
                  <a:pt x="961472" y="6992"/>
                  <a:pt x="964853" y="10325"/>
                  <a:pt x="964853" y="14450"/>
                </a:cubicBezTo>
                <a:cubicBezTo>
                  <a:pt x="964853" y="18574"/>
                  <a:pt x="961472" y="21908"/>
                  <a:pt x="957310" y="21908"/>
                </a:cubicBezTo>
                <a:cubicBezTo>
                  <a:pt x="953147" y="21908"/>
                  <a:pt x="949766" y="18574"/>
                  <a:pt x="949766" y="14450"/>
                </a:cubicBezTo>
                <a:close/>
                <a:moveTo>
                  <a:pt x="131083" y="87183"/>
                </a:moveTo>
                <a:lnTo>
                  <a:pt x="118986" y="87183"/>
                </a:lnTo>
                <a:lnTo>
                  <a:pt x="118986" y="82544"/>
                </a:lnTo>
                <a:cubicBezTo>
                  <a:pt x="116357" y="84459"/>
                  <a:pt x="110756" y="88345"/>
                  <a:pt x="101069" y="88345"/>
                </a:cubicBezTo>
                <a:cubicBezTo>
                  <a:pt x="89620" y="88345"/>
                  <a:pt x="79409" y="80782"/>
                  <a:pt x="80714" y="68552"/>
                </a:cubicBezTo>
                <a:cubicBezTo>
                  <a:pt x="81838" y="58017"/>
                  <a:pt x="91697" y="53464"/>
                  <a:pt x="98317" y="52102"/>
                </a:cubicBezTo>
                <a:lnTo>
                  <a:pt x="118986" y="48816"/>
                </a:lnTo>
                <a:cubicBezTo>
                  <a:pt x="118986" y="43682"/>
                  <a:pt x="116224" y="39710"/>
                  <a:pt x="108851" y="39234"/>
                </a:cubicBezTo>
                <a:cubicBezTo>
                  <a:pt x="101479" y="38758"/>
                  <a:pt x="97326" y="42139"/>
                  <a:pt x="93887" y="48921"/>
                </a:cubicBezTo>
                <a:lnTo>
                  <a:pt x="83181" y="43158"/>
                </a:lnTo>
                <a:cubicBezTo>
                  <a:pt x="94783" y="18098"/>
                  <a:pt x="131083" y="26356"/>
                  <a:pt x="131083" y="47101"/>
                </a:cubicBezTo>
                <a:lnTo>
                  <a:pt x="131083" y="87173"/>
                </a:lnTo>
                <a:close/>
                <a:moveTo>
                  <a:pt x="118986" y="59941"/>
                </a:moveTo>
                <a:lnTo>
                  <a:pt x="101688" y="62770"/>
                </a:lnTo>
                <a:cubicBezTo>
                  <a:pt x="97450" y="63789"/>
                  <a:pt x="92592" y="66037"/>
                  <a:pt x="93059" y="71324"/>
                </a:cubicBezTo>
                <a:cubicBezTo>
                  <a:pt x="93649" y="77934"/>
                  <a:pt x="105594" y="78610"/>
                  <a:pt x="111185" y="75086"/>
                </a:cubicBezTo>
                <a:cubicBezTo>
                  <a:pt x="118395" y="70533"/>
                  <a:pt x="119043" y="63713"/>
                  <a:pt x="118986" y="59941"/>
                </a:cubicBezTo>
                <a:close/>
                <a:moveTo>
                  <a:pt x="811091" y="87183"/>
                </a:moveTo>
                <a:lnTo>
                  <a:pt x="798995" y="87183"/>
                </a:lnTo>
                <a:lnTo>
                  <a:pt x="798995" y="82544"/>
                </a:lnTo>
                <a:cubicBezTo>
                  <a:pt x="796366" y="84459"/>
                  <a:pt x="790765" y="88345"/>
                  <a:pt x="781078" y="88345"/>
                </a:cubicBezTo>
                <a:cubicBezTo>
                  <a:pt x="769629" y="88345"/>
                  <a:pt x="759418" y="80782"/>
                  <a:pt x="760723" y="68552"/>
                </a:cubicBezTo>
                <a:cubicBezTo>
                  <a:pt x="761847" y="58017"/>
                  <a:pt x="771705" y="53464"/>
                  <a:pt x="778325" y="52102"/>
                </a:cubicBezTo>
                <a:lnTo>
                  <a:pt x="798995" y="48816"/>
                </a:lnTo>
                <a:cubicBezTo>
                  <a:pt x="798995" y="43682"/>
                  <a:pt x="796232" y="39710"/>
                  <a:pt x="788860" y="39234"/>
                </a:cubicBezTo>
                <a:cubicBezTo>
                  <a:pt x="781488" y="38758"/>
                  <a:pt x="777335" y="42139"/>
                  <a:pt x="773896" y="48921"/>
                </a:cubicBezTo>
                <a:lnTo>
                  <a:pt x="763190" y="43158"/>
                </a:lnTo>
                <a:cubicBezTo>
                  <a:pt x="774792" y="18098"/>
                  <a:pt x="811091" y="26356"/>
                  <a:pt x="811091" y="47101"/>
                </a:cubicBezTo>
                <a:lnTo>
                  <a:pt x="811091" y="87173"/>
                </a:lnTo>
                <a:close/>
                <a:moveTo>
                  <a:pt x="798995" y="59941"/>
                </a:moveTo>
                <a:lnTo>
                  <a:pt x="798985" y="59941"/>
                </a:lnTo>
                <a:lnTo>
                  <a:pt x="781688" y="62770"/>
                </a:lnTo>
                <a:cubicBezTo>
                  <a:pt x="777449" y="63789"/>
                  <a:pt x="772591" y="66037"/>
                  <a:pt x="773058" y="71324"/>
                </a:cubicBezTo>
                <a:cubicBezTo>
                  <a:pt x="773649" y="77934"/>
                  <a:pt x="785593" y="78610"/>
                  <a:pt x="791184" y="75086"/>
                </a:cubicBezTo>
                <a:cubicBezTo>
                  <a:pt x="798404" y="70533"/>
                  <a:pt x="799052" y="63713"/>
                  <a:pt x="798995" y="59941"/>
                </a:cubicBezTo>
                <a:close/>
                <a:moveTo>
                  <a:pt x="905789" y="87183"/>
                </a:moveTo>
                <a:lnTo>
                  <a:pt x="893921" y="87183"/>
                </a:lnTo>
                <a:lnTo>
                  <a:pt x="893921" y="6696"/>
                </a:lnTo>
                <a:lnTo>
                  <a:pt x="905789" y="6696"/>
                </a:lnTo>
                <a:lnTo>
                  <a:pt x="905789" y="53321"/>
                </a:lnTo>
                <a:lnTo>
                  <a:pt x="931316" y="28947"/>
                </a:lnTo>
                <a:lnTo>
                  <a:pt x="947870" y="28947"/>
                </a:lnTo>
                <a:lnTo>
                  <a:pt x="922791" y="53093"/>
                </a:lnTo>
                <a:lnTo>
                  <a:pt x="948651" y="87173"/>
                </a:lnTo>
                <a:lnTo>
                  <a:pt x="933830" y="87173"/>
                </a:lnTo>
                <a:lnTo>
                  <a:pt x="914047" y="61389"/>
                </a:lnTo>
                <a:lnTo>
                  <a:pt x="905789" y="69428"/>
                </a:lnTo>
                <a:lnTo>
                  <a:pt x="905789" y="87173"/>
                </a:lnTo>
                <a:close/>
                <a:moveTo>
                  <a:pt x="963444" y="28947"/>
                </a:moveTo>
                <a:lnTo>
                  <a:pt x="951490" y="28947"/>
                </a:lnTo>
                <a:lnTo>
                  <a:pt x="951490" y="87173"/>
                </a:lnTo>
                <a:lnTo>
                  <a:pt x="963444" y="87173"/>
                </a:lnTo>
                <a:close/>
                <a:moveTo>
                  <a:pt x="399564" y="28947"/>
                </a:moveTo>
                <a:lnTo>
                  <a:pt x="387610" y="28947"/>
                </a:lnTo>
                <a:lnTo>
                  <a:pt x="387610" y="87173"/>
                </a:lnTo>
                <a:lnTo>
                  <a:pt x="399564" y="87173"/>
                </a:lnTo>
                <a:close/>
                <a:moveTo>
                  <a:pt x="452751" y="87173"/>
                </a:moveTo>
                <a:lnTo>
                  <a:pt x="452751" y="6677"/>
                </a:lnTo>
                <a:lnTo>
                  <a:pt x="464705" y="6677"/>
                </a:lnTo>
                <a:lnTo>
                  <a:pt x="464705" y="32347"/>
                </a:lnTo>
                <a:cubicBezTo>
                  <a:pt x="468144" y="29052"/>
                  <a:pt x="474230" y="27728"/>
                  <a:pt x="478707" y="27728"/>
                </a:cubicBezTo>
                <a:cubicBezTo>
                  <a:pt x="492537" y="27728"/>
                  <a:pt x="502300" y="38034"/>
                  <a:pt x="502110" y="51045"/>
                </a:cubicBezTo>
                <a:lnTo>
                  <a:pt x="502110" y="87164"/>
                </a:lnTo>
                <a:lnTo>
                  <a:pt x="490013" y="87164"/>
                </a:lnTo>
                <a:lnTo>
                  <a:pt x="490013" y="52112"/>
                </a:lnTo>
                <a:cubicBezTo>
                  <a:pt x="490013" y="48225"/>
                  <a:pt x="487975" y="39358"/>
                  <a:pt x="477488" y="39358"/>
                </a:cubicBezTo>
                <a:cubicBezTo>
                  <a:pt x="468268" y="39358"/>
                  <a:pt x="464705" y="46559"/>
                  <a:pt x="464705" y="52112"/>
                </a:cubicBezTo>
                <a:lnTo>
                  <a:pt x="464705" y="87173"/>
                </a:lnTo>
                <a:close/>
                <a:moveTo>
                  <a:pt x="407412" y="40558"/>
                </a:moveTo>
                <a:lnTo>
                  <a:pt x="407412" y="28985"/>
                </a:lnTo>
                <a:lnTo>
                  <a:pt x="413327" y="28985"/>
                </a:lnTo>
                <a:cubicBezTo>
                  <a:pt x="414464" y="28985"/>
                  <a:pt x="415555" y="28533"/>
                  <a:pt x="416358" y="27729"/>
                </a:cubicBezTo>
                <a:cubicBezTo>
                  <a:pt x="417162" y="26926"/>
                  <a:pt x="417614" y="25835"/>
                  <a:pt x="417614" y="24699"/>
                </a:cubicBezTo>
                <a:lnTo>
                  <a:pt x="417614" y="16555"/>
                </a:lnTo>
                <a:lnTo>
                  <a:pt x="429529" y="16555"/>
                </a:lnTo>
                <a:lnTo>
                  <a:pt x="429529" y="28985"/>
                </a:lnTo>
                <a:lnTo>
                  <a:pt x="441998" y="28985"/>
                </a:lnTo>
                <a:lnTo>
                  <a:pt x="441998" y="40558"/>
                </a:lnTo>
                <a:lnTo>
                  <a:pt x="429529" y="40558"/>
                </a:lnTo>
                <a:lnTo>
                  <a:pt x="429529" y="70171"/>
                </a:lnTo>
                <a:cubicBezTo>
                  <a:pt x="429529" y="72962"/>
                  <a:pt x="430530" y="76496"/>
                  <a:pt x="435702" y="76496"/>
                </a:cubicBezTo>
                <a:cubicBezTo>
                  <a:pt x="439178" y="76496"/>
                  <a:pt x="440759" y="76162"/>
                  <a:pt x="442712" y="75829"/>
                </a:cubicBezTo>
                <a:lnTo>
                  <a:pt x="442712" y="86659"/>
                </a:lnTo>
                <a:cubicBezTo>
                  <a:pt x="442712" y="86659"/>
                  <a:pt x="439273" y="87735"/>
                  <a:pt x="434549" y="87735"/>
                </a:cubicBezTo>
                <a:cubicBezTo>
                  <a:pt x="421233" y="87735"/>
                  <a:pt x="417623" y="77724"/>
                  <a:pt x="417623" y="70704"/>
                </a:cubicBezTo>
                <a:lnTo>
                  <a:pt x="417623" y="40558"/>
                </a:lnTo>
                <a:lnTo>
                  <a:pt x="407422" y="40558"/>
                </a:lnTo>
                <a:close/>
                <a:moveTo>
                  <a:pt x="309829" y="28985"/>
                </a:moveTo>
                <a:lnTo>
                  <a:pt x="296551" y="28985"/>
                </a:lnTo>
                <a:lnTo>
                  <a:pt x="317420" y="87145"/>
                </a:lnTo>
                <a:lnTo>
                  <a:pt x="328136" y="87145"/>
                </a:lnTo>
                <a:lnTo>
                  <a:pt x="339890" y="49826"/>
                </a:lnTo>
                <a:lnTo>
                  <a:pt x="351682" y="87145"/>
                </a:lnTo>
                <a:lnTo>
                  <a:pt x="362435" y="87145"/>
                </a:lnTo>
                <a:lnTo>
                  <a:pt x="383276" y="28985"/>
                </a:lnTo>
                <a:lnTo>
                  <a:pt x="370103" y="28985"/>
                </a:lnTo>
                <a:lnTo>
                  <a:pt x="357158" y="66418"/>
                </a:lnTo>
                <a:lnTo>
                  <a:pt x="345195" y="28985"/>
                </a:lnTo>
                <a:lnTo>
                  <a:pt x="334489" y="28985"/>
                </a:lnTo>
                <a:lnTo>
                  <a:pt x="322659" y="66675"/>
                </a:lnTo>
                <a:lnTo>
                  <a:pt x="309819" y="28985"/>
                </a:lnTo>
                <a:close/>
                <a:moveTo>
                  <a:pt x="211569" y="58531"/>
                </a:moveTo>
                <a:cubicBezTo>
                  <a:pt x="211378" y="73448"/>
                  <a:pt x="222875" y="88335"/>
                  <a:pt x="242268" y="88335"/>
                </a:cubicBezTo>
                <a:cubicBezTo>
                  <a:pt x="257184" y="88335"/>
                  <a:pt x="264966" y="79591"/>
                  <a:pt x="268309" y="71962"/>
                </a:cubicBezTo>
                <a:lnTo>
                  <a:pt x="258813" y="66713"/>
                </a:lnTo>
                <a:cubicBezTo>
                  <a:pt x="255812" y="70514"/>
                  <a:pt x="251183" y="77134"/>
                  <a:pt x="242258" y="77134"/>
                </a:cubicBezTo>
                <a:cubicBezTo>
                  <a:pt x="231352" y="77134"/>
                  <a:pt x="224875" y="69695"/>
                  <a:pt x="224247" y="62656"/>
                </a:cubicBezTo>
                <a:lnTo>
                  <a:pt x="268300" y="62656"/>
                </a:lnTo>
                <a:cubicBezTo>
                  <a:pt x="269005" y="59951"/>
                  <a:pt x="269709" y="53178"/>
                  <a:pt x="268014" y="47806"/>
                </a:cubicBezTo>
                <a:cubicBezTo>
                  <a:pt x="264814" y="37672"/>
                  <a:pt x="256384" y="27785"/>
                  <a:pt x="240972" y="27785"/>
                </a:cubicBezTo>
                <a:cubicBezTo>
                  <a:pt x="225561" y="27785"/>
                  <a:pt x="211559" y="38758"/>
                  <a:pt x="211559" y="58522"/>
                </a:cubicBezTo>
                <a:close/>
                <a:moveTo>
                  <a:pt x="224551" y="51388"/>
                </a:moveTo>
                <a:cubicBezTo>
                  <a:pt x="226630" y="44067"/>
                  <a:pt x="233371" y="38983"/>
                  <a:pt x="240982" y="38996"/>
                </a:cubicBezTo>
                <a:cubicBezTo>
                  <a:pt x="251050" y="38996"/>
                  <a:pt x="255917" y="47292"/>
                  <a:pt x="256441" y="51388"/>
                </a:cubicBezTo>
                <a:close/>
                <a:moveTo>
                  <a:pt x="141131" y="58531"/>
                </a:moveTo>
                <a:cubicBezTo>
                  <a:pt x="141493" y="75276"/>
                  <a:pt x="153295" y="88373"/>
                  <a:pt x="171088" y="88373"/>
                </a:cubicBezTo>
                <a:cubicBezTo>
                  <a:pt x="181317" y="88373"/>
                  <a:pt x="187499" y="83830"/>
                  <a:pt x="189766" y="81972"/>
                </a:cubicBezTo>
                <a:lnTo>
                  <a:pt x="189766" y="87183"/>
                </a:lnTo>
                <a:lnTo>
                  <a:pt x="201596" y="87183"/>
                </a:lnTo>
                <a:lnTo>
                  <a:pt x="201596" y="6735"/>
                </a:lnTo>
                <a:lnTo>
                  <a:pt x="189614" y="6735"/>
                </a:lnTo>
                <a:lnTo>
                  <a:pt x="189614" y="34243"/>
                </a:lnTo>
                <a:cubicBezTo>
                  <a:pt x="185670" y="30814"/>
                  <a:pt x="179498" y="27766"/>
                  <a:pt x="171230" y="27766"/>
                </a:cubicBezTo>
                <a:cubicBezTo>
                  <a:pt x="153038" y="27766"/>
                  <a:pt x="140769" y="41796"/>
                  <a:pt x="141131" y="58531"/>
                </a:cubicBezTo>
                <a:close/>
                <a:moveTo>
                  <a:pt x="153600" y="57769"/>
                </a:moveTo>
                <a:lnTo>
                  <a:pt x="153590" y="57769"/>
                </a:lnTo>
                <a:cubicBezTo>
                  <a:pt x="153590" y="47121"/>
                  <a:pt x="161629" y="39520"/>
                  <a:pt x="170783" y="39520"/>
                </a:cubicBezTo>
                <a:cubicBezTo>
                  <a:pt x="179936" y="39520"/>
                  <a:pt x="189566" y="45416"/>
                  <a:pt x="189566" y="58474"/>
                </a:cubicBezTo>
                <a:cubicBezTo>
                  <a:pt x="189631" y="63362"/>
                  <a:pt x="187692" y="68069"/>
                  <a:pt x="184204" y="71492"/>
                </a:cubicBezTo>
                <a:cubicBezTo>
                  <a:pt x="180715" y="74916"/>
                  <a:pt x="175973" y="76766"/>
                  <a:pt x="171088" y="76610"/>
                </a:cubicBezTo>
                <a:cubicBezTo>
                  <a:pt x="160486" y="76610"/>
                  <a:pt x="153600" y="68428"/>
                  <a:pt x="153600" y="57769"/>
                </a:cubicBezTo>
                <a:close/>
                <a:moveTo>
                  <a:pt x="884005" y="57503"/>
                </a:moveTo>
                <a:cubicBezTo>
                  <a:pt x="883643" y="40758"/>
                  <a:pt x="871842" y="27661"/>
                  <a:pt x="854049" y="27661"/>
                </a:cubicBezTo>
                <a:cubicBezTo>
                  <a:pt x="843819" y="27661"/>
                  <a:pt x="837638" y="32204"/>
                  <a:pt x="835371" y="34062"/>
                </a:cubicBezTo>
                <a:lnTo>
                  <a:pt x="835371" y="28852"/>
                </a:lnTo>
                <a:lnTo>
                  <a:pt x="823541" y="28852"/>
                </a:lnTo>
                <a:lnTo>
                  <a:pt x="823541" y="107147"/>
                </a:lnTo>
                <a:lnTo>
                  <a:pt x="835523" y="107147"/>
                </a:lnTo>
                <a:lnTo>
                  <a:pt x="835523" y="81792"/>
                </a:lnTo>
                <a:cubicBezTo>
                  <a:pt x="839466" y="85221"/>
                  <a:pt x="845648" y="88269"/>
                  <a:pt x="853906" y="88269"/>
                </a:cubicBezTo>
                <a:cubicBezTo>
                  <a:pt x="872099" y="88269"/>
                  <a:pt x="884367" y="74238"/>
                  <a:pt x="884005" y="57503"/>
                </a:cubicBezTo>
                <a:close/>
                <a:moveTo>
                  <a:pt x="871537" y="58265"/>
                </a:moveTo>
                <a:cubicBezTo>
                  <a:pt x="871537" y="68914"/>
                  <a:pt x="863507" y="76515"/>
                  <a:pt x="854354" y="76515"/>
                </a:cubicBezTo>
                <a:cubicBezTo>
                  <a:pt x="845200" y="76515"/>
                  <a:pt x="835571" y="70619"/>
                  <a:pt x="835571" y="57560"/>
                </a:cubicBezTo>
                <a:cubicBezTo>
                  <a:pt x="835506" y="52673"/>
                  <a:pt x="837445" y="47966"/>
                  <a:pt x="840933" y="44542"/>
                </a:cubicBezTo>
                <a:cubicBezTo>
                  <a:pt x="844421" y="41118"/>
                  <a:pt x="849164" y="39268"/>
                  <a:pt x="854049" y="39424"/>
                </a:cubicBezTo>
                <a:cubicBezTo>
                  <a:pt x="864650" y="39424"/>
                  <a:pt x="871537" y="47606"/>
                  <a:pt x="871537" y="58265"/>
                </a:cubicBezTo>
                <a:close/>
                <a:moveTo>
                  <a:pt x="975750" y="87411"/>
                </a:moveTo>
                <a:lnTo>
                  <a:pt x="975750" y="28956"/>
                </a:lnTo>
                <a:lnTo>
                  <a:pt x="987694" y="28956"/>
                </a:lnTo>
                <a:lnTo>
                  <a:pt x="987694" y="32595"/>
                </a:lnTo>
                <a:cubicBezTo>
                  <a:pt x="991133" y="29299"/>
                  <a:pt x="997219" y="27975"/>
                  <a:pt x="1001696" y="27975"/>
                </a:cubicBezTo>
                <a:cubicBezTo>
                  <a:pt x="1015526" y="27975"/>
                  <a:pt x="1025290" y="38281"/>
                  <a:pt x="1025099" y="51292"/>
                </a:cubicBezTo>
                <a:lnTo>
                  <a:pt x="1025099" y="87411"/>
                </a:lnTo>
                <a:lnTo>
                  <a:pt x="1013002" y="87411"/>
                </a:lnTo>
                <a:lnTo>
                  <a:pt x="1013002" y="52350"/>
                </a:lnTo>
                <a:cubicBezTo>
                  <a:pt x="1013002" y="48464"/>
                  <a:pt x="1010964" y="39596"/>
                  <a:pt x="1000477" y="39596"/>
                </a:cubicBezTo>
                <a:cubicBezTo>
                  <a:pt x="991247" y="39596"/>
                  <a:pt x="987694" y="46797"/>
                  <a:pt x="987694" y="52350"/>
                </a:cubicBezTo>
                <a:lnTo>
                  <a:pt x="987694" y="87411"/>
                </a:lnTo>
                <a:close/>
                <a:moveTo>
                  <a:pt x="686352" y="87211"/>
                </a:moveTo>
                <a:lnTo>
                  <a:pt x="686352" y="7887"/>
                </a:lnTo>
                <a:lnTo>
                  <a:pt x="696677" y="7887"/>
                </a:lnTo>
                <a:lnTo>
                  <a:pt x="736825" y="62913"/>
                </a:lnTo>
                <a:lnTo>
                  <a:pt x="736825" y="7887"/>
                </a:lnTo>
                <a:lnTo>
                  <a:pt x="749398" y="7887"/>
                </a:lnTo>
                <a:lnTo>
                  <a:pt x="749398" y="87211"/>
                </a:lnTo>
                <a:lnTo>
                  <a:pt x="738978" y="87211"/>
                </a:lnTo>
                <a:lnTo>
                  <a:pt x="698906" y="32004"/>
                </a:lnTo>
                <a:lnTo>
                  <a:pt x="698906" y="87211"/>
                </a:lnTo>
                <a:lnTo>
                  <a:pt x="686342" y="87211"/>
                </a:lnTo>
                <a:close/>
                <a:moveTo>
                  <a:pt x="11811" y="87183"/>
                </a:moveTo>
                <a:lnTo>
                  <a:pt x="0" y="87183"/>
                </a:lnTo>
                <a:lnTo>
                  <a:pt x="0" y="13154"/>
                </a:lnTo>
                <a:lnTo>
                  <a:pt x="9658" y="13154"/>
                </a:lnTo>
                <a:lnTo>
                  <a:pt x="35032" y="47416"/>
                </a:lnTo>
                <a:lnTo>
                  <a:pt x="60312" y="13202"/>
                </a:lnTo>
                <a:lnTo>
                  <a:pt x="70123" y="13202"/>
                </a:lnTo>
                <a:lnTo>
                  <a:pt x="70123" y="87173"/>
                </a:lnTo>
                <a:lnTo>
                  <a:pt x="58159" y="87173"/>
                </a:lnTo>
                <a:lnTo>
                  <a:pt x="58159" y="35871"/>
                </a:lnTo>
                <a:lnTo>
                  <a:pt x="35032" y="67361"/>
                </a:lnTo>
                <a:lnTo>
                  <a:pt x="11811" y="35681"/>
                </a:lnTo>
                <a:close/>
              </a:path>
            </a:pathLst>
          </a:custGeom>
          <a:solidFill>
            <a:srgbClr val="8AD8CE">
              <a:alpha val="53333"/>
            </a:srgbClr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492</Words>
  <Application>Microsoft Office PowerPoint</Application>
  <PresentationFormat>On-screen Show (16:9)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2026-10-07T02:58:21Z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apkinAIOrigin">
    <vt:lpwstr>http://cv.iptc.org/newscodes/digitalsourcetype/compositeWithTrainedAlgorithmicMedia</vt:lpwstr>
  </property>
  <property fmtid="{D5CDD505-2E9C-101B-9397-08002B2CF9AE}" pid="3" name="NapkinAIOriginGenerator">
    <vt:lpwstr>Napkin AI</vt:lpwstr>
  </property>
  <property fmtid="{D5CDD505-2E9C-101B-9397-08002B2CF9AE}" pid="4" name="NapkinAIOriginVersion">
    <vt:lpwstr>napkin-ai-origin-v1</vt:lpwstr>
  </property>
</Properties>
</file>